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71" r:id="rId2"/>
    <p:sldId id="272" r:id="rId3"/>
    <p:sldId id="398" r:id="rId4"/>
    <p:sldId id="399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10" r:id="rId13"/>
    <p:sldId id="411" r:id="rId14"/>
    <p:sldId id="412" r:id="rId15"/>
    <p:sldId id="421" r:id="rId16"/>
    <p:sldId id="413" r:id="rId17"/>
    <p:sldId id="415" r:id="rId18"/>
    <p:sldId id="416" r:id="rId19"/>
    <p:sldId id="417" r:id="rId20"/>
    <p:sldId id="418" r:id="rId21"/>
    <p:sldId id="420" r:id="rId22"/>
    <p:sldId id="419" r:id="rId23"/>
    <p:sldId id="264" r:id="rId24"/>
  </p:sldIdLst>
  <p:sldSz cx="9144000" cy="6858000" type="screen4x3"/>
  <p:notesSz cx="7104063" cy="102346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mile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6600"/>
    <a:srgbClr val="081421"/>
    <a:srgbClr val="07111C"/>
    <a:srgbClr val="3B5D6A"/>
    <a:srgbClr val="315165"/>
    <a:srgbClr val="334D57"/>
    <a:srgbClr val="123050"/>
    <a:srgbClr val="163659"/>
    <a:srgbClr val="2B43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/>
    <p:restoredTop sz="94660"/>
  </p:normalViewPr>
  <p:slideViewPr>
    <p:cSldViewPr snapToGrid="0" showGuides="1">
      <p:cViewPr varScale="1">
        <p:scale>
          <a:sx n="85" d="100"/>
          <a:sy n="85" d="100"/>
        </p:scale>
        <p:origin x="1363" y="72"/>
      </p:cViewPr>
      <p:guideLst>
        <p:guide orient="horz" pos="216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pPr fontAlgn="auto"/>
            <a:fld id="{0F9B84EA-7D68-4D60-9CB1-D50884785D1C}" type="datetimeFigureOut">
              <a:rPr lang="zh-CN" altLang="en-US" sz="1245" strike="noStrike" noProof="1" smtClean="0">
                <a:latin typeface="+mn-lt"/>
                <a:ea typeface="+mn-ea"/>
                <a:cs typeface="+mn-cs"/>
              </a:rPr>
              <a:t>2020/11/18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pPr fontAlgn="auto"/>
            <a:fld id="{8D4E0FC9-F1F8-4FAE-9988-3BA365CFD46F}" type="slidenum">
              <a:rPr lang="zh-CN" altLang="en-US" sz="1245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3628012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2020/11/18</a:t>
            </a:fld>
            <a:endParaRPr lang="zh-CN" altLang="en-US" strike="noStrike" noProof="1"/>
          </a:p>
        </p:txBody>
      </p:sp>
      <p:sp>
        <p:nvSpPr>
          <p:cNvPr id="9220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21" name="备注占位符 4"/>
          <p:cNvSpPr>
            <a:spLocks noGrp="1"/>
          </p:cNvSpPr>
          <p:nvPr>
            <p:ph type="body" sz="quarter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310039311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0" y="-2540"/>
            <a:ext cx="9144635" cy="6863715"/>
          </a:xfrm>
          <a:custGeom>
            <a:avLst/>
            <a:gdLst>
              <a:gd name="connsiteX0" fmla="*/ 3 w 14401"/>
              <a:gd name="connsiteY0" fmla="*/ 4 h 10809"/>
              <a:gd name="connsiteX1" fmla="*/ 14401 w 14401"/>
              <a:gd name="connsiteY1" fmla="*/ 0 h 10809"/>
              <a:gd name="connsiteX2" fmla="*/ 14398 w 14401"/>
              <a:gd name="connsiteY2" fmla="*/ 7020 h 10809"/>
              <a:gd name="connsiteX3" fmla="*/ 4316 w 14401"/>
              <a:gd name="connsiteY3" fmla="*/ 10805 h 10809"/>
              <a:gd name="connsiteX4" fmla="*/ 0 w 14401"/>
              <a:gd name="connsiteY4" fmla="*/ 10809 h 10809"/>
              <a:gd name="connsiteX5" fmla="*/ 3 w 14401"/>
              <a:gd name="connsiteY5" fmla="*/ 4 h 10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01" h="10809">
                <a:moveTo>
                  <a:pt x="3" y="4"/>
                </a:moveTo>
                <a:lnTo>
                  <a:pt x="14401" y="0"/>
                </a:lnTo>
                <a:lnTo>
                  <a:pt x="14398" y="7020"/>
                </a:lnTo>
                <a:lnTo>
                  <a:pt x="4316" y="10805"/>
                </a:lnTo>
                <a:lnTo>
                  <a:pt x="0" y="10809"/>
                </a:lnTo>
                <a:lnTo>
                  <a:pt x="3" y="4"/>
                </a:lnTo>
                <a:close/>
              </a:path>
            </a:pathLst>
          </a:custGeom>
          <a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01" name="图片 21" descr="未标题-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155" y="5776860"/>
            <a:ext cx="1283473" cy="92484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任意多边形 6"/>
          <p:cNvSpPr/>
          <p:nvPr userDrawn="1"/>
        </p:nvSpPr>
        <p:spPr>
          <a:xfrm>
            <a:off x="-5080" y="-2540"/>
            <a:ext cx="8677910" cy="5492750"/>
          </a:xfrm>
          <a:custGeom>
            <a:avLst/>
            <a:gdLst>
              <a:gd name="connsiteX0" fmla="*/ 8 w 13666"/>
              <a:gd name="connsiteY0" fmla="*/ 7 h 8650"/>
              <a:gd name="connsiteX1" fmla="*/ 4257 w 13666"/>
              <a:gd name="connsiteY1" fmla="*/ 0 h 8650"/>
              <a:gd name="connsiteX2" fmla="*/ 13666 w 13666"/>
              <a:gd name="connsiteY2" fmla="*/ 7295 h 8650"/>
              <a:gd name="connsiteX3" fmla="*/ 10080 w 13666"/>
              <a:gd name="connsiteY3" fmla="*/ 8642 h 8650"/>
              <a:gd name="connsiteX4" fmla="*/ 10080 w 13666"/>
              <a:gd name="connsiteY4" fmla="*/ 8650 h 8650"/>
              <a:gd name="connsiteX5" fmla="*/ 0 w 13666"/>
              <a:gd name="connsiteY5" fmla="*/ 6280 h 8650"/>
              <a:gd name="connsiteX6" fmla="*/ 8 w 13666"/>
              <a:gd name="connsiteY6" fmla="*/ 7 h 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66" h="8650">
                <a:moveTo>
                  <a:pt x="8" y="7"/>
                </a:moveTo>
                <a:lnTo>
                  <a:pt x="4257" y="0"/>
                </a:lnTo>
                <a:lnTo>
                  <a:pt x="13666" y="7295"/>
                </a:lnTo>
                <a:lnTo>
                  <a:pt x="10080" y="8642"/>
                </a:lnTo>
                <a:lnTo>
                  <a:pt x="10080" y="8650"/>
                </a:lnTo>
                <a:lnTo>
                  <a:pt x="0" y="6280"/>
                </a:lnTo>
                <a:lnTo>
                  <a:pt x="8" y="7"/>
                </a:lnTo>
                <a:close/>
              </a:path>
            </a:pathLst>
          </a:custGeom>
          <a:solidFill>
            <a:srgbClr val="091828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281940" y="77660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 17"/>
          <p:cNvSpPr/>
          <p:nvPr userDrawn="1"/>
        </p:nvSpPr>
        <p:spPr>
          <a:xfrm>
            <a:off x="1485265" y="2699385"/>
            <a:ext cx="7662545" cy="1462405"/>
          </a:xfrm>
          <a:custGeom>
            <a:avLst/>
            <a:gdLst>
              <a:gd name="connsiteX0" fmla="*/ 2173 w 12067"/>
              <a:gd name="connsiteY0" fmla="*/ 2303 h 2303"/>
              <a:gd name="connsiteX1" fmla="*/ 12067 w 12067"/>
              <a:gd name="connsiteY1" fmla="*/ 0 h 2303"/>
              <a:gd name="connsiteX2" fmla="*/ 0 w 12067"/>
              <a:gd name="connsiteY2" fmla="*/ 1638 h 2303"/>
              <a:gd name="connsiteX3" fmla="*/ 2173 w 12067"/>
              <a:gd name="connsiteY3" fmla="*/ 2303 h 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67" h="2303">
                <a:moveTo>
                  <a:pt x="2173" y="2303"/>
                </a:moveTo>
                <a:lnTo>
                  <a:pt x="12067" y="0"/>
                </a:lnTo>
                <a:lnTo>
                  <a:pt x="0" y="1638"/>
                </a:lnTo>
                <a:lnTo>
                  <a:pt x="2173" y="2303"/>
                </a:lnTo>
                <a:close/>
              </a:path>
            </a:pathLst>
          </a:custGeom>
          <a:solidFill>
            <a:srgbClr val="0814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9D9C70D-B7C8-466D-B87C-22D855EF72C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2020/11/18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任意多边形 5"/>
          <p:cNvSpPr/>
          <p:nvPr userDrawn="1"/>
        </p:nvSpPr>
        <p:spPr>
          <a:xfrm>
            <a:off x="-1270" y="3194050"/>
            <a:ext cx="3098800" cy="1631315"/>
          </a:xfrm>
          <a:custGeom>
            <a:avLst/>
            <a:gdLst>
              <a:gd name="connsiteX0" fmla="*/ 0 w 4880"/>
              <a:gd name="connsiteY0" fmla="*/ 0 h 2569"/>
              <a:gd name="connsiteX1" fmla="*/ 4880 w 4880"/>
              <a:gd name="connsiteY1" fmla="*/ 1439 h 2569"/>
              <a:gd name="connsiteX2" fmla="*/ 0 w 4880"/>
              <a:gd name="connsiteY2" fmla="*/ 2569 h 2569"/>
              <a:gd name="connsiteX3" fmla="*/ 0 w 4880"/>
              <a:gd name="connsiteY3" fmla="*/ 0 h 2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0" h="2569">
                <a:moveTo>
                  <a:pt x="0" y="0"/>
                </a:moveTo>
                <a:lnTo>
                  <a:pt x="4880" y="1439"/>
                </a:lnTo>
                <a:lnTo>
                  <a:pt x="0" y="2569"/>
                </a:lnTo>
                <a:lnTo>
                  <a:pt x="0" y="0"/>
                </a:lnTo>
                <a:close/>
              </a:path>
            </a:pathLst>
          </a:custGeom>
          <a:solidFill>
            <a:srgbClr val="213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pic>
        <p:nvPicPr>
          <p:cNvPr id="11" name="图片 10" descr="学院logo-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8880" y="6299835"/>
            <a:ext cx="2679065" cy="421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 userDrawn="1"/>
        </p:nvSpPr>
        <p:spPr>
          <a:xfrm>
            <a:off x="4810760" y="4277995"/>
            <a:ext cx="4333240" cy="2584450"/>
          </a:xfrm>
          <a:custGeom>
            <a:avLst/>
            <a:gdLst>
              <a:gd name="connsiteX0" fmla="*/ 4341412 w 4351527"/>
              <a:gd name="connsiteY0" fmla="*/ 0 h 2584174"/>
              <a:gd name="connsiteX1" fmla="*/ 0 w 4351527"/>
              <a:gd name="connsiteY1" fmla="*/ 2576222 h 2584174"/>
              <a:gd name="connsiteX2" fmla="*/ 4349364 w 4351527"/>
              <a:gd name="connsiteY2" fmla="*/ 2584174 h 2584174"/>
              <a:gd name="connsiteX3" fmla="*/ 4341412 w 4351527"/>
              <a:gd name="connsiteY3" fmla="*/ 0 h 2584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1527" h="2584174">
                <a:moveTo>
                  <a:pt x="4341412" y="0"/>
                </a:moveTo>
                <a:lnTo>
                  <a:pt x="0" y="2576222"/>
                </a:lnTo>
                <a:lnTo>
                  <a:pt x="4349364" y="2584174"/>
                </a:lnTo>
                <a:cubicBezTo>
                  <a:pt x="4352014" y="1728083"/>
                  <a:pt x="4354665" y="871993"/>
                  <a:pt x="43414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39D10-08F4-46E3-B6F4-E3100A3775AB}" type="datetimeFigureOut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B60F8-E777-4D86-907F-5375450AA5F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学院logo-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8880" y="6299835"/>
            <a:ext cx="2679065" cy="421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 userDrawn="1"/>
        </p:nvSpPr>
        <p:spPr>
          <a:xfrm>
            <a:off x="-25717" y="0"/>
            <a:ext cx="9173845" cy="6864350"/>
          </a:xfrm>
          <a:custGeom>
            <a:avLst/>
            <a:gdLst>
              <a:gd name="connsiteX0" fmla="*/ 40 w 14447"/>
              <a:gd name="connsiteY0" fmla="*/ 0 h 10810"/>
              <a:gd name="connsiteX1" fmla="*/ 14447 w 14447"/>
              <a:gd name="connsiteY1" fmla="*/ 2 h 10810"/>
              <a:gd name="connsiteX2" fmla="*/ 14435 w 14447"/>
              <a:gd name="connsiteY2" fmla="*/ 10810 h 10810"/>
              <a:gd name="connsiteX3" fmla="*/ 0 w 14447"/>
              <a:gd name="connsiteY3" fmla="*/ 10808 h 10810"/>
              <a:gd name="connsiteX4" fmla="*/ 40 w 14447"/>
              <a:gd name="connsiteY4" fmla="*/ 0 h 1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7" h="10810">
                <a:moveTo>
                  <a:pt x="40" y="0"/>
                </a:moveTo>
                <a:lnTo>
                  <a:pt x="14447" y="2"/>
                </a:lnTo>
                <a:lnTo>
                  <a:pt x="14435" y="10810"/>
                </a:lnTo>
                <a:lnTo>
                  <a:pt x="0" y="10808"/>
                </a:lnTo>
                <a:lnTo>
                  <a:pt x="40" y="0"/>
                </a:lnTo>
                <a:close/>
              </a:path>
            </a:pathLst>
          </a:custGeom>
          <a:solidFill>
            <a:srgbClr val="2B434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1" name="任意多边形 10"/>
          <p:cNvSpPr/>
          <p:nvPr/>
        </p:nvSpPr>
        <p:spPr>
          <a:xfrm>
            <a:off x="-20955" y="1270"/>
            <a:ext cx="9158605" cy="6861810"/>
          </a:xfrm>
          <a:custGeom>
            <a:avLst/>
            <a:gdLst>
              <a:gd name="connsiteX0" fmla="*/ 37 w 14423"/>
              <a:gd name="connsiteY0" fmla="*/ 0 h 10806"/>
              <a:gd name="connsiteX1" fmla="*/ 14423 w 14423"/>
              <a:gd name="connsiteY1" fmla="*/ 5185 h 10806"/>
              <a:gd name="connsiteX2" fmla="*/ 7990 w 14423"/>
              <a:gd name="connsiteY2" fmla="*/ 10806 h 10806"/>
              <a:gd name="connsiteX3" fmla="*/ 0 w 14423"/>
              <a:gd name="connsiteY3" fmla="*/ 8370 h 10806"/>
              <a:gd name="connsiteX4" fmla="*/ 37 w 14423"/>
              <a:gd name="connsiteY4" fmla="*/ 0 h 10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23" h="10806">
                <a:moveTo>
                  <a:pt x="37" y="0"/>
                </a:moveTo>
                <a:lnTo>
                  <a:pt x="14423" y="5185"/>
                </a:lnTo>
                <a:lnTo>
                  <a:pt x="7990" y="10806"/>
                </a:lnTo>
                <a:lnTo>
                  <a:pt x="0" y="8370"/>
                </a:lnTo>
                <a:lnTo>
                  <a:pt x="37" y="0"/>
                </a:lnTo>
                <a:close/>
              </a:path>
            </a:pathLst>
          </a:custGeom>
          <a:solidFill>
            <a:srgbClr val="213644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0" name="任意多边形 9"/>
          <p:cNvSpPr/>
          <p:nvPr userDrawn="1"/>
        </p:nvSpPr>
        <p:spPr>
          <a:xfrm rot="16200000">
            <a:off x="3163571" y="879474"/>
            <a:ext cx="6864350" cy="5105400"/>
          </a:xfrm>
          <a:custGeom>
            <a:avLst/>
            <a:gdLst>
              <a:gd name="connsiteX0" fmla="*/ 0 w 10810"/>
              <a:gd name="connsiteY0" fmla="*/ 8029 h 8040"/>
              <a:gd name="connsiteX1" fmla="*/ 4 w 10810"/>
              <a:gd name="connsiteY1" fmla="*/ 0 h 8040"/>
              <a:gd name="connsiteX2" fmla="*/ 10810 w 10810"/>
              <a:gd name="connsiteY2" fmla="*/ 8040 h 8040"/>
              <a:gd name="connsiteX3" fmla="*/ 0 w 10810"/>
              <a:gd name="connsiteY3" fmla="*/ 8029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10" h="8040">
                <a:moveTo>
                  <a:pt x="0" y="8029"/>
                </a:moveTo>
                <a:lnTo>
                  <a:pt x="4" y="0"/>
                </a:lnTo>
                <a:lnTo>
                  <a:pt x="10810" y="8040"/>
                </a:lnTo>
                <a:lnTo>
                  <a:pt x="0" y="8029"/>
                </a:lnTo>
                <a:close/>
              </a:path>
            </a:pathLst>
          </a:custGeom>
          <a:solidFill>
            <a:srgbClr val="050C1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9D9C70D-B7C8-466D-B87C-22D855EF72C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2020/11/18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F9045BA-9AC9-4435-A9A0-D822685BA71C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247650" y="6242050"/>
            <a:ext cx="2057400" cy="365125"/>
          </a:xfrm>
        </p:spPr>
        <p:txBody>
          <a:bodyPr/>
          <a:lstStyle/>
          <a:p>
            <a:pPr fontAlgn="auto"/>
            <a:fld id="{59D9C70D-B7C8-466D-B87C-22D855EF72C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2020/11/18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F9045BA-9AC9-4435-A9A0-D822685BA71C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新LOGO-1">
            <a:extLst>
              <a:ext uri="{FF2B5EF4-FFF2-40B4-BE49-F238E27FC236}">
                <a16:creationId xmlns:a16="http://schemas.microsoft.com/office/drawing/2014/main" id="{3F449D69-2963-4C4F-AC5D-B7B3EC729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8" t="16335" r="13124" b="8795"/>
          <a:stretch>
            <a:fillRect/>
          </a:stretch>
        </p:blipFill>
        <p:spPr bwMode="auto">
          <a:xfrm>
            <a:off x="249238" y="185738"/>
            <a:ext cx="2667000" cy="72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F5894CDD-1AB4-4411-8F0F-5ED72F3C4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27663"/>
            <a:ext cx="9144000" cy="143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ine 3">
            <a:extLst>
              <a:ext uri="{FF2B5EF4-FFF2-40B4-BE49-F238E27FC236}">
                <a16:creationId xmlns:a16="http://schemas.microsoft.com/office/drawing/2014/main" id="{66F159E6-00C6-4005-9680-C2B51FDF77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836613"/>
            <a:ext cx="8534400" cy="0"/>
          </a:xfrm>
          <a:prstGeom prst="line">
            <a:avLst/>
          </a:prstGeom>
          <a:noFill/>
          <a:ln w="38100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5436096" y="332656"/>
            <a:ext cx="3255020" cy="404664"/>
          </a:xfrm>
        </p:spPr>
        <p:txBody>
          <a:bodyPr/>
          <a:lstStyle>
            <a:lvl1pPr marL="0" algn="r" defTabSz="914400" rtl="0" eaLnBrk="1" latinLnBrk="0" hangingPunct="1">
              <a:buFontTx/>
              <a:buNone/>
              <a:defRPr lang="zh-CN" altLang="en-US" sz="2000" b="1" kern="1200" dirty="0" smtClean="0">
                <a:solidFill>
                  <a:srgbClr val="339933"/>
                </a:solidFill>
                <a:latin typeface="Arial Black" pitchFamily="34" charset="0"/>
                <a:ea typeface="仿宋_GB2312" pitchFamily="49" charset="-122"/>
                <a:cs typeface="+mn-cs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908720"/>
            <a:ext cx="3322712" cy="422920"/>
          </a:xfrm>
        </p:spPr>
        <p:txBody>
          <a:bodyPr>
            <a:normAutofit/>
          </a:bodyPr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2915816" y="332656"/>
            <a:ext cx="3255020" cy="404664"/>
          </a:xfrm>
        </p:spPr>
        <p:txBody>
          <a:bodyPr>
            <a:normAutofit/>
          </a:bodyPr>
          <a:lstStyle>
            <a:lvl1pPr marL="0" algn="ctr" defTabSz="914400" rtl="0" eaLnBrk="1" latinLnBrk="0" hangingPunct="1">
              <a:buFontTx/>
              <a:buNone/>
              <a:def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j-cs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日期占位符 2">
            <a:extLst>
              <a:ext uri="{FF2B5EF4-FFF2-40B4-BE49-F238E27FC236}">
                <a16:creationId xmlns:a16="http://schemas.microsoft.com/office/drawing/2014/main" id="{9D6C2B13-0EEA-43B3-82A2-52A9DCA353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0F2C3-94F4-49FC-9582-8C6FADB5F374}" type="datetime1">
              <a:rPr lang="zh-CN" altLang="en-US"/>
              <a:pPr>
                <a:defRPr/>
              </a:pPr>
              <a:t>2020/11/18</a:t>
            </a:fld>
            <a:endParaRPr lang="zh-CN" altLang="en-US"/>
          </a:p>
        </p:txBody>
      </p:sp>
      <p:sp>
        <p:nvSpPr>
          <p:cNvPr id="9" name="页脚占位符 3">
            <a:extLst>
              <a:ext uri="{FF2B5EF4-FFF2-40B4-BE49-F238E27FC236}">
                <a16:creationId xmlns:a16="http://schemas.microsoft.com/office/drawing/2014/main" id="{625EF7DC-D9B4-4418-8CB6-31BE1C8DEB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灯片编号占位符 4">
            <a:extLst>
              <a:ext uri="{FF2B5EF4-FFF2-40B4-BE49-F238E27FC236}">
                <a16:creationId xmlns:a16="http://schemas.microsoft.com/office/drawing/2014/main" id="{64982900-AAEE-447B-B8B7-743EF493ABC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A208B6B8-2F8A-460F-B890-02953A121A4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15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9D9C70D-B7C8-466D-B87C-22D855EF72C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2020/11/18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F9045BA-9AC9-4435-A9A0-D822685BA71C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1721" y="2061770"/>
            <a:ext cx="63625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</a:rPr>
              <a:t>51</a:t>
            </a:r>
            <a:r>
              <a:rPr lang="zh-CN" altLang="en-US" sz="4000" dirty="0">
                <a:solidFill>
                  <a:schemeClr val="bg1"/>
                </a:solidFill>
              </a:rPr>
              <a:t>单片机电子制作实训（</a:t>
            </a:r>
            <a:r>
              <a:rPr lang="en-US" altLang="zh-CN" sz="4000" dirty="0">
                <a:solidFill>
                  <a:schemeClr val="bg1"/>
                </a:solidFill>
              </a:rPr>
              <a:t>1</a:t>
            </a:r>
            <a:r>
              <a:rPr lang="zh-CN" altLang="en-US" sz="4000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1B1F60-BBC0-4A5E-8317-25B0145FDFD2}"/>
              </a:ext>
            </a:extLst>
          </p:cNvPr>
          <p:cNvSpPr txBox="1"/>
          <p:nvPr/>
        </p:nvSpPr>
        <p:spPr>
          <a:xfrm>
            <a:off x="951472" y="3429000"/>
            <a:ext cx="72410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</a:rPr>
              <a:t>初识</a:t>
            </a:r>
            <a:r>
              <a:rPr lang="en-US" altLang="zh-CN" sz="6000" dirty="0">
                <a:solidFill>
                  <a:schemeClr val="bg1"/>
                </a:solidFill>
              </a:rPr>
              <a:t>Keil </a:t>
            </a:r>
            <a:r>
              <a:rPr lang="zh-CN" altLang="en-US" sz="6000" dirty="0">
                <a:solidFill>
                  <a:schemeClr val="bg1"/>
                </a:solidFill>
              </a:rPr>
              <a:t>和</a:t>
            </a:r>
            <a:r>
              <a:rPr lang="en-US" altLang="zh-CN" sz="6000" dirty="0">
                <a:solidFill>
                  <a:schemeClr val="bg1"/>
                </a:solidFill>
              </a:rPr>
              <a:t>C51</a:t>
            </a:r>
            <a:r>
              <a:rPr lang="zh-CN" altLang="en-US" sz="6000" dirty="0">
                <a:solidFill>
                  <a:schemeClr val="bg1"/>
                </a:solidFill>
              </a:rPr>
              <a:t>仿真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15404" y="2884208"/>
            <a:ext cx="4275044" cy="1325563"/>
          </a:xfrm>
        </p:spPr>
        <p:txBody>
          <a:bodyPr/>
          <a:lstStyle/>
          <a:p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一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. 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安装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Keil C51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1.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安装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Keil C51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73F26E-71DA-457E-8CAE-EBCD6341DF9A}"/>
              </a:ext>
            </a:extLst>
          </p:cNvPr>
          <p:cNvSpPr txBox="1"/>
          <p:nvPr/>
        </p:nvSpPr>
        <p:spPr>
          <a:xfrm>
            <a:off x="628650" y="1532983"/>
            <a:ext cx="7009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、运行安装程序，初始界面如图所示，直接单击</a:t>
            </a:r>
            <a:r>
              <a:rPr lang="en-US" altLang="zh-CN" dirty="0"/>
              <a:t>Next</a:t>
            </a:r>
            <a:r>
              <a:rPr lang="zh-CN" altLang="en-US" dirty="0"/>
              <a:t>进行下一步操作。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F38FB1-03C5-4ED5-A58F-227EB0C4C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84" y="2179314"/>
            <a:ext cx="6287045" cy="419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5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1.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安装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Keil C51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79B8B2-D15F-4455-885F-2DE93469FC36}"/>
              </a:ext>
            </a:extLst>
          </p:cNvPr>
          <p:cNvSpPr txBox="1"/>
          <p:nvPr/>
        </p:nvSpPr>
        <p:spPr>
          <a:xfrm>
            <a:off x="628650" y="1537918"/>
            <a:ext cx="7699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、选择“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 agree to all the terms of the preceding License Agreement”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，单击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Next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进入下一步。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FB3942-383C-44A6-9547-88F21EEE6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585" y="2184249"/>
            <a:ext cx="6804933" cy="448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8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1.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安装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Keil C51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79B8B2-D15F-4455-885F-2DE93469FC36}"/>
              </a:ext>
            </a:extLst>
          </p:cNvPr>
          <p:cNvSpPr txBox="1"/>
          <p:nvPr/>
        </p:nvSpPr>
        <p:spPr>
          <a:xfrm>
            <a:off x="628650" y="1537918"/>
            <a:ext cx="7699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Next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到如下界面，任意填写，单击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Next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进入下一步。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1E198B-458F-4829-9E7B-FD4B61954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958" y="2309132"/>
            <a:ext cx="6869029" cy="45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292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1.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安装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Keil C51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79B8B2-D15F-4455-885F-2DE93469FC36}"/>
              </a:ext>
            </a:extLst>
          </p:cNvPr>
          <p:cNvSpPr txBox="1"/>
          <p:nvPr/>
        </p:nvSpPr>
        <p:spPr>
          <a:xfrm>
            <a:off x="628650" y="1537918"/>
            <a:ext cx="7699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Next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到如下界面，任意填写，单击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Next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进入下一步。安装，直至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Finish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1E198B-458F-4829-9E7B-FD4B61954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958" y="2309132"/>
            <a:ext cx="6869029" cy="45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88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1.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安装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Keil C51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79B8B2-D15F-4455-885F-2DE93469FC36}"/>
              </a:ext>
            </a:extLst>
          </p:cNvPr>
          <p:cNvSpPr txBox="1"/>
          <p:nvPr/>
        </p:nvSpPr>
        <p:spPr>
          <a:xfrm>
            <a:off x="628650" y="1537918"/>
            <a:ext cx="7699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、破解</a:t>
            </a:r>
            <a:endParaRPr lang="en-US" altLang="zh-CN" b="0" i="0" dirty="0">
              <a:solidFill>
                <a:srgbClr val="33333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打开软件，点击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File&gt;License Management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，弹出图示窗口，拷贝其中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号。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7B99BA4-4AA5-49A0-BD16-8D2DFC2CC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870" y="2461248"/>
            <a:ext cx="5885861" cy="433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43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1.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安装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Keil C51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79B8B2-D15F-4455-885F-2DE93469FC36}"/>
              </a:ext>
            </a:extLst>
          </p:cNvPr>
          <p:cNvSpPr txBox="1"/>
          <p:nvPr/>
        </p:nvSpPr>
        <p:spPr>
          <a:xfrm>
            <a:off x="628650" y="1537918"/>
            <a:ext cx="7699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、破解</a:t>
            </a:r>
            <a:endParaRPr lang="en-US" altLang="zh-CN" b="0" i="0" dirty="0">
              <a:solidFill>
                <a:srgbClr val="33333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    右键点击注册机文件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keygen.exe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，以管理员方式运行，如下图所示，将上一步复制的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码粘贴进去，单击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Generate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，生成注册码。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90E186-3E03-408F-82FE-6B79E78D1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457" y="2461248"/>
            <a:ext cx="3520397" cy="439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21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1.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安装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Keil C51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79B8B2-D15F-4455-885F-2DE93469FC36}"/>
              </a:ext>
            </a:extLst>
          </p:cNvPr>
          <p:cNvSpPr txBox="1"/>
          <p:nvPr/>
        </p:nvSpPr>
        <p:spPr>
          <a:xfrm>
            <a:off x="628650" y="1537918"/>
            <a:ext cx="7699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、破解</a:t>
            </a:r>
            <a:endParaRPr lang="en-US" altLang="zh-CN" b="0" i="0" dirty="0">
              <a:solidFill>
                <a:srgbClr val="33333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     回到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Keil C51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界面，将注册码复制粘贴到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LIC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位置，单击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Add LIC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，破解完成。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43FCD1-CC6F-4391-B7AF-8F54DDE8D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753" y="2461247"/>
            <a:ext cx="5871882" cy="435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535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15404" y="2884208"/>
            <a:ext cx="4275044" cy="1325563"/>
          </a:xfrm>
        </p:spPr>
        <p:txBody>
          <a:bodyPr/>
          <a:lstStyle/>
          <a:p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二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. 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安装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USB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驱动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2224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1.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安装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USB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转串口驱动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73F26E-71DA-457E-8CAE-EBCD6341DF9A}"/>
              </a:ext>
            </a:extLst>
          </p:cNvPr>
          <p:cNvSpPr txBox="1"/>
          <p:nvPr/>
        </p:nvSpPr>
        <p:spPr>
          <a:xfrm>
            <a:off x="628650" y="1532983"/>
            <a:ext cx="7009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、运行以下目录中的</a:t>
            </a:r>
            <a:r>
              <a:rPr lang="en-US" altLang="zh-CN" dirty="0"/>
              <a:t>setup</a:t>
            </a:r>
            <a:r>
              <a:rPr lang="zh-CN" altLang="en-US" dirty="0"/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214BD6-5666-457D-8E64-0A039FA8C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301" y="3024159"/>
            <a:ext cx="3999138" cy="11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36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15404" y="2884208"/>
            <a:ext cx="4275044" cy="1325563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三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. Keil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仿真设置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9973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E73F26E-71DA-457E-8CAE-EBCD6341DF9A}"/>
              </a:ext>
            </a:extLst>
          </p:cNvPr>
          <p:cNvSpPr txBox="1"/>
          <p:nvPr/>
        </p:nvSpPr>
        <p:spPr>
          <a:xfrm>
            <a:off x="5598460" y="1783959"/>
            <a:ext cx="3065480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CN" sz="4300">
                <a:latin typeface="+mj-lt"/>
                <a:ea typeface="+mj-ea"/>
                <a:cs typeface="+mj-cs"/>
              </a:rPr>
              <a:t>1</a:t>
            </a:r>
            <a:r>
              <a:rPr lang="zh-CN" altLang="en-US" sz="4300">
                <a:latin typeface="+mj-lt"/>
                <a:ea typeface="+mj-ea"/>
                <a:cs typeface="+mj-cs"/>
              </a:rPr>
              <a:t>、将目标板通过电缆连到计算机的</a:t>
            </a:r>
            <a:r>
              <a:rPr lang="en-US" altLang="zh-CN" sz="4300">
                <a:latin typeface="+mj-lt"/>
                <a:ea typeface="+mj-ea"/>
                <a:cs typeface="+mj-cs"/>
              </a:rPr>
              <a:t>USB</a:t>
            </a:r>
            <a:r>
              <a:rPr lang="zh-CN" altLang="en-US" sz="4300">
                <a:latin typeface="+mj-lt"/>
                <a:ea typeface="+mj-ea"/>
                <a:cs typeface="+mj-cs"/>
              </a:rPr>
              <a:t>口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5391039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3160634-6E43-4FCF-9A7B-5D117B2C0F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20"/>
          <a:stretch/>
        </p:blipFill>
        <p:spPr>
          <a:xfrm>
            <a:off x="20" y="10"/>
            <a:ext cx="5271352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85434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E73F26E-71DA-457E-8CAE-EBCD6341DF9A}"/>
              </a:ext>
            </a:extLst>
          </p:cNvPr>
          <p:cNvSpPr txBox="1"/>
          <p:nvPr/>
        </p:nvSpPr>
        <p:spPr>
          <a:xfrm>
            <a:off x="413497" y="776833"/>
            <a:ext cx="70092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、运行下载软件</a:t>
            </a:r>
            <a:r>
              <a:rPr lang="en-US" altLang="zh-CN" dirty="0"/>
              <a:t>STC-ISP</a:t>
            </a:r>
            <a:r>
              <a:rPr lang="zh-CN" altLang="en-US" dirty="0"/>
              <a:t>（</a:t>
            </a:r>
            <a:r>
              <a:rPr lang="en-US" altLang="zh-CN" dirty="0"/>
              <a:t>V6.87F</a:t>
            </a:r>
            <a:r>
              <a:rPr lang="zh-CN" altLang="en-US" dirty="0"/>
              <a:t>），依次设置下图中红框部分。最后一步需将目标板上的拨动开关“关闭</a:t>
            </a:r>
            <a:r>
              <a:rPr lang="en-US" altLang="zh-CN" dirty="0"/>
              <a:t>/</a:t>
            </a:r>
            <a:r>
              <a:rPr lang="zh-CN" altLang="en-US" dirty="0"/>
              <a:t>打开”一次，完成目标板的设置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DD3346-C522-4EEF-B9A9-A8E52E832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422" y="1902314"/>
            <a:ext cx="6639443" cy="48032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8976187-F0B2-4853-ACEE-6CC6CD7104A8}"/>
              </a:ext>
            </a:extLst>
          </p:cNvPr>
          <p:cNvSpPr/>
          <p:nvPr/>
        </p:nvSpPr>
        <p:spPr>
          <a:xfrm>
            <a:off x="1999129" y="2205318"/>
            <a:ext cx="1326777" cy="1792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42ACC8-17D9-470B-91A8-E819D9C5A578}"/>
              </a:ext>
            </a:extLst>
          </p:cNvPr>
          <p:cNvSpPr/>
          <p:nvPr/>
        </p:nvSpPr>
        <p:spPr>
          <a:xfrm>
            <a:off x="5755342" y="2214283"/>
            <a:ext cx="735106" cy="17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20E9AD-3F64-40F3-8D03-FCECE02EF675}"/>
              </a:ext>
            </a:extLst>
          </p:cNvPr>
          <p:cNvSpPr/>
          <p:nvPr/>
        </p:nvSpPr>
        <p:spPr>
          <a:xfrm>
            <a:off x="5199529" y="3129399"/>
            <a:ext cx="1775011" cy="17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917E0F-1E1D-4AB8-9848-35474E22846C}"/>
              </a:ext>
            </a:extLst>
          </p:cNvPr>
          <p:cNvSpPr/>
          <p:nvPr/>
        </p:nvSpPr>
        <p:spPr>
          <a:xfrm>
            <a:off x="4814046" y="2917772"/>
            <a:ext cx="1676401" cy="1524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41B485-0F75-4AC0-8FDE-D4726125AAFB}"/>
              </a:ext>
            </a:extLst>
          </p:cNvPr>
          <p:cNvSpPr/>
          <p:nvPr/>
        </p:nvSpPr>
        <p:spPr>
          <a:xfrm>
            <a:off x="4204446" y="2516263"/>
            <a:ext cx="1407459" cy="2448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1791653-3516-4C06-A0C2-260158436785}"/>
              </a:ext>
            </a:extLst>
          </p:cNvPr>
          <p:cNvCxnSpPr/>
          <p:nvPr/>
        </p:nvCxnSpPr>
        <p:spPr>
          <a:xfrm flipV="1">
            <a:off x="1147482" y="2581835"/>
            <a:ext cx="1783977" cy="10309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EBE76AF-03E3-42D1-8788-919FC7B45074}"/>
              </a:ext>
            </a:extLst>
          </p:cNvPr>
          <p:cNvSpPr txBox="1"/>
          <p:nvPr/>
        </p:nvSpPr>
        <p:spPr>
          <a:xfrm>
            <a:off x="144555" y="3714346"/>
            <a:ext cx="158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记住串口号！</a:t>
            </a:r>
          </a:p>
        </p:txBody>
      </p:sp>
    </p:spTree>
    <p:extLst>
      <p:ext uri="{BB962C8B-B14F-4D97-AF65-F5344CB8AC3E}">
        <p14:creationId xmlns:p14="http://schemas.microsoft.com/office/powerpoint/2010/main" val="2370168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E73F26E-71DA-457E-8CAE-EBCD6341DF9A}"/>
              </a:ext>
            </a:extLst>
          </p:cNvPr>
          <p:cNvSpPr txBox="1"/>
          <p:nvPr/>
        </p:nvSpPr>
        <p:spPr>
          <a:xfrm>
            <a:off x="413497" y="776833"/>
            <a:ext cx="37281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     STC</a:t>
            </a:r>
            <a:r>
              <a:rPr lang="zh-CN" altLang="en-US" sz="3200" dirty="0"/>
              <a:t>系列单片机</a:t>
            </a:r>
            <a:endParaRPr lang="en-US" altLang="zh-CN" sz="32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A0D3114-56CD-427F-83E2-B62316A81D44}"/>
              </a:ext>
            </a:extLst>
          </p:cNvPr>
          <p:cNvSpPr txBox="1"/>
          <p:nvPr/>
        </p:nvSpPr>
        <p:spPr>
          <a:xfrm>
            <a:off x="842682" y="2052918"/>
            <a:ext cx="71173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       国产的</a:t>
            </a:r>
            <a:r>
              <a:rPr lang="en-US" altLang="zh-CN" dirty="0"/>
              <a:t>51</a:t>
            </a:r>
            <a:r>
              <a:rPr lang="zh-CN" altLang="en-US" dirty="0"/>
              <a:t>内核单片机，与传统</a:t>
            </a:r>
            <a:r>
              <a:rPr lang="en-US" altLang="zh-CN" dirty="0"/>
              <a:t>51</a:t>
            </a:r>
            <a:r>
              <a:rPr lang="zh-CN" altLang="en-US" dirty="0"/>
              <a:t>单片机相比，采用流水线结构，</a:t>
            </a:r>
            <a:endParaRPr lang="en-US" altLang="zh-CN" dirty="0"/>
          </a:p>
          <a:p>
            <a:r>
              <a:rPr lang="zh-CN" altLang="en-US" dirty="0"/>
              <a:t>单周期指令，运行速度是传统</a:t>
            </a:r>
            <a:r>
              <a:rPr lang="en-US" altLang="zh-CN" dirty="0"/>
              <a:t>51</a:t>
            </a:r>
            <a:r>
              <a:rPr lang="zh-CN" altLang="en-US" dirty="0"/>
              <a:t>单片机的</a:t>
            </a:r>
            <a:r>
              <a:rPr lang="en-US" altLang="zh-CN" dirty="0"/>
              <a:t>12</a:t>
            </a:r>
            <a:r>
              <a:rPr lang="zh-CN" altLang="en-US" dirty="0"/>
              <a:t>倍，</a:t>
            </a:r>
            <a:r>
              <a:rPr lang="en-US" altLang="zh-CN" dirty="0"/>
              <a:t>I/O</a:t>
            </a:r>
            <a:r>
              <a:rPr lang="zh-CN" altLang="en-US" dirty="0"/>
              <a:t>口数量更多，集</a:t>
            </a:r>
            <a:endParaRPr lang="en-US" altLang="zh-CN" dirty="0"/>
          </a:p>
          <a:p>
            <a:r>
              <a:rPr lang="zh-CN" altLang="en-US" dirty="0"/>
              <a:t>成了</a:t>
            </a:r>
            <a:r>
              <a:rPr lang="en-US" altLang="zh-CN" dirty="0"/>
              <a:t>AD</a:t>
            </a:r>
            <a:r>
              <a:rPr lang="zh-CN" altLang="en-US" dirty="0"/>
              <a:t>转换、</a:t>
            </a:r>
            <a:r>
              <a:rPr lang="en-US" altLang="zh-CN" dirty="0"/>
              <a:t>PWM</a:t>
            </a:r>
            <a:r>
              <a:rPr lang="zh-CN" altLang="en-US" dirty="0"/>
              <a:t>、</a:t>
            </a:r>
            <a:r>
              <a:rPr lang="en-US" altLang="zh-CN" dirty="0"/>
              <a:t>I2C</a:t>
            </a:r>
            <a:r>
              <a:rPr lang="zh-CN" altLang="en-US" dirty="0"/>
              <a:t>、</a:t>
            </a:r>
            <a:r>
              <a:rPr lang="en-US" altLang="zh-CN" dirty="0"/>
              <a:t>SPI</a:t>
            </a:r>
            <a:r>
              <a:rPr lang="zh-CN" altLang="en-US" dirty="0"/>
              <a:t>等，内部资源更丰富，而且价格非常</a:t>
            </a:r>
            <a:endParaRPr lang="en-US" altLang="zh-CN" dirty="0"/>
          </a:p>
          <a:p>
            <a:r>
              <a:rPr lang="zh-CN" altLang="en-US" dirty="0"/>
              <a:t>便宜。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/>
              <a:t>号称国内销量最大的单片机。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CA1876-CBD3-4D85-9DA4-15DBA1398274}"/>
              </a:ext>
            </a:extLst>
          </p:cNvPr>
          <p:cNvSpPr txBox="1"/>
          <p:nvPr/>
        </p:nvSpPr>
        <p:spPr>
          <a:xfrm>
            <a:off x="761999" y="3779566"/>
            <a:ext cx="69777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       </a:t>
            </a:r>
            <a:r>
              <a:rPr lang="en-US" altLang="zh-CN" dirty="0"/>
              <a:t>STC8A8K64S4A12</a:t>
            </a:r>
            <a:r>
              <a:rPr lang="zh-CN" altLang="en-US" dirty="0"/>
              <a:t>是自带仿真功能的单片机，在</a:t>
            </a:r>
            <a:r>
              <a:rPr lang="en-US" altLang="zh-CN" dirty="0"/>
              <a:t>Keil C51</a:t>
            </a:r>
            <a:r>
              <a:rPr lang="zh-CN" altLang="en-US" dirty="0"/>
              <a:t>下直接</a:t>
            </a:r>
            <a:br>
              <a:rPr lang="en-US" altLang="zh-CN" dirty="0"/>
            </a:br>
            <a:r>
              <a:rPr lang="zh-CN" altLang="en-US" dirty="0"/>
              <a:t>进行仿真运行。</a:t>
            </a:r>
          </a:p>
        </p:txBody>
      </p:sp>
    </p:spTree>
    <p:extLst>
      <p:ext uri="{BB962C8B-B14F-4D97-AF65-F5344CB8AC3E}">
        <p14:creationId xmlns:p14="http://schemas.microsoft.com/office/powerpoint/2010/main" val="2612636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15404" y="2884208"/>
            <a:ext cx="5305984" cy="1325563"/>
          </a:xfrm>
        </p:spPr>
        <p:txBody>
          <a:bodyPr/>
          <a:lstStyle/>
          <a:p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四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. 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运行一个</a:t>
            </a:r>
            <a:r>
              <a:rPr lang="en-US" altLang="zh-CN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C51</a:t>
            </a:r>
            <a:r>
              <a:rPr lang="zh-CN" altLang="en-US" sz="4000" dirty="0">
                <a:solidFill>
                  <a:srgbClr val="0070C0"/>
                </a:solidFill>
                <a:latin typeface="Franklin Gothic Medium" panose="020B0603020102020204" charset="0"/>
                <a:ea typeface="微软雅黑" panose="020B0503020204020204" charset="-122"/>
              </a:rPr>
              <a:t>工程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7749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E73F26E-71DA-457E-8CAE-EBCD6341DF9A}"/>
              </a:ext>
            </a:extLst>
          </p:cNvPr>
          <p:cNvSpPr txBox="1"/>
          <p:nvPr/>
        </p:nvSpPr>
        <p:spPr>
          <a:xfrm>
            <a:off x="413497" y="776833"/>
            <a:ext cx="7009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、打开</a:t>
            </a:r>
            <a:r>
              <a:rPr lang="en-US" altLang="zh-CN" dirty="0"/>
              <a:t>\</a:t>
            </a:r>
            <a:r>
              <a:rPr lang="zh-CN" altLang="en-US" dirty="0"/>
              <a:t>参考程序</a:t>
            </a:r>
            <a:r>
              <a:rPr lang="en-US" altLang="zh-CN" dirty="0"/>
              <a:t>\1 P55</a:t>
            </a:r>
            <a:r>
              <a:rPr lang="zh-CN" altLang="en-US" dirty="0"/>
              <a:t>口</a:t>
            </a:r>
            <a:r>
              <a:rPr lang="en-US" altLang="zh-CN" dirty="0"/>
              <a:t>LED</a:t>
            </a:r>
            <a:r>
              <a:rPr lang="zh-CN" altLang="en-US" dirty="0"/>
              <a:t>灯运行</a:t>
            </a:r>
            <a:r>
              <a:rPr lang="en-US" altLang="zh-CN" dirty="0"/>
              <a:t>\text1.uvproj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6D9ECEA-303E-43CB-AE65-0FCBBC96A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05" y="2117527"/>
            <a:ext cx="8527519" cy="368077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545BFB8-1123-46BC-8314-CC3C952A9CC4}"/>
              </a:ext>
            </a:extLst>
          </p:cNvPr>
          <p:cNvSpPr txBox="1"/>
          <p:nvPr/>
        </p:nvSpPr>
        <p:spPr>
          <a:xfrm>
            <a:off x="413497" y="1146165"/>
            <a:ext cx="7009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、点击</a:t>
            </a:r>
            <a:r>
              <a:rPr lang="en-US" altLang="zh-CN" dirty="0"/>
              <a:t>Project----Options for Target “Target</a:t>
            </a:r>
            <a:r>
              <a:rPr lang="zh-CN" altLang="en-US" dirty="0"/>
              <a:t> </a:t>
            </a:r>
            <a:r>
              <a:rPr lang="en-US" altLang="zh-CN" dirty="0"/>
              <a:t>1” …..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4818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E73F26E-71DA-457E-8CAE-EBCD6341DF9A}"/>
              </a:ext>
            </a:extLst>
          </p:cNvPr>
          <p:cNvSpPr txBox="1"/>
          <p:nvPr/>
        </p:nvSpPr>
        <p:spPr>
          <a:xfrm>
            <a:off x="413497" y="776833"/>
            <a:ext cx="7009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、点击“</a:t>
            </a:r>
            <a:r>
              <a:rPr lang="en-US" altLang="zh-CN" dirty="0"/>
              <a:t>Device</a:t>
            </a:r>
            <a:r>
              <a:rPr lang="zh-CN" altLang="en-US" dirty="0"/>
              <a:t>”选择正确的</a:t>
            </a:r>
            <a:r>
              <a:rPr lang="en-US" altLang="zh-CN" dirty="0"/>
              <a:t>MCU</a:t>
            </a:r>
            <a:r>
              <a:rPr lang="zh-CN" altLang="en-US" dirty="0"/>
              <a:t>型号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92B661-3D6E-4142-B22F-2A8724BF8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04" y="1332860"/>
            <a:ext cx="7258415" cy="540859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B7B2E1E-E4C6-4662-8CCB-4F7589A2CB01}"/>
              </a:ext>
            </a:extLst>
          </p:cNvPr>
          <p:cNvSpPr/>
          <p:nvPr/>
        </p:nvSpPr>
        <p:spPr>
          <a:xfrm>
            <a:off x="1030941" y="1757799"/>
            <a:ext cx="537884" cy="178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656AA3-29B1-419B-863F-B57B38513F6E}"/>
              </a:ext>
            </a:extLst>
          </p:cNvPr>
          <p:cNvSpPr/>
          <p:nvPr/>
        </p:nvSpPr>
        <p:spPr>
          <a:xfrm>
            <a:off x="1873623" y="4285846"/>
            <a:ext cx="1810871" cy="2054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647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E73F26E-71DA-457E-8CAE-EBCD6341DF9A}"/>
              </a:ext>
            </a:extLst>
          </p:cNvPr>
          <p:cNvSpPr txBox="1"/>
          <p:nvPr/>
        </p:nvSpPr>
        <p:spPr>
          <a:xfrm>
            <a:off x="413497" y="776833"/>
            <a:ext cx="7009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、设置“</a:t>
            </a:r>
            <a:r>
              <a:rPr lang="en-US" altLang="zh-CN" dirty="0"/>
              <a:t>Debug</a:t>
            </a:r>
            <a:r>
              <a:rPr lang="zh-CN" altLang="en-US" dirty="0"/>
              <a:t>”选项，</a:t>
            </a:r>
            <a:r>
              <a:rPr lang="en-US" altLang="zh-CN" dirty="0"/>
              <a:t> OK</a:t>
            </a:r>
            <a:r>
              <a:rPr lang="zh-CN" altLang="en-US" dirty="0"/>
              <a:t>，关闭，回到主界面。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BD85A8F-5D8D-499C-9C90-A81D6271A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976" y="1230439"/>
            <a:ext cx="7343529" cy="543930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B7B2E1E-E4C6-4662-8CCB-4F7589A2CB01}"/>
              </a:ext>
            </a:extLst>
          </p:cNvPr>
          <p:cNvSpPr/>
          <p:nvPr/>
        </p:nvSpPr>
        <p:spPr>
          <a:xfrm>
            <a:off x="4634752" y="1941524"/>
            <a:ext cx="2680447" cy="2996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2902CC-2DEC-4B71-9DFF-43C350882171}"/>
              </a:ext>
            </a:extLst>
          </p:cNvPr>
          <p:cNvSpPr/>
          <p:nvPr/>
        </p:nvSpPr>
        <p:spPr>
          <a:xfrm>
            <a:off x="6786282" y="2581835"/>
            <a:ext cx="1201271" cy="1972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CAAFF9-E255-45ED-A1DE-86E74C5645D1}"/>
              </a:ext>
            </a:extLst>
          </p:cNvPr>
          <p:cNvSpPr/>
          <p:nvPr/>
        </p:nvSpPr>
        <p:spPr>
          <a:xfrm>
            <a:off x="6786282" y="1648682"/>
            <a:ext cx="528917" cy="208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656AA3-29B1-419B-863F-B57B38513F6E}"/>
              </a:ext>
            </a:extLst>
          </p:cNvPr>
          <p:cNvSpPr/>
          <p:nvPr/>
        </p:nvSpPr>
        <p:spPr>
          <a:xfrm>
            <a:off x="7386917" y="1941524"/>
            <a:ext cx="718107" cy="2996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46A8EA-870E-46D4-A1F4-ED3672D0B064}"/>
              </a:ext>
            </a:extLst>
          </p:cNvPr>
          <p:cNvSpPr txBox="1"/>
          <p:nvPr/>
        </p:nvSpPr>
        <p:spPr>
          <a:xfrm>
            <a:off x="6526306" y="1312781"/>
            <a:ext cx="259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F78550-FFDA-4A45-B9ED-09A4C3537220}"/>
              </a:ext>
            </a:extLst>
          </p:cNvPr>
          <p:cNvSpPr txBox="1"/>
          <p:nvPr/>
        </p:nvSpPr>
        <p:spPr>
          <a:xfrm>
            <a:off x="4728418" y="1600865"/>
            <a:ext cx="259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4721D44-5BA4-414D-BCEE-B816F871F75A}"/>
              </a:ext>
            </a:extLst>
          </p:cNvPr>
          <p:cNvSpPr txBox="1"/>
          <p:nvPr/>
        </p:nvSpPr>
        <p:spPr>
          <a:xfrm>
            <a:off x="6526306" y="2383669"/>
            <a:ext cx="259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AD42AF-9BF3-43CB-8334-0AD1DB7A108F}"/>
              </a:ext>
            </a:extLst>
          </p:cNvPr>
          <p:cNvSpPr txBox="1"/>
          <p:nvPr/>
        </p:nvSpPr>
        <p:spPr>
          <a:xfrm>
            <a:off x="7655858" y="2140784"/>
            <a:ext cx="259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980BE9B-1120-463A-A0A5-586775FC1E87}"/>
              </a:ext>
            </a:extLst>
          </p:cNvPr>
          <p:cNvSpPr txBox="1"/>
          <p:nvPr/>
        </p:nvSpPr>
        <p:spPr>
          <a:xfrm>
            <a:off x="4405941" y="3467733"/>
            <a:ext cx="259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CF763C-8334-47BD-ABAA-90996177E094}"/>
              </a:ext>
            </a:extLst>
          </p:cNvPr>
          <p:cNvSpPr/>
          <p:nvPr/>
        </p:nvSpPr>
        <p:spPr>
          <a:xfrm>
            <a:off x="4572930" y="3837065"/>
            <a:ext cx="644529" cy="2329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4C8F4D-0887-466B-84A7-6CB1946AFFE9}"/>
              </a:ext>
            </a:extLst>
          </p:cNvPr>
          <p:cNvSpPr txBox="1"/>
          <p:nvPr/>
        </p:nvSpPr>
        <p:spPr>
          <a:xfrm>
            <a:off x="6330202" y="4069976"/>
            <a:ext cx="1872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正确设置串口号！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48DF764-A6E8-4D8D-8222-F2CC8E6DB20A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5217459" y="4021731"/>
            <a:ext cx="1112743" cy="2329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952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E73F26E-71DA-457E-8CAE-EBCD6341DF9A}"/>
              </a:ext>
            </a:extLst>
          </p:cNvPr>
          <p:cNvSpPr txBox="1"/>
          <p:nvPr/>
        </p:nvSpPr>
        <p:spPr>
          <a:xfrm>
            <a:off x="413497" y="776833"/>
            <a:ext cx="7009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、点击主菜单“</a:t>
            </a:r>
            <a:r>
              <a:rPr lang="en-US" altLang="zh-CN" dirty="0"/>
              <a:t>Debug</a:t>
            </a:r>
            <a:r>
              <a:rPr lang="zh-CN" altLang="en-US" dirty="0"/>
              <a:t>”</a:t>
            </a:r>
            <a:r>
              <a:rPr lang="en-US" altLang="zh-CN" dirty="0"/>
              <a:t>---Start/Stop Debug Session---Run</a:t>
            </a:r>
            <a:r>
              <a:rPr lang="zh-CN" altLang="en-US" dirty="0"/>
              <a:t>，目标板上的红色</a:t>
            </a:r>
            <a:r>
              <a:rPr lang="en-US" altLang="zh-CN" dirty="0"/>
              <a:t>LED</a:t>
            </a:r>
            <a:r>
              <a:rPr lang="zh-CN" altLang="en-US" dirty="0"/>
              <a:t>开始闪烁。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980BE9B-1120-463A-A0A5-586775FC1E87}"/>
              </a:ext>
            </a:extLst>
          </p:cNvPr>
          <p:cNvSpPr txBox="1"/>
          <p:nvPr/>
        </p:nvSpPr>
        <p:spPr>
          <a:xfrm>
            <a:off x="5158416" y="-2052"/>
            <a:ext cx="259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BCD2DE-8505-49C4-A81E-4A0D2FAE1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97" y="1832717"/>
            <a:ext cx="8013327" cy="416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695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E73F26E-71DA-457E-8CAE-EBCD6341DF9A}"/>
              </a:ext>
            </a:extLst>
          </p:cNvPr>
          <p:cNvSpPr txBox="1"/>
          <p:nvPr/>
        </p:nvSpPr>
        <p:spPr>
          <a:xfrm>
            <a:off x="413497" y="776833"/>
            <a:ext cx="7009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zh-CN" altLang="en-US" dirty="0"/>
              <a:t>点击</a:t>
            </a:r>
            <a:r>
              <a:rPr lang="en-US" altLang="zh-CN" dirty="0"/>
              <a:t>Start/Stop Debug Session</a:t>
            </a:r>
            <a:r>
              <a:rPr lang="zh-CN" altLang="en-US" dirty="0"/>
              <a:t>，退出调试状态。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改变主循环中</a:t>
            </a:r>
            <a:r>
              <a:rPr lang="en-US" altLang="zh-CN" dirty="0" err="1"/>
              <a:t>delayms</a:t>
            </a:r>
            <a:r>
              <a:rPr lang="en-US" altLang="zh-CN" dirty="0"/>
              <a:t>()</a:t>
            </a:r>
            <a:r>
              <a:rPr lang="zh-CN" altLang="en-US" dirty="0"/>
              <a:t>中的参数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980BE9B-1120-463A-A0A5-586775FC1E87}"/>
              </a:ext>
            </a:extLst>
          </p:cNvPr>
          <p:cNvSpPr txBox="1"/>
          <p:nvPr/>
        </p:nvSpPr>
        <p:spPr>
          <a:xfrm>
            <a:off x="5158416" y="-2052"/>
            <a:ext cx="259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9C9DDA-5968-4D2A-8A1A-DEA7FDBDC86D}"/>
              </a:ext>
            </a:extLst>
          </p:cNvPr>
          <p:cNvSpPr txBox="1"/>
          <p:nvPr/>
        </p:nvSpPr>
        <p:spPr>
          <a:xfrm>
            <a:off x="1927412" y="1997839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main()</a:t>
            </a:r>
          </a:p>
          <a:p>
            <a:r>
              <a:rPr lang="zh-CN" altLang="en-US" dirty="0"/>
              <a:t>{</a:t>
            </a:r>
          </a:p>
          <a:p>
            <a:r>
              <a:rPr lang="zh-CN" altLang="en-US" dirty="0"/>
              <a:t>	while(1)</a:t>
            </a:r>
          </a:p>
          <a:p>
            <a:r>
              <a:rPr lang="zh-CN" altLang="en-US" dirty="0"/>
              <a:t>	{</a:t>
            </a:r>
          </a:p>
          <a:p>
            <a:r>
              <a:rPr lang="zh-CN" altLang="en-US" dirty="0"/>
              <a:t>	     P55=0;</a:t>
            </a:r>
          </a:p>
          <a:p>
            <a:r>
              <a:rPr lang="zh-CN" altLang="en-US" dirty="0"/>
              <a:t>	     delayms(100);</a:t>
            </a:r>
          </a:p>
          <a:p>
            <a:r>
              <a:rPr lang="zh-CN" altLang="en-US" dirty="0"/>
              <a:t>	     P55=1;</a:t>
            </a:r>
          </a:p>
          <a:p>
            <a:r>
              <a:rPr lang="zh-CN" altLang="en-US" dirty="0"/>
              <a:t>	     delayms(100);</a:t>
            </a:r>
          </a:p>
          <a:p>
            <a:r>
              <a:rPr lang="zh-CN" altLang="en-US" dirty="0"/>
              <a:t>	}</a:t>
            </a:r>
          </a:p>
          <a:p>
            <a:r>
              <a:rPr lang="zh-CN" alt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36936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E73F26E-71DA-457E-8CAE-EBCD6341DF9A}"/>
              </a:ext>
            </a:extLst>
          </p:cNvPr>
          <p:cNvSpPr txBox="1"/>
          <p:nvPr/>
        </p:nvSpPr>
        <p:spPr>
          <a:xfrm>
            <a:off x="413497" y="776833"/>
            <a:ext cx="7009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zh-CN" altLang="en-US" dirty="0"/>
              <a:t>保存</a:t>
            </a:r>
            <a:r>
              <a:rPr lang="en-US" altLang="zh-CN" dirty="0"/>
              <a:t>Save</a:t>
            </a:r>
            <a:r>
              <a:rPr lang="zh-CN" altLang="en-US" dirty="0"/>
              <a:t>，编译</a:t>
            </a:r>
            <a:r>
              <a:rPr lang="en-US" altLang="zh-CN" dirty="0"/>
              <a:t>Rebuild</a:t>
            </a:r>
            <a:r>
              <a:rPr lang="zh-CN" altLang="en-US" dirty="0"/>
              <a:t>，然后运行（“</a:t>
            </a:r>
            <a:r>
              <a:rPr lang="en-US" altLang="zh-CN" dirty="0"/>
              <a:t>Debug</a:t>
            </a:r>
            <a:r>
              <a:rPr lang="zh-CN" altLang="en-US" dirty="0"/>
              <a:t>”</a:t>
            </a:r>
            <a:r>
              <a:rPr lang="en-US" altLang="zh-CN" dirty="0"/>
              <a:t>---Start/Stop Debug Session---Run</a:t>
            </a:r>
            <a:r>
              <a:rPr lang="zh-CN" altLang="en-US" dirty="0"/>
              <a:t>），观察红灯闪烁的快慢 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980BE9B-1120-463A-A0A5-586775FC1E87}"/>
              </a:ext>
            </a:extLst>
          </p:cNvPr>
          <p:cNvSpPr txBox="1"/>
          <p:nvPr/>
        </p:nvSpPr>
        <p:spPr>
          <a:xfrm>
            <a:off x="5158416" y="-2052"/>
            <a:ext cx="259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F968CB-70D7-479A-A2ED-B402E09AB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057" y="1832717"/>
            <a:ext cx="4970658" cy="347438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BF42B8D-BA85-43C6-AE07-4F0B7ADBBE02}"/>
              </a:ext>
            </a:extLst>
          </p:cNvPr>
          <p:cNvSpPr/>
          <p:nvPr/>
        </p:nvSpPr>
        <p:spPr>
          <a:xfrm>
            <a:off x="2214283" y="2683845"/>
            <a:ext cx="385481" cy="3504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FE1C83-7C66-4A02-9E54-61FE6FEEBC90}"/>
              </a:ext>
            </a:extLst>
          </p:cNvPr>
          <p:cNvSpPr/>
          <p:nvPr/>
        </p:nvSpPr>
        <p:spPr>
          <a:xfrm>
            <a:off x="2599764" y="2231387"/>
            <a:ext cx="358589" cy="3504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001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学院logo-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7552" y="3332563"/>
            <a:ext cx="4635500" cy="729615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1090972" y="2415876"/>
            <a:ext cx="3725435" cy="1015663"/>
          </a:xfrm>
          <a:prstGeom prst="rect">
            <a:avLst/>
          </a:prstGeom>
          <a:noFill/>
          <a:ln>
            <a:noFill/>
          </a:ln>
          <a:effectLst>
            <a:glow rad="1905000">
              <a:schemeClr val="bg1">
                <a:alpha val="95000"/>
              </a:schemeClr>
            </a:glow>
          </a:effectLst>
        </p:spPr>
        <p:txBody>
          <a:bodyPr wrap="square" rtlCol="0" anchor="t">
            <a:spAutoFit/>
          </a:bodyPr>
          <a:lstStyle/>
          <a:p>
            <a:pPr algn="ctr" fontAlgn="base"/>
            <a:r>
              <a:rPr lang="en-US" altLang="zh-CN" sz="6000" b="1" strike="noStrike" noProof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  <a:cs typeface="+mn-cs"/>
              </a:rPr>
              <a:t>THANKS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106654" y="2638860"/>
            <a:ext cx="0" cy="1387406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593</Words>
  <Application>Microsoft Office PowerPoint</Application>
  <PresentationFormat>全屏显示(4:3)</PresentationFormat>
  <Paragraphs>63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Microsoft Yahei</vt:lpstr>
      <vt:lpstr>Microsoft Yahei</vt:lpstr>
      <vt:lpstr>Arial</vt:lpstr>
      <vt:lpstr>Arial Black</vt:lpstr>
      <vt:lpstr>Calibri</vt:lpstr>
      <vt:lpstr>Franklin Gothic Medium</vt:lpstr>
      <vt:lpstr>Office 主题</vt:lpstr>
      <vt:lpstr>PowerPoint 演示文稿</vt:lpstr>
      <vt:lpstr>一. 安装Keil C51</vt:lpstr>
      <vt:lpstr>1.安装Keil C51</vt:lpstr>
      <vt:lpstr>1.安装Keil C51</vt:lpstr>
      <vt:lpstr>1.安装Keil C51</vt:lpstr>
      <vt:lpstr>1.安装Keil C51</vt:lpstr>
      <vt:lpstr>1.安装Keil C51</vt:lpstr>
      <vt:lpstr>1.安装Keil C51</vt:lpstr>
      <vt:lpstr>1.安装Keil C51</vt:lpstr>
      <vt:lpstr>二. 安装USB驱动</vt:lpstr>
      <vt:lpstr>1.安装USB转串口驱动</vt:lpstr>
      <vt:lpstr>三. Keil仿真设置</vt:lpstr>
      <vt:lpstr>PowerPoint 演示文稿</vt:lpstr>
      <vt:lpstr>PowerPoint 演示文稿</vt:lpstr>
      <vt:lpstr>PowerPoint 演示文稿</vt:lpstr>
      <vt:lpstr>四. 运行一个C51工程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yk465</dc:creator>
  <cp:lastModifiedBy>yk465</cp:lastModifiedBy>
  <cp:revision>14</cp:revision>
  <dcterms:created xsi:type="dcterms:W3CDTF">2020-11-17T13:55:09Z</dcterms:created>
  <dcterms:modified xsi:type="dcterms:W3CDTF">2020-11-18T11:35:15Z</dcterms:modified>
</cp:coreProperties>
</file>