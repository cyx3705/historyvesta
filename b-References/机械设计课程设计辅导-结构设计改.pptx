
<file path=[Content_Types].xml><?xml version="1.0" encoding="utf-8"?>
<Types xmlns="http://schemas.openxmlformats.org/package/2006/content-types"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49.xml" ContentType="application/vnd.openxmlformats-officedocument.presentationml.tags+xml"/>
  <Default Extension="xml" ContentType="application/xml"/>
  <Override PartName="/ppt/slides/slide14.xml" ContentType="application/vnd.openxmlformats-officedocument.presentationml.slide+xml"/>
  <Override PartName="/ppt/slideLayouts/slideLayout13.xml" ContentType="application/vnd.openxmlformats-officedocument.presentationml.slideLayout+xml"/>
  <Override PartName="/ppt/tags/tag38.xml" ContentType="application/vnd.openxmlformats-officedocument.presentationml.tags+xml"/>
  <Override PartName="/ppt/tags/tag56.xml" ContentType="application/vnd.openxmlformats-officedocument.presentationml.tags+xml"/>
  <Override PartName="/ppt/tags/tag67.xml" ContentType="application/vnd.openxmlformats-officedocument.presentationml.tags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27.xml" ContentType="application/vnd.openxmlformats-officedocument.presentationml.tags+xml"/>
  <Override PartName="/ppt/tags/tag45.xml" ContentType="application/vnd.openxmlformats-officedocument.presentationml.tags+xml"/>
  <Override PartName="/ppt/tags/tag63.xml" ContentType="application/vnd.openxmlformats-officedocument.presentationml.tags+xml"/>
  <Override PartName="/docProps/custom.xml" ContentType="application/vnd.openxmlformats-officedocument.custom-properties+xml"/>
  <Override PartName="/ppt/tags/tag14.xml" ContentType="application/vnd.openxmlformats-officedocument.presentationml.tags+xml"/>
  <Override PartName="/ppt/tags/tag25.xml" ContentType="application/vnd.openxmlformats-officedocument.presentationml.tags+xml"/>
  <Override PartName="/ppt/tags/tag34.xml" ContentType="application/vnd.openxmlformats-officedocument.presentationml.tags+xml"/>
  <Override PartName="/ppt/tags/tag43.xml" ContentType="application/vnd.openxmlformats-officedocument.presentationml.tags+xml"/>
  <Override PartName="/ppt/tags/tag52.xml" ContentType="application/vnd.openxmlformats-officedocument.presentationml.tags+xml"/>
  <Override PartName="/ppt/tags/tag61.xml" ContentType="application/vnd.openxmlformats-officedocument.presentationml.tags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32.xml" ContentType="application/vnd.openxmlformats-officedocument.presentationml.tags+xml"/>
  <Override PartName="/ppt/tags/tag41.xml" ContentType="application/vnd.openxmlformats-officedocument.presentationml.tags+xml"/>
  <Override PartName="/ppt/tags/tag50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tags/tag3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tags/tag7.xml" ContentType="application/vnd.openxmlformats-officedocument.presentationml.tags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3.xml" ContentType="application/vnd.openxmlformats-officedocument.presentationml.tags+xml"/>
  <Override PartName="/ppt/tags/tag39.xml" ContentType="application/vnd.openxmlformats-officedocument.presentationml.tags+xml"/>
  <Override PartName="/ppt/tags/tag59.xml" ContentType="application/vnd.openxmlformats-officedocument.presentationml.tags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9.xml" ContentType="application/vnd.openxmlformats-officedocument.presentationml.tags+xml"/>
  <Override PartName="/ppt/tags/tag28.xml" ContentType="application/vnd.openxmlformats-officedocument.presentationml.tags+xml"/>
  <Override PartName="/ppt/tags/tag37.xml" ContentType="application/vnd.openxmlformats-officedocument.presentationml.tags+xml"/>
  <Override PartName="/ppt/tags/tag48.xml" ContentType="application/vnd.openxmlformats-officedocument.presentationml.tags+xml"/>
  <Override PartName="/ppt/tags/tag57.xml" ContentType="application/vnd.openxmlformats-officedocument.presentationml.tags+xml"/>
  <Override PartName="/ppt/tags/tag66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tags/tag17.xml" ContentType="application/vnd.openxmlformats-officedocument.presentationml.tags+xml"/>
  <Override PartName="/ppt/tags/tag26.xml" ContentType="application/vnd.openxmlformats-officedocument.presentationml.tags+xml"/>
  <Override PartName="/ppt/tags/tag35.xml" ContentType="application/vnd.openxmlformats-officedocument.presentationml.tags+xml"/>
  <Override PartName="/ppt/tags/tag46.xml" ContentType="application/vnd.openxmlformats-officedocument.presentationml.tags+xml"/>
  <Override PartName="/ppt/tags/tag55.xml" ContentType="application/vnd.openxmlformats-officedocument.presentationml.tags+xml"/>
  <Override PartName="/ppt/tags/tag64.xml" ContentType="application/vnd.openxmlformats-officedocument.presentationml.tags+xml"/>
  <Override PartName="/ppt/slideLayouts/slideLayout10.xml" ContentType="application/vnd.openxmlformats-officedocument.presentationml.slideLayout+xml"/>
  <Override PartName="/ppt/tags/tag15.xml" ContentType="application/vnd.openxmlformats-officedocument.presentationml.tags+xml"/>
  <Override PartName="/ppt/tags/tag24.xml" ContentType="application/vnd.openxmlformats-officedocument.presentationml.tags+xml"/>
  <Override PartName="/ppt/tags/tag33.xml" ContentType="application/vnd.openxmlformats-officedocument.presentationml.tags+xml"/>
  <Override PartName="/ppt/tags/tag44.xml" ContentType="application/vnd.openxmlformats-officedocument.presentationml.tags+xml"/>
  <Override PartName="/ppt/tags/tag53.xml" ContentType="application/vnd.openxmlformats-officedocument.presentationml.tags+xml"/>
  <Override PartName="/ppt/tags/tag62.xml" ContentType="application/vnd.openxmlformats-officedocument.presentationml.tags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31.xml" ContentType="application/vnd.openxmlformats-officedocument.presentationml.tags+xml"/>
  <Override PartName="/ppt/tags/tag40.xml" ContentType="application/vnd.openxmlformats-officedocument.presentationml.tags+xml"/>
  <Override PartName="/ppt/tags/tag42.xml" ContentType="application/vnd.openxmlformats-officedocument.presentationml.tags+xml"/>
  <Override PartName="/ppt/tags/tag51.xml" ContentType="application/vnd.openxmlformats-officedocument.presentationml.tags+xml"/>
  <Override PartName="/ppt/tags/tag60.xml" ContentType="application/vnd.openxmlformats-officedocument.presentationml.tags+xml"/>
  <Override PartName="/ppt/slides/slide8.xml" ContentType="application/vnd.openxmlformats-officedocument.presentationml.slide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Override PartName="/ppt/tags/tag58.xml" ContentType="application/vnd.openxmlformats-officedocument.presentationml.tags+xml"/>
  <Default Extension="rels" ContentType="application/vnd.openxmlformats-package.relationships+xml"/>
  <Override PartName="/ppt/slides/slide23.xml" ContentType="application/vnd.openxmlformats-officedocument.presentationml.slide+xml"/>
  <Override PartName="/ppt/tags/tag29.xml" ContentType="application/vnd.openxmlformats-officedocument.presentationml.tags+xml"/>
  <Override PartName="/ppt/tags/tag47.xml" ContentType="application/vnd.openxmlformats-officedocument.presentationml.tags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tags/tag18.xml" ContentType="application/vnd.openxmlformats-officedocument.presentationml.tags+xml"/>
  <Override PartName="/ppt/tags/tag36.xml" ContentType="application/vnd.openxmlformats-officedocument.presentationml.tags+xml"/>
  <Override PartName="/ppt/tags/tag54.xml" ContentType="application/vnd.openxmlformats-officedocument.presentationml.tags+xml"/>
  <Override PartName="/ppt/tags/tag65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58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57" r:id="rId24"/>
  </p:sldIdLst>
  <p:sldSz cx="9144000" cy="6858000" type="screen4x3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596" y="-84"/>
      </p:cViewPr>
      <p:guideLst>
        <p:guide orient="horz" pos="2152"/>
        <p:guide pos="288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5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9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6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0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9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7" Type="http://schemas.openxmlformats.org/officeDocument/2006/relationships/image" Target="../media/image2.png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9.xml"/><Relationship Id="rId4" Type="http://schemas.openxmlformats.org/officeDocument/2006/relationships/tags" Target="../tags/tag48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7" Type="http://schemas.openxmlformats.org/officeDocument/2006/relationships/image" Target="../media/image3.png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7" Type="http://schemas.openxmlformats.org/officeDocument/2006/relationships/image" Target="../media/image4.pn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9.xml"/><Relationship Id="rId4" Type="http://schemas.openxmlformats.org/officeDocument/2006/relationships/tags" Target="../tags/tag58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9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pattFill prst="openDmnd">
          <a:fgClr>
            <a:srgbClr val="D9D9D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rcRect r="6975"/>
          <a:stretch>
            <a:fillRect/>
          </a:stretch>
        </p:blipFill>
        <p:spPr>
          <a:xfrm>
            <a:off x="3917950" y="0"/>
            <a:ext cx="52260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0" y="3416064"/>
            <a:ext cx="4580165" cy="904863"/>
          </a:xfrm>
        </p:spPr>
        <p:txBody>
          <a:bodyPr wrap="square" anchor="b">
            <a:normAutofit/>
          </a:bodyPr>
          <a:lstStyle>
            <a:lvl1pPr algn="ctr">
              <a:defRPr sz="3300" b="1">
                <a:solidFill>
                  <a:schemeClr val="accent1"/>
                </a:solidFill>
              </a:defRPr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0" y="4413002"/>
            <a:ext cx="4580165" cy="535531"/>
          </a:xfrm>
        </p:spPr>
        <p:txBody>
          <a:bodyPr wrap="square">
            <a:normAutofit/>
          </a:bodyPr>
          <a:lstStyle>
            <a:lvl1pPr marL="0" indent="0" algn="ctr">
              <a:buNone/>
              <a:defRPr sz="15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fld id="{0C34A213-ECA9-4991-B12E-F79314115D02}" type="datetimeFigureOut">
              <a:rPr lang="zh-CN" altLang="en-US" smtClean="0"/>
              <a:pPr/>
              <a:t>2023/11/10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fld id="{D85AC887-28E0-4CE3-AB06-6494E25E90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A213-ECA9-4991-B12E-F79314115D02}" type="datetimeFigureOut">
              <a:rPr lang="zh-CN" altLang="en-US" smtClean="0"/>
              <a:pPr/>
              <a:t>2023/11/10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AC887-28E0-4CE3-AB06-6494E25E90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pattFill prst="openDmnd">
          <a:fgClr>
            <a:srgbClr val="D9D9D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rcRect r="6975"/>
          <a:stretch>
            <a:fillRect/>
          </a:stretch>
        </p:blipFill>
        <p:spPr>
          <a:xfrm>
            <a:off x="3917950" y="0"/>
            <a:ext cx="52260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5725" y="2576192"/>
            <a:ext cx="4102553" cy="1202510"/>
          </a:xfrm>
        </p:spPr>
        <p:txBody>
          <a:bodyPr anchor="b">
            <a:normAutofit/>
          </a:bodyPr>
          <a:lstStyle>
            <a:lvl1pPr algn="ctr">
              <a:defRPr sz="3600" b="1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725" y="3805690"/>
            <a:ext cx="4102553" cy="537712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fld id="{0C34A213-ECA9-4991-B12E-F79314115D02}" type="datetimeFigureOut">
              <a:rPr lang="zh-CN" altLang="en-US" smtClean="0"/>
              <a:pPr/>
              <a:t>2023/11/10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fld id="{D85AC887-28E0-4CE3-AB06-6494E25E90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A213-ECA9-4991-B12E-F79314115D02}" type="datetimeFigureOut">
              <a:rPr lang="zh-CN" altLang="en-US" smtClean="0"/>
              <a:pPr/>
              <a:t>2023/11/10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AC887-28E0-4CE3-AB06-6494E25E90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2256"/>
            <a:ext cx="7886700" cy="1325563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>
            <a:lvl1pPr>
              <a:defRPr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>
            <a:lvl1pPr>
              <a:defRPr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A213-ECA9-4991-B12E-F79314115D02}" type="datetimeFigureOut">
              <a:rPr lang="zh-CN" altLang="en-US" smtClean="0"/>
              <a:pPr/>
              <a:t>2023/11/10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AC887-28E0-4CE3-AB06-6494E25E90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pattFill prst="openDmnd">
          <a:fgClr>
            <a:srgbClr val="D9D9D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fld id="{0C34A213-ECA9-4991-B12E-F79314115D02}" type="datetimeFigureOut">
              <a:rPr lang="zh-CN" altLang="en-US" smtClean="0"/>
              <a:pPr/>
              <a:t>2023/11/10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fld id="{D85AC887-28E0-4CE3-AB06-6494E25E90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A213-ECA9-4991-B12E-F79314115D02}" type="datetimeFigureOut">
              <a:rPr lang="zh-CN" altLang="en-US" smtClean="0"/>
              <a:pPr/>
              <a:t>2023/11/10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AC887-28E0-4CE3-AB06-6494E25E90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0" y="457200"/>
            <a:ext cx="3123900" cy="1600200"/>
          </a:xfrm>
        </p:spPr>
        <p:txBody>
          <a:bodyPr anchor="t" anchorCtr="0">
            <a:normAutofit/>
          </a:bodyPr>
          <a:lstStyle>
            <a:lvl1pPr>
              <a:defRPr sz="27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3888000" y="457200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0" y="2057400"/>
            <a:ext cx="3123900" cy="381158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A213-ECA9-4991-B12E-F79314115D02}" type="datetimeFigureOut">
              <a:rPr lang="zh-CN" altLang="en-US" smtClean="0"/>
              <a:pPr/>
              <a:t>2023/11/10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AC887-28E0-4CE3-AB06-6494E25E90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710617" y="365125"/>
            <a:ext cx="804734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7007826" cy="5811838"/>
          </a:xfrm>
        </p:spPr>
        <p:txBody>
          <a:bodyPr vert="eaVert"/>
          <a:lstStyle>
            <a:lvl1pPr>
              <a:defRPr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A213-ECA9-4991-B12E-F79314115D02}" type="datetimeFigureOut">
              <a:rPr lang="zh-CN" altLang="en-US" smtClean="0"/>
              <a:pPr/>
              <a:t>2023/11/10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AC887-28E0-4CE3-AB06-6494E25E90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3"/>
            <a:ext cx="7886700" cy="5558971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4C673B6C-4284-405C-963D-BB07F2087A0B}" type="datetimeFigureOut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2023/11/10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9D00EC9D-7FD2-4C5C-AB54-92EC8DA70D1E}" type="slidenum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pattFill prst="openDmnd">
          <a:fgClr>
            <a:srgbClr val="D9D9D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9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rcRect r="6975"/>
          <a:stretch>
            <a:fillRect/>
          </a:stretch>
        </p:blipFill>
        <p:spPr>
          <a:xfrm>
            <a:off x="3917950" y="0"/>
            <a:ext cx="52260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800" y="3517200"/>
            <a:ext cx="4330800" cy="1324800"/>
          </a:xfrm>
        </p:spPr>
        <p:txBody>
          <a:bodyPr vert="horz" lIns="90000" tIns="38100" rIns="90000" bIns="381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20000"/>
              </a:lnSpc>
              <a:buNone/>
              <a:defRPr kumimoji="0" lang="zh-CN" altLang="en-US" sz="4050" b="1" i="0" u="none" strike="noStrike" kern="1200" cap="none" spc="0" normalizeH="0" baseline="0" noProof="1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z="4050" strike="noStrike" noProof="1">
                <a:sym typeface="+mn-ea"/>
              </a:rPr>
              <a:t>单击此处编辑标题</a:t>
            </a:r>
            <a:endParaRPr strike="noStrike" noProof="1">
              <a:sym typeface="+mn-ea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286200" y="1677600"/>
            <a:ext cx="3915000" cy="1720800"/>
          </a:xfrm>
        </p:spPr>
        <p:txBody>
          <a:bodyPr anchor="b" anchorCtr="0">
            <a:normAutofit/>
          </a:bodyPr>
          <a:lstStyle>
            <a:lvl1pPr marL="0" indent="0" algn="ctr">
              <a:buNone/>
              <a:defRPr sz="66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</a:lstStyle>
          <a:p>
            <a:pPr lvl="0" fontAlgn="auto"/>
            <a:r>
              <a:rPr lang="zh-CN" altLang="en-US" strike="noStrike" noProof="1"/>
              <a:t>编辑文本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微软雅黑" panose="020B0503020204020204" charset="-122"/>
                <a:ea typeface="微软雅黑" panose="020B0503020204020204" charset="-122"/>
                <a:cs typeface="+mn-cs"/>
              </a:rPr>
              <a:pPr fontAlgn="auto"/>
              <a:t>2023/11/10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微软雅黑" panose="020B0503020204020204" charset="-122"/>
                <a:ea typeface="微软雅黑" panose="020B0503020204020204" charset="-122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rcRect r="6975"/>
          <a:stretch>
            <a:fillRect/>
          </a:stretch>
        </p:blipFill>
        <p:spPr>
          <a:xfrm flipH="1">
            <a:off x="0" y="0"/>
            <a:ext cx="52260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2023/11/10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219075" y="304800"/>
            <a:ext cx="8705850" cy="6248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760" strike="noStrike" noProof="1"/>
          </a:p>
        </p:txBody>
      </p:sp>
      <p:grpSp>
        <p:nvGrpSpPr>
          <p:cNvPr id="7178" name="组合 5"/>
          <p:cNvGrpSpPr/>
          <p:nvPr/>
        </p:nvGrpSpPr>
        <p:grpSpPr>
          <a:xfrm>
            <a:off x="0" y="0"/>
            <a:ext cx="242888" cy="425450"/>
            <a:chOff x="-28353" y="1"/>
            <a:chExt cx="687388" cy="903286"/>
          </a:xfrm>
        </p:grpSpPr>
        <p:sp>
          <p:nvSpPr>
            <p:cNvPr id="9" name="等腰三角形 1"/>
            <p:cNvSpPr>
              <a:spLocks noChangeArrowheads="1"/>
            </p:cNvSpPr>
            <p:nvPr userDrawn="1">
              <p:custDataLst>
                <p:tags r:id="rId7"/>
              </p:custDataLst>
            </p:nvPr>
          </p:nvSpPr>
          <p:spPr bwMode="auto">
            <a:xfrm rot="5400000">
              <a:off x="-82719" y="54367"/>
              <a:ext cx="790680" cy="68194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 algn="ctr" eaLnBrk="1" fontAlgn="auto" hangingPunct="1"/>
              <a:endParaRPr lang="zh-CN" altLang="en-US" sz="760" strike="noStrike" noProof="1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  <p:sp>
          <p:nvSpPr>
            <p:cNvPr id="10" name="等腰三角形 10"/>
            <p:cNvSpPr>
              <a:spLocks noChangeArrowheads="1"/>
            </p:cNvSpPr>
            <p:nvPr userDrawn="1">
              <p:custDataLst>
                <p:tags r:id="rId8"/>
              </p:custDataLst>
            </p:nvPr>
          </p:nvSpPr>
          <p:spPr bwMode="auto">
            <a:xfrm rot="5400000">
              <a:off x="83150" y="327403"/>
              <a:ext cx="618405" cy="53336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 algn="ctr" eaLnBrk="1" fontAlgn="auto" hangingPunct="1"/>
              <a:endParaRPr lang="zh-CN" altLang="en-US" sz="760" strike="noStrike" noProof="1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7181" name="组合 10"/>
          <p:cNvGrpSpPr/>
          <p:nvPr/>
        </p:nvGrpSpPr>
        <p:grpSpPr>
          <a:xfrm flipH="1" flipV="1">
            <a:off x="8901113" y="6432550"/>
            <a:ext cx="242887" cy="425450"/>
            <a:chOff x="-28353" y="1"/>
            <a:chExt cx="687388" cy="903286"/>
          </a:xfrm>
        </p:grpSpPr>
        <p:sp>
          <p:nvSpPr>
            <p:cNvPr id="12" name="等腰三角形 1"/>
            <p:cNvSpPr>
              <a:spLocks noChangeArrowheads="1"/>
            </p:cNvSpPr>
            <p:nvPr userDrawn="1">
              <p:custDataLst>
                <p:tags r:id="rId5"/>
              </p:custDataLst>
            </p:nvPr>
          </p:nvSpPr>
          <p:spPr bwMode="auto">
            <a:xfrm rot="5400000">
              <a:off x="-82719" y="54367"/>
              <a:ext cx="790680" cy="68194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 algn="ctr" eaLnBrk="1" fontAlgn="auto" hangingPunct="1"/>
              <a:endParaRPr lang="zh-CN" altLang="en-US" sz="760" strike="noStrike" noProof="1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  <p:sp>
          <p:nvSpPr>
            <p:cNvPr id="13" name="等腰三角形 10"/>
            <p:cNvSpPr>
              <a:spLocks noChangeArrowheads="1"/>
            </p:cNvSpPr>
            <p:nvPr userDrawn="1">
              <p:custDataLst>
                <p:tags r:id="rId6"/>
              </p:custDataLst>
            </p:nvPr>
          </p:nvSpPr>
          <p:spPr bwMode="auto">
            <a:xfrm rot="5400000">
              <a:off x="83150" y="327403"/>
              <a:ext cx="618405" cy="53336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 algn="ctr" eaLnBrk="1" fontAlgn="auto" hangingPunct="1"/>
              <a:endParaRPr lang="zh-CN" altLang="en-US" sz="760" strike="noStrike" noProof="1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61200" y="1249200"/>
            <a:ext cx="7219800" cy="723600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960835" y="2163600"/>
            <a:ext cx="721995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2023/11/10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3617913" cy="686593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auto"/>
            <a:endParaRPr lang="en-US" altLang="zh-CN" sz="760" strike="noStrike" noProof="1">
              <a:sym typeface="+mn-ea"/>
            </a:endParaRPr>
          </a:p>
        </p:txBody>
      </p:sp>
      <p:grpSp>
        <p:nvGrpSpPr>
          <p:cNvPr id="8202" name="组合 5"/>
          <p:cNvGrpSpPr/>
          <p:nvPr/>
        </p:nvGrpSpPr>
        <p:grpSpPr>
          <a:xfrm>
            <a:off x="0" y="922338"/>
            <a:ext cx="396875" cy="693737"/>
            <a:chOff x="100637" y="715919"/>
            <a:chExt cx="687388" cy="903286"/>
          </a:xfrm>
        </p:grpSpPr>
        <p:sp>
          <p:nvSpPr>
            <p:cNvPr id="10" name="等腰三角形 1"/>
            <p:cNvSpPr>
              <a:spLocks noChangeArrowheads="1"/>
            </p:cNvSpPr>
            <p:nvPr userDrawn="1">
              <p:custDataLst>
                <p:tags r:id="rId5"/>
              </p:custDataLst>
            </p:nvPr>
          </p:nvSpPr>
          <p:spPr bwMode="auto">
            <a:xfrm rot="5400000">
              <a:off x="46271" y="770285"/>
              <a:ext cx="790680" cy="68194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 algn="ctr" eaLnBrk="1" fontAlgn="auto" hangingPunct="1"/>
              <a:endParaRPr lang="zh-CN" altLang="en-US" sz="760" strike="noStrike" noProof="1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等腰三角形 10"/>
            <p:cNvSpPr>
              <a:spLocks noChangeArrowheads="1"/>
            </p:cNvSpPr>
            <p:nvPr userDrawn="1">
              <p:custDataLst>
                <p:tags r:id="rId6"/>
              </p:custDataLst>
            </p:nvPr>
          </p:nvSpPr>
          <p:spPr bwMode="auto">
            <a:xfrm rot="5400000">
              <a:off x="212140" y="1043321"/>
              <a:ext cx="618405" cy="53336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 algn="ctr" eaLnBrk="1" fontAlgn="auto" hangingPunct="1"/>
              <a:endParaRPr lang="zh-CN" altLang="en-US" sz="760" strike="noStrike" noProof="1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37400" y="770400"/>
            <a:ext cx="2970000" cy="882000"/>
          </a:xfrm>
        </p:spPr>
        <p:txBody>
          <a:bodyPr anchor="ctr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440100" y="1764000"/>
            <a:ext cx="29673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3825900" y="769938"/>
            <a:ext cx="486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2023/11/10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0"/>
            <a:ext cx="9144000" cy="266382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auto"/>
            <a:endParaRPr lang="en-US" altLang="zh-CN" sz="760" strike="noStrike" noProof="1">
              <a:sym typeface="+mn-ea"/>
            </a:endParaRPr>
          </a:p>
        </p:txBody>
      </p:sp>
      <p:pic>
        <p:nvPicPr>
          <p:cNvPr id="9226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rcRect r="6975"/>
          <a:stretch>
            <a:fillRect/>
          </a:stretch>
        </p:blipFill>
        <p:spPr>
          <a:xfrm flipH="1">
            <a:off x="0" y="0"/>
            <a:ext cx="2030413" cy="2663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9000" y="781200"/>
            <a:ext cx="8232300" cy="626400"/>
          </a:xfrm>
        </p:spPr>
        <p:txBody>
          <a:bodyPr anchor="ctr"/>
          <a:lstStyle>
            <a:lvl1pPr algn="ctr"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459000" y="1659600"/>
            <a:ext cx="8231981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459581" y="2808000"/>
            <a:ext cx="82242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2023/11/10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5029200"/>
            <a:ext cx="9144000" cy="1828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auto"/>
            <a:endParaRPr lang="en-US" altLang="zh-CN" sz="760" strike="noStrike" noProof="1">
              <a:sym typeface="+mn-ea"/>
            </a:endParaRPr>
          </a:p>
        </p:txBody>
      </p:sp>
      <p:pic>
        <p:nvPicPr>
          <p:cNvPr id="10250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rcRect r="6975"/>
          <a:stretch>
            <a:fillRect/>
          </a:stretch>
        </p:blipFill>
        <p:spPr>
          <a:xfrm>
            <a:off x="7745413" y="5029200"/>
            <a:ext cx="1397000" cy="18335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3600" y="669600"/>
            <a:ext cx="8232300" cy="565200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453628" y="1681200"/>
            <a:ext cx="82431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445500" y="5180400"/>
            <a:ext cx="82512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2023/11/10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auto"/>
            <a:endParaRPr lang="en-US" altLang="zh-CN" sz="760" strike="noStrike" noProof="1">
              <a:sym typeface="+mn-ea"/>
            </a:endParaRPr>
          </a:p>
        </p:txBody>
      </p:sp>
      <p:pic>
        <p:nvPicPr>
          <p:cNvPr id="11274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rcRect r="6975"/>
          <a:stretch>
            <a:fillRect/>
          </a:stretch>
        </p:blipFill>
        <p:spPr>
          <a:xfrm>
            <a:off x="8450263" y="-9525"/>
            <a:ext cx="693737" cy="911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4700" y="237600"/>
            <a:ext cx="82782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434700" y="1663200"/>
            <a:ext cx="40068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4681800" y="1663200"/>
            <a:ext cx="40257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</p:nvPr>
        </p:nvSpPr>
        <p:spPr>
          <a:xfrm>
            <a:off x="429300" y="4816800"/>
            <a:ext cx="40068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</p:nvPr>
        </p:nvSpPr>
        <p:spPr>
          <a:xfrm>
            <a:off x="4689900" y="4813200"/>
            <a:ext cx="40257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2023/11/10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958850"/>
            <a:ext cx="9144000" cy="49403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auto"/>
            <a:endParaRPr lang="en-US" altLang="zh-CN" sz="760" strike="noStrike" noProof="1">
              <a:sym typeface="+mn-ea"/>
            </a:endParaRPr>
          </a:p>
        </p:txBody>
      </p:sp>
      <p:grpSp>
        <p:nvGrpSpPr>
          <p:cNvPr id="12298" name="组合 5"/>
          <p:cNvGrpSpPr/>
          <p:nvPr/>
        </p:nvGrpSpPr>
        <p:grpSpPr>
          <a:xfrm>
            <a:off x="0" y="73025"/>
            <a:ext cx="465138" cy="857250"/>
            <a:chOff x="1503363" y="2020888"/>
            <a:chExt cx="1557337" cy="2152650"/>
          </a:xfrm>
        </p:grpSpPr>
        <p:sp>
          <p:nvSpPr>
            <p:cNvPr id="11" name="等腰三角形 12"/>
            <p:cNvSpPr>
              <a:spLocks noChangeArrowheads="1"/>
            </p:cNvSpPr>
            <p:nvPr userDrawn="1">
              <p:custDataLst>
                <p:tags r:id="rId7"/>
              </p:custDataLst>
            </p:nvPr>
          </p:nvSpPr>
          <p:spPr bwMode="auto">
            <a:xfrm rot="5400000" flipH="1">
              <a:off x="1219201" y="2305050"/>
              <a:ext cx="2017712" cy="1449387"/>
            </a:xfrm>
            <a:prstGeom prst="triangle">
              <a:avLst>
                <a:gd name="adj" fmla="val 50000"/>
              </a:avLst>
            </a:prstGeom>
            <a:noFill/>
            <a:ln w="12700" cmpd="sng">
              <a:solidFill>
                <a:schemeClr val="accent1">
                  <a:lumMod val="60000"/>
                  <a:lumOff val="40000"/>
                </a:schemeClr>
              </a:solidFill>
              <a:miter lim="800000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 algn="ctr" eaLnBrk="1" fontAlgn="auto" hangingPunct="1"/>
              <a:endParaRPr lang="zh-CN" altLang="en-US" sz="760" strike="noStrike" noProof="1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等腰三角形 13"/>
            <p:cNvSpPr>
              <a:spLocks noChangeArrowheads="1"/>
            </p:cNvSpPr>
            <p:nvPr userDrawn="1">
              <p:custDataLst>
                <p:tags r:id="rId8"/>
              </p:custDataLst>
            </p:nvPr>
          </p:nvSpPr>
          <p:spPr bwMode="auto">
            <a:xfrm rot="5400000" flipH="1">
              <a:off x="2039938" y="3152775"/>
              <a:ext cx="1187450" cy="854075"/>
            </a:xfrm>
            <a:prstGeom prst="triangle">
              <a:avLst>
                <a:gd name="adj" fmla="val 50000"/>
              </a:avLst>
            </a:prstGeom>
            <a:noFill/>
            <a:ln w="12700" cmpd="sng">
              <a:solidFill>
                <a:schemeClr val="accent1">
                  <a:lumMod val="60000"/>
                  <a:lumOff val="40000"/>
                </a:schemeClr>
              </a:solidFill>
              <a:miter lim="800000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 algn="ctr" eaLnBrk="1" fontAlgn="auto" hangingPunct="1"/>
              <a:endParaRPr lang="zh-CN" altLang="en-US" sz="760" strike="noStrike" noProof="1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2301" name="组合 12"/>
          <p:cNvGrpSpPr/>
          <p:nvPr/>
        </p:nvGrpSpPr>
        <p:grpSpPr>
          <a:xfrm flipH="1">
            <a:off x="8678863" y="6002338"/>
            <a:ext cx="465137" cy="855662"/>
            <a:chOff x="1503363" y="2020888"/>
            <a:chExt cx="1557337" cy="2152650"/>
          </a:xfrm>
        </p:grpSpPr>
        <p:sp>
          <p:nvSpPr>
            <p:cNvPr id="14" name="等腰三角形 12"/>
            <p:cNvSpPr>
              <a:spLocks noChangeArrowheads="1"/>
            </p:cNvSpPr>
            <p:nvPr userDrawn="1">
              <p:custDataLst>
                <p:tags r:id="rId5"/>
              </p:custDataLst>
            </p:nvPr>
          </p:nvSpPr>
          <p:spPr bwMode="auto">
            <a:xfrm rot="5400000" flipH="1">
              <a:off x="1219201" y="2305050"/>
              <a:ext cx="2017712" cy="1449387"/>
            </a:xfrm>
            <a:prstGeom prst="triangle">
              <a:avLst>
                <a:gd name="adj" fmla="val 50000"/>
              </a:avLst>
            </a:prstGeom>
            <a:noFill/>
            <a:ln w="12700" cmpd="sng">
              <a:solidFill>
                <a:schemeClr val="accent1">
                  <a:lumMod val="60000"/>
                  <a:lumOff val="40000"/>
                </a:schemeClr>
              </a:solidFill>
              <a:miter lim="800000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 algn="ctr" eaLnBrk="1" fontAlgn="auto" hangingPunct="1"/>
              <a:endParaRPr lang="zh-CN" altLang="en-US" sz="760" strike="noStrike" noProof="1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  <p:sp>
          <p:nvSpPr>
            <p:cNvPr id="15" name="等腰三角形 13"/>
            <p:cNvSpPr>
              <a:spLocks noChangeArrowheads="1"/>
            </p:cNvSpPr>
            <p:nvPr userDrawn="1">
              <p:custDataLst>
                <p:tags r:id="rId6"/>
              </p:custDataLst>
            </p:nvPr>
          </p:nvSpPr>
          <p:spPr bwMode="auto">
            <a:xfrm rot="5400000" flipH="1">
              <a:off x="2039938" y="3152775"/>
              <a:ext cx="1187450" cy="854075"/>
            </a:xfrm>
            <a:prstGeom prst="triangle">
              <a:avLst>
                <a:gd name="adj" fmla="val 50000"/>
              </a:avLst>
            </a:prstGeom>
            <a:noFill/>
            <a:ln w="12700" cmpd="sng">
              <a:solidFill>
                <a:schemeClr val="accent1">
                  <a:lumMod val="60000"/>
                  <a:lumOff val="40000"/>
                </a:schemeClr>
              </a:solidFill>
              <a:miter lim="800000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 algn="ctr" eaLnBrk="1" fontAlgn="auto" hangingPunct="1"/>
              <a:endParaRPr lang="zh-CN" altLang="en-US" sz="760" strike="noStrike" noProof="1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42100" y="1339200"/>
            <a:ext cx="6858000" cy="2386800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41810" y="3862800"/>
            <a:ext cx="6858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2023/11/10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29" Type="http://schemas.openxmlformats.org/officeDocument/2006/relationships/tags" Target="../tags/tag1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28" Type="http://schemas.openxmlformats.org/officeDocument/2006/relationships/tags" Target="../tags/tag10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Relationship Id="rId27" Type="http://schemas.openxmlformats.org/officeDocument/2006/relationships/tags" Target="../tags/tag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openDmnd">
          <a:fgClr>
            <a:srgbClr val="D9D9D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组合 3"/>
          <p:cNvGrpSpPr/>
          <p:nvPr/>
        </p:nvGrpSpPr>
        <p:grpSpPr>
          <a:xfrm flipH="1">
            <a:off x="8386763" y="0"/>
            <a:ext cx="757237" cy="1009650"/>
            <a:chOff x="0" y="0"/>
            <a:chExt cx="3600450" cy="3600450"/>
          </a:xfrm>
        </p:grpSpPr>
        <p:sp>
          <p:nvSpPr>
            <p:cNvPr id="8" name="直角三角形 7"/>
            <p:cNvSpPr/>
            <p:nvPr>
              <p:custDataLst>
                <p:tags r:id="rId28"/>
              </p:custDataLst>
            </p:nvPr>
          </p:nvSpPr>
          <p:spPr>
            <a:xfrm rot="5400000">
              <a:off x="0" y="0"/>
              <a:ext cx="3600450" cy="3600450"/>
            </a:xfrm>
            <a:prstGeom prst="rtTriangle">
              <a:avLst/>
            </a:prstGeom>
            <a:solidFill>
              <a:schemeClr val="accent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760" strike="noStrike" noProof="1"/>
            </a:p>
          </p:txBody>
        </p:sp>
        <p:sp>
          <p:nvSpPr>
            <p:cNvPr id="9" name="直角三角形 8"/>
            <p:cNvSpPr/>
            <p:nvPr>
              <p:custDataLst>
                <p:tags r:id="rId29"/>
              </p:custDataLst>
            </p:nvPr>
          </p:nvSpPr>
          <p:spPr>
            <a:xfrm rot="5400000">
              <a:off x="-4" y="1"/>
              <a:ext cx="2972071" cy="2972068"/>
            </a:xfrm>
            <a:prstGeom prst="rt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760" strike="noStrike" noProof="1"/>
            </a:p>
          </p:txBody>
        </p:sp>
      </p:grpSp>
      <p:grpSp>
        <p:nvGrpSpPr>
          <p:cNvPr id="1029" name="组合 14"/>
          <p:cNvGrpSpPr/>
          <p:nvPr/>
        </p:nvGrpSpPr>
        <p:grpSpPr>
          <a:xfrm flipV="1">
            <a:off x="0" y="5829300"/>
            <a:ext cx="771525" cy="1028700"/>
            <a:chOff x="0" y="0"/>
            <a:chExt cx="3600450" cy="3600450"/>
          </a:xfrm>
        </p:grpSpPr>
        <p:sp>
          <p:nvSpPr>
            <p:cNvPr id="11" name="直角三角形 10"/>
            <p:cNvSpPr/>
            <p:nvPr>
              <p:custDataLst>
                <p:tags r:id="rId26"/>
              </p:custDataLst>
            </p:nvPr>
          </p:nvSpPr>
          <p:spPr>
            <a:xfrm rot="5400000">
              <a:off x="0" y="0"/>
              <a:ext cx="3600450" cy="3600450"/>
            </a:xfrm>
            <a:prstGeom prst="rtTriangle">
              <a:avLst/>
            </a:prstGeom>
            <a:solidFill>
              <a:schemeClr val="accent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760" strike="noStrike" noProof="1"/>
            </a:p>
          </p:txBody>
        </p:sp>
        <p:sp>
          <p:nvSpPr>
            <p:cNvPr id="12" name="直角三角形 11"/>
            <p:cNvSpPr/>
            <p:nvPr>
              <p:custDataLst>
                <p:tags r:id="rId27"/>
              </p:custDataLst>
            </p:nvPr>
          </p:nvSpPr>
          <p:spPr>
            <a:xfrm rot="5400000">
              <a:off x="4" y="0"/>
              <a:ext cx="2972592" cy="2972596"/>
            </a:xfrm>
            <a:prstGeom prst="rt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760" strike="noStrike" noProof="1"/>
            </a:p>
          </p:txBody>
        </p:sp>
      </p:grpSp>
      <p:sp>
        <p:nvSpPr>
          <p:cNvPr id="103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l">
              <a:lnSpc>
                <a:spcPct val="120000"/>
              </a:lnSpc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fld id="{0C34A213-ECA9-4991-B12E-F79314115D02}" type="datetimeFigureOut">
              <a:rPr lang="zh-CN" altLang="en-US" smtClean="0"/>
              <a:pPr/>
              <a:t>2023/11/10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>
              <a:lnSpc>
                <a:spcPct val="120000"/>
              </a:lnSpc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r">
              <a:lnSpc>
                <a:spcPct val="120000"/>
              </a:lnSpc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fld id="{D85AC887-28E0-4CE3-AB06-6494E25E9019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3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76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3416300"/>
            <a:ext cx="4842510" cy="904875"/>
          </a:xfrm>
        </p:spPr>
        <p:txBody>
          <a:bodyPr>
            <a:noAutofit/>
          </a:bodyPr>
          <a:lstStyle/>
          <a:p>
            <a:r>
              <a:rPr lang="zh-CN" altLang="en-US" sz="4400" b="1" dirty="0" smtClean="0"/>
              <a:t>机械设计</a:t>
            </a:r>
            <a:br>
              <a:rPr lang="zh-CN" altLang="en-US" sz="4400" b="1" dirty="0" smtClean="0"/>
            </a:br>
            <a:r>
              <a:rPr lang="zh-CN" altLang="en-US" sz="4400" b="1" dirty="0" smtClean="0"/>
              <a:t>课程设计辅导</a:t>
            </a:r>
            <a:br>
              <a:rPr lang="zh-CN" altLang="en-US" sz="4400" b="1" dirty="0" smtClean="0"/>
            </a:br>
            <a:r>
              <a:rPr lang="zh-CN" altLang="en-US" sz="3200" dirty="0" smtClean="0">
                <a:sym typeface="+mn-ea"/>
              </a:rPr>
              <a:t>结构设计</a:t>
            </a:r>
            <a:endParaRPr lang="zh-CN" altLang="en-US" sz="3200" b="1" dirty="0" smtClean="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 smtClean="0"/>
              <a:t>张海运</a:t>
            </a:r>
            <a:endParaRPr lang="en-US" altLang="zh-CN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3416300"/>
            <a:ext cx="4893945" cy="904875"/>
          </a:xfrm>
        </p:spPr>
        <p:txBody>
          <a:bodyPr>
            <a:noAutofit/>
          </a:bodyPr>
          <a:lstStyle/>
          <a:p>
            <a:pPr algn="ctr"/>
            <a:r>
              <a:rPr lang="zh-CN" altLang="en-US" sz="3600" b="1" dirty="0" smtClean="0"/>
              <a:t>减速器箱体设计</a:t>
            </a:r>
            <a:br>
              <a:rPr lang="zh-CN" altLang="en-US" sz="3600" b="1" dirty="0" smtClean="0"/>
            </a:br>
            <a:r>
              <a:rPr lang="en-US" sz="2000" b="1" dirty="0" smtClean="0"/>
              <a:t>P74</a:t>
            </a:r>
            <a:endParaRPr lang="en-US" altLang="en-US" sz="2000" b="1" dirty="0" smtClean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3200" b="1" dirty="0" smtClean="0"/>
              <a:t>1</a:t>
            </a:r>
            <a:r>
              <a:rPr lang="zh-CN" altLang="en-US" sz="3200" b="1" dirty="0" smtClean="0"/>
              <a:t>、材料</a:t>
            </a:r>
            <a:br>
              <a:rPr lang="zh-CN" altLang="en-US" sz="3200" b="1" dirty="0" smtClean="0"/>
            </a:br>
            <a:r>
              <a:rPr lang="en-US" altLang="en-US" sz="2000" b="1" dirty="0" smtClean="0"/>
              <a:t>P74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 smtClean="0"/>
              <a:t>铸造</a:t>
            </a:r>
            <a:r>
              <a:rPr lang="en-US" sz="2800" dirty="0" smtClean="0"/>
              <a:t>HT150</a:t>
            </a:r>
            <a:r>
              <a:rPr lang="zh-CN" altLang="en-US" sz="2800" dirty="0" smtClean="0"/>
              <a:t>、</a:t>
            </a:r>
            <a:r>
              <a:rPr lang="en-US" sz="2800" dirty="0" smtClean="0"/>
              <a:t>HT200</a:t>
            </a:r>
            <a:r>
              <a:rPr lang="zh-CN" altLang="en-US" sz="2800" dirty="0" smtClean="0"/>
              <a:t>、</a:t>
            </a:r>
            <a:r>
              <a:rPr lang="en-US" sz="2800" dirty="0" smtClean="0"/>
              <a:t>OT500-7</a:t>
            </a:r>
            <a:r>
              <a:rPr lang="zh-CN" altLang="en-US" sz="2800" dirty="0" smtClean="0"/>
              <a:t>、</a:t>
            </a:r>
            <a:r>
              <a:rPr lang="en-US" sz="2800" dirty="0" smtClean="0"/>
              <a:t>ZG270-500</a:t>
            </a:r>
            <a:r>
              <a:rPr lang="zh-CN" altLang="en-US" sz="2800" dirty="0" smtClean="0"/>
              <a:t>、</a:t>
            </a:r>
            <a:r>
              <a:rPr lang="en-US" sz="2800" dirty="0" smtClean="0"/>
              <a:t>ZG310-570</a:t>
            </a:r>
            <a:endParaRPr lang="zh-CN" altLang="en-US" sz="2800" dirty="0" smtClean="0"/>
          </a:p>
          <a:p>
            <a:r>
              <a:rPr lang="zh-CN" altLang="en-US" sz="2800" dirty="0" smtClean="0"/>
              <a:t>焊接：</a:t>
            </a:r>
            <a:r>
              <a:rPr lang="en-US" sz="2800" dirty="0" smtClean="0"/>
              <a:t>Q235</a:t>
            </a:r>
            <a:r>
              <a:rPr lang="zh-CN" altLang="en-US" sz="2800" dirty="0" smtClean="0"/>
              <a:t>、</a:t>
            </a:r>
            <a:r>
              <a:rPr lang="en-US" sz="2800" dirty="0" smtClean="0"/>
              <a:t>Q215</a:t>
            </a:r>
            <a:endParaRPr lang="zh-CN" altLang="en-US" sz="2800" dirty="0" smtClean="0"/>
          </a:p>
          <a:p>
            <a:endParaRPr lang="zh-CN" alt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2</a:t>
            </a:r>
            <a:r>
              <a:rPr lang="zh-CN" altLang="en-US" sz="3200" b="1" dirty="0" smtClean="0"/>
              <a:t>、结构</a:t>
            </a:r>
            <a:br>
              <a:rPr lang="zh-CN" altLang="en-US" sz="3200" b="1" dirty="0" smtClean="0"/>
            </a:br>
            <a:r>
              <a:rPr lang="en-US" sz="2000" b="1" dirty="0" smtClean="0"/>
              <a:t>P74</a:t>
            </a:r>
            <a:endParaRPr lang="en-US" altLang="en-US" sz="2000" b="1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800" dirty="0" smtClean="0"/>
              <a:t>1</a:t>
            </a:r>
            <a:r>
              <a:rPr lang="zh-CN" altLang="en-US" sz="2800" dirty="0" smtClean="0"/>
              <a:t>）剖分式：安装方便、结构简单、刚性差</a:t>
            </a:r>
          </a:p>
          <a:p>
            <a:pPr>
              <a:buNone/>
            </a:pPr>
            <a:r>
              <a:rPr lang="zh-CN" altLang="en-US" sz="2800" dirty="0" smtClean="0"/>
              <a:t>    整体式：尺寸紧凑、刚度大。重量轻</a:t>
            </a:r>
          </a:p>
          <a:p>
            <a:pPr>
              <a:buNone/>
            </a:pPr>
            <a:r>
              <a:rPr lang="en-US" sz="2800" dirty="0" smtClean="0"/>
              <a:t>2</a:t>
            </a:r>
            <a:r>
              <a:rPr lang="zh-CN" altLang="en-US" sz="2800" dirty="0" smtClean="0"/>
              <a:t>）平壁式</a:t>
            </a:r>
            <a:r>
              <a:rPr lang="en-US" altLang="zh-CN" sz="2800" dirty="0" smtClean="0"/>
              <a:t>/</a:t>
            </a:r>
            <a:r>
              <a:rPr lang="zh-CN" altLang="en-US" sz="2800" dirty="0" smtClean="0"/>
              <a:t>凸壁式</a:t>
            </a:r>
          </a:p>
          <a:p>
            <a:pPr>
              <a:buNone/>
            </a:pPr>
            <a:r>
              <a:rPr lang="en-US" sz="2800" dirty="0" smtClean="0"/>
              <a:t>3</a:t>
            </a:r>
            <a:r>
              <a:rPr lang="zh-CN" altLang="en-US" sz="2800" dirty="0" smtClean="0"/>
              <a:t>）可采用</a:t>
            </a:r>
          </a:p>
          <a:p>
            <a:r>
              <a:rPr lang="en-US" sz="2800" dirty="0" smtClean="0"/>
              <a:t>P50</a:t>
            </a:r>
            <a:r>
              <a:rPr lang="zh-CN" altLang="en-US" sz="2800" dirty="0" smtClean="0"/>
              <a:t>图</a:t>
            </a:r>
            <a:r>
              <a:rPr lang="en-US" sz="2800" dirty="0" smtClean="0"/>
              <a:t>4-6</a:t>
            </a:r>
            <a:r>
              <a:rPr lang="zh-CN" altLang="en-US" sz="2800" dirty="0" smtClean="0"/>
              <a:t>两级展开式圆柱齿轮减速器</a:t>
            </a:r>
          </a:p>
          <a:p>
            <a:r>
              <a:rPr lang="en-US" sz="2800" dirty="0" smtClean="0"/>
              <a:t>P77</a:t>
            </a:r>
            <a:r>
              <a:rPr lang="zh-CN" altLang="en-US" sz="2800" dirty="0" smtClean="0"/>
              <a:t>图</a:t>
            </a:r>
            <a:r>
              <a:rPr lang="en-US" sz="2800" dirty="0" smtClean="0"/>
              <a:t>4-50</a:t>
            </a:r>
            <a:r>
              <a:rPr lang="zh-CN" altLang="en-US" sz="2800" dirty="0" smtClean="0"/>
              <a:t>单级圆柱齿轮减速器箱体新型结构</a:t>
            </a:r>
            <a:r>
              <a:rPr lang="en-US" sz="2800" dirty="0" smtClean="0"/>
              <a:t> </a:t>
            </a:r>
            <a:endParaRPr lang="en-US" alt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/>
              <a:t>3</a:t>
            </a:r>
            <a:r>
              <a:rPr lang="zh-CN" altLang="en-US" sz="3200" b="1" dirty="0" smtClean="0"/>
              <a:t>、内腔设计</a:t>
            </a:r>
            <a:br>
              <a:rPr lang="zh-CN" altLang="en-US" sz="3200" b="1" dirty="0" smtClean="0"/>
            </a:br>
            <a:r>
              <a:rPr lang="en-US" sz="2000" b="1" dirty="0" smtClean="0">
                <a:sym typeface="+mn-ea"/>
              </a:rPr>
              <a:t>P74-80 P80</a:t>
            </a:r>
            <a:r>
              <a:rPr lang="zh-CN" altLang="en-US" sz="2000" b="1" dirty="0" smtClean="0">
                <a:sym typeface="+mn-ea"/>
              </a:rPr>
              <a:t>表</a:t>
            </a:r>
            <a:r>
              <a:rPr lang="en-US" sz="2000" b="1" dirty="0" smtClean="0">
                <a:sym typeface="+mn-ea"/>
              </a:rPr>
              <a:t>4-6</a:t>
            </a:r>
            <a:r>
              <a:rPr lang="zh-CN" altLang="en-US" sz="2000" b="1" dirty="0" smtClean="0">
                <a:sym typeface="+mn-ea"/>
              </a:rPr>
              <a:t>减速器箱体主要结构尺寸关系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800" dirty="0" smtClean="0"/>
              <a:t>1</a:t>
            </a:r>
            <a:r>
              <a:rPr lang="zh-CN" altLang="en-US" sz="2800" dirty="0" smtClean="0"/>
              <a:t>）宽度：内侧间隙△</a:t>
            </a:r>
            <a:r>
              <a:rPr lang="en-US" sz="2800" dirty="0" smtClean="0"/>
              <a:t>2</a:t>
            </a:r>
            <a:r>
              <a:rPr lang="zh-CN" altLang="en-US" sz="2800" dirty="0" smtClean="0"/>
              <a:t>、两齿轮中间间隙</a:t>
            </a:r>
            <a:r>
              <a:rPr lang="en-US" sz="2800" dirty="0" smtClean="0"/>
              <a:t>8-15mm</a:t>
            </a:r>
            <a:r>
              <a:rPr lang="zh-CN" altLang="en-US" sz="2800" dirty="0" smtClean="0"/>
              <a:t>，齿轮宽度</a:t>
            </a:r>
            <a:r>
              <a:rPr lang="en-US" sz="2800" dirty="0" smtClean="0"/>
              <a:t>B1/B2</a:t>
            </a:r>
            <a:r>
              <a:rPr lang="zh-CN" altLang="en-US" sz="2800" dirty="0" smtClean="0"/>
              <a:t>，△</a:t>
            </a:r>
            <a:r>
              <a:rPr lang="en-US" sz="2800" dirty="0" smtClean="0"/>
              <a:t>2</a:t>
            </a:r>
            <a:r>
              <a:rPr lang="zh-CN" altLang="en-US" sz="2800" dirty="0" smtClean="0"/>
              <a:t>≥</a:t>
            </a:r>
            <a:r>
              <a:rPr lang="en-US" altLang="zh-CN" sz="2800" dirty="0" smtClean="0"/>
              <a:t>δ</a:t>
            </a:r>
            <a:r>
              <a:rPr lang="zh-CN" altLang="en-US" sz="2800" dirty="0" smtClean="0"/>
              <a:t>，</a:t>
            </a:r>
            <a:r>
              <a:rPr lang="en-US" altLang="zh-CN" sz="2800" dirty="0" smtClean="0"/>
              <a:t>δ≥</a:t>
            </a:r>
            <a:r>
              <a:rPr lang="en-US" sz="2800" dirty="0" smtClean="0"/>
              <a:t>8mm</a:t>
            </a:r>
            <a:endParaRPr lang="zh-CN" altLang="en-US" sz="2800" dirty="0" smtClean="0"/>
          </a:p>
          <a:p>
            <a:pPr>
              <a:buNone/>
            </a:pPr>
            <a:r>
              <a:rPr lang="en-US" sz="2800" dirty="0" smtClean="0"/>
              <a:t>2</a:t>
            </a:r>
            <a:r>
              <a:rPr lang="zh-CN" altLang="en-US" sz="2800" dirty="0" smtClean="0"/>
              <a:t>）长度：齿顶间隙△</a:t>
            </a:r>
            <a:r>
              <a:rPr lang="en-US" sz="2800" dirty="0" smtClean="0"/>
              <a:t>1</a:t>
            </a:r>
            <a:r>
              <a:rPr lang="zh-CN" altLang="en-US" sz="2800" dirty="0" smtClean="0"/>
              <a:t>、高速级小齿轮</a:t>
            </a:r>
            <a:r>
              <a:rPr lang="en-US" sz="2800" dirty="0" smtClean="0"/>
              <a:t>R1</a:t>
            </a:r>
            <a:r>
              <a:rPr lang="zh-CN" altLang="en-US" sz="2800" dirty="0" smtClean="0"/>
              <a:t>、高速级大齿轮</a:t>
            </a:r>
            <a:r>
              <a:rPr lang="en-US" sz="2800" dirty="0" smtClean="0"/>
              <a:t>R2</a:t>
            </a:r>
            <a:r>
              <a:rPr lang="zh-CN" altLang="en-US" sz="2800" dirty="0" smtClean="0"/>
              <a:t>、低速级小齿轮</a:t>
            </a:r>
            <a:r>
              <a:rPr lang="en-US" sz="2800" dirty="0" smtClean="0"/>
              <a:t>R3</a:t>
            </a:r>
            <a:r>
              <a:rPr lang="zh-CN" altLang="en-US" sz="2800" dirty="0" smtClean="0"/>
              <a:t>、大齿轮</a:t>
            </a:r>
            <a:r>
              <a:rPr lang="en-US" sz="2800" dirty="0" smtClean="0"/>
              <a:t>R4</a:t>
            </a:r>
            <a:r>
              <a:rPr lang="zh-CN" altLang="en-US" sz="2800" dirty="0" smtClean="0"/>
              <a:t>，高速级小齿轮自由延伸</a:t>
            </a:r>
            <a:r>
              <a:rPr lang="en-US" sz="2800" dirty="0" smtClean="0"/>
              <a:t>X</a:t>
            </a:r>
            <a:r>
              <a:rPr lang="zh-CN" altLang="en-US" sz="2800" dirty="0" smtClean="0"/>
              <a:t>。中心距为</a:t>
            </a:r>
            <a:r>
              <a:rPr lang="en-US" sz="2800" dirty="0" smtClean="0"/>
              <a:t>a1</a:t>
            </a:r>
            <a:r>
              <a:rPr lang="zh-CN" altLang="en-US" sz="2800" dirty="0" smtClean="0"/>
              <a:t>和</a:t>
            </a:r>
            <a:r>
              <a:rPr lang="en-US" sz="2800" dirty="0" smtClean="0"/>
              <a:t>a2 </a:t>
            </a:r>
            <a:r>
              <a:rPr lang="zh-CN" altLang="en-US" sz="2800" dirty="0" smtClean="0"/>
              <a:t>，△</a:t>
            </a:r>
            <a:r>
              <a:rPr lang="en-US" sz="2800" dirty="0" smtClean="0"/>
              <a:t>1</a:t>
            </a:r>
            <a:r>
              <a:rPr lang="zh-CN" altLang="en-US" sz="2800" dirty="0" smtClean="0"/>
              <a:t>≥</a:t>
            </a:r>
            <a:r>
              <a:rPr lang="en-US" sz="2800" dirty="0" smtClean="0"/>
              <a:t>1.2</a:t>
            </a:r>
            <a:r>
              <a:rPr lang="en-US" altLang="zh-CN" sz="2800" dirty="0" smtClean="0"/>
              <a:t>δ</a:t>
            </a:r>
            <a:r>
              <a:rPr lang="zh-CN" altLang="en-US" sz="2800" dirty="0" smtClean="0"/>
              <a:t>，</a:t>
            </a:r>
            <a:r>
              <a:rPr lang="en-US" altLang="zh-CN" sz="2800" dirty="0" smtClean="0"/>
              <a:t>δ≥</a:t>
            </a:r>
            <a:r>
              <a:rPr lang="en-US" sz="2800" dirty="0" smtClean="0"/>
              <a:t>8mm</a:t>
            </a:r>
            <a:endParaRPr lang="zh-CN" altLang="en-US" sz="2800" dirty="0" smtClean="0"/>
          </a:p>
          <a:p>
            <a:pPr>
              <a:buNone/>
            </a:pPr>
            <a:r>
              <a:rPr lang="en-US" sz="2800" dirty="0" smtClean="0"/>
              <a:t>3</a:t>
            </a:r>
            <a:r>
              <a:rPr lang="zh-CN" altLang="en-US" sz="2800" dirty="0" smtClean="0"/>
              <a:t>）上方</a:t>
            </a:r>
            <a:r>
              <a:rPr lang="en-US" sz="2800" dirty="0" smtClean="0"/>
              <a:t>-</a:t>
            </a:r>
            <a:r>
              <a:rPr lang="zh-CN" altLang="en-US" sz="2800" dirty="0" smtClean="0"/>
              <a:t>中心高尺寸</a:t>
            </a:r>
          </a:p>
          <a:p>
            <a:pPr>
              <a:buNone/>
            </a:pPr>
            <a:r>
              <a:rPr lang="en-US" sz="2800" dirty="0" smtClean="0"/>
              <a:t>4</a:t>
            </a:r>
            <a:r>
              <a:rPr lang="zh-CN" altLang="en-US" sz="2800" dirty="0" smtClean="0"/>
              <a:t>）下方</a:t>
            </a:r>
            <a:r>
              <a:rPr lang="en-US" sz="2800" dirty="0" smtClean="0"/>
              <a:t>-</a:t>
            </a:r>
            <a:r>
              <a:rPr lang="zh-CN" altLang="en-US" sz="2800" dirty="0" smtClean="0"/>
              <a:t>中心高尺寸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4</a:t>
            </a:r>
            <a:r>
              <a:rPr lang="zh-CN" altLang="en-US" sz="3200" b="1" dirty="0" smtClean="0"/>
              <a:t>、壁厚与外形设计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 smtClean="0"/>
              <a:t>箱体外形在内壁的基础上增加壁厚。</a:t>
            </a:r>
          </a:p>
          <a:p>
            <a:r>
              <a:rPr lang="zh-CN" altLang="en-US" sz="2800" dirty="0" smtClean="0"/>
              <a:t>上下箱体的壁厚通常上薄下厚，也可以相同厚度。数据表</a:t>
            </a:r>
            <a:r>
              <a:rPr lang="en-US" sz="2800" dirty="0" smtClean="0"/>
              <a:t>4-6</a:t>
            </a:r>
            <a:r>
              <a:rPr lang="zh-CN" altLang="en-US" sz="2800" dirty="0" smtClean="0"/>
              <a:t>减速器箱体主要结构尺寸关系。</a:t>
            </a:r>
          </a:p>
          <a:p>
            <a:endParaRPr lang="zh-CN" alt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5</a:t>
            </a:r>
            <a:r>
              <a:rPr lang="zh-CN" altLang="en-US" sz="3200" b="1" dirty="0" smtClean="0"/>
              <a:t>、轴承座</a:t>
            </a:r>
            <a:br>
              <a:rPr lang="zh-CN" altLang="en-US" sz="3200" b="1" dirty="0" smtClean="0"/>
            </a:br>
            <a:endParaRPr lang="zh-CN" altLang="en-US" sz="3200" b="1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 smtClean="0"/>
              <a:t>相当于一个圆筒，垂直与侧面箱体相交。</a:t>
            </a:r>
          </a:p>
          <a:p>
            <a:r>
              <a:rPr lang="zh-CN" altLang="en-US" sz="2800" dirty="0" smtClean="0"/>
              <a:t>座孔内径：为轴承外径。</a:t>
            </a:r>
          </a:p>
          <a:p>
            <a:r>
              <a:rPr lang="zh-CN" altLang="en-US" sz="2800" dirty="0" smtClean="0"/>
              <a:t>座孔外径：与连接的螺栓直径有关，</a:t>
            </a:r>
          </a:p>
          <a:p>
            <a:r>
              <a:rPr lang="zh-CN" altLang="en-US" sz="2800" dirty="0" smtClean="0"/>
              <a:t>座孔伸出长度：伸出连接凸台边缘</a:t>
            </a:r>
            <a:r>
              <a:rPr lang="en-US" sz="2800" dirty="0" smtClean="0"/>
              <a:t>2mm</a:t>
            </a:r>
            <a:r>
              <a:rPr lang="zh-CN" altLang="en-US" sz="2800" dirty="0" smtClean="0"/>
              <a:t>以上。（此表面要加工，与凸缘边缘的非加工面分开）</a:t>
            </a:r>
          </a:p>
          <a:p>
            <a:endParaRPr lang="zh-CN" alt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 smtClean="0"/>
              <a:t>6</a:t>
            </a:r>
            <a:r>
              <a:rPr lang="zh-CN" altLang="en-US" sz="3600" b="1" dirty="0" smtClean="0"/>
              <a:t>、接合面凸台设计</a:t>
            </a:r>
            <a:r>
              <a:rPr lang="en-US" altLang="zh-CN" b="1" dirty="0" smtClean="0"/>
              <a:t/>
            </a:r>
            <a:br>
              <a:rPr lang="en-US" altLang="zh-CN" b="1" dirty="0" smtClean="0"/>
            </a:br>
            <a:r>
              <a:rPr lang="en-US" sz="2200" b="1" dirty="0" smtClean="0"/>
              <a:t>P75</a:t>
            </a:r>
            <a:r>
              <a:rPr lang="zh-CN" altLang="en-US" sz="2200" b="1" dirty="0" smtClean="0"/>
              <a:t>图</a:t>
            </a:r>
            <a:r>
              <a:rPr lang="en-US" sz="2200" b="1" dirty="0" smtClean="0"/>
              <a:t>4-44</a:t>
            </a:r>
            <a:r>
              <a:rPr lang="zh-CN" altLang="en-US" sz="2200" b="1" dirty="0" smtClean="0"/>
              <a:t>轴承座连接刚性对比 图</a:t>
            </a:r>
            <a:r>
              <a:rPr lang="en-US" sz="2200" b="1" dirty="0" smtClean="0"/>
              <a:t>4-45</a:t>
            </a:r>
            <a:r>
              <a:rPr lang="zh-CN" altLang="en-US" sz="2200" b="1" dirty="0" smtClean="0"/>
              <a:t>轴承座凸台的结构尺寸图</a:t>
            </a:r>
            <a:r>
              <a:rPr lang="en-US" sz="2200" b="1" dirty="0" smtClean="0"/>
              <a:t>4-46</a:t>
            </a:r>
            <a:endParaRPr lang="en-US" altLang="en-US" sz="2200" b="1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400" dirty="0" smtClean="0"/>
              <a:t>相邻轴承座间凸台结构</a:t>
            </a:r>
          </a:p>
          <a:p>
            <a:r>
              <a:rPr lang="zh-CN" altLang="en-US" sz="2400" dirty="0" smtClean="0"/>
              <a:t>前后距箱体间距（距箱体外壁）：大于扳手空间</a:t>
            </a:r>
            <a:r>
              <a:rPr lang="en-US" sz="2400" dirty="0" smtClean="0"/>
              <a:t>c1</a:t>
            </a:r>
            <a:endParaRPr lang="zh-CN" altLang="en-US" sz="2400" dirty="0" smtClean="0"/>
          </a:p>
          <a:p>
            <a:r>
              <a:rPr lang="zh-CN" altLang="en-US" sz="2400" dirty="0" smtClean="0"/>
              <a:t>左右与轴承座关系：与座孔外圆相切</a:t>
            </a:r>
            <a:r>
              <a:rPr lang="en-US" sz="2400" dirty="0" smtClean="0"/>
              <a:t>S=D2</a:t>
            </a:r>
            <a:r>
              <a:rPr lang="zh-CN" altLang="en-US" sz="2400" dirty="0" smtClean="0"/>
              <a:t>。作为连接螺孔的中心。</a:t>
            </a:r>
          </a:p>
          <a:p>
            <a:r>
              <a:rPr lang="zh-CN" altLang="en-US" sz="2400" dirty="0" smtClean="0"/>
              <a:t>高度</a:t>
            </a:r>
            <a:r>
              <a:rPr lang="en-US" sz="2400" dirty="0" smtClean="0"/>
              <a:t>h</a:t>
            </a:r>
            <a:r>
              <a:rPr lang="zh-CN" altLang="en-US" sz="2400" dirty="0" smtClean="0"/>
              <a:t>：前且与箱体侧面、左右与轴承座也外圆表面大于扳手空间</a:t>
            </a:r>
            <a:r>
              <a:rPr lang="en-US" sz="2400" dirty="0" smtClean="0"/>
              <a:t>c1.</a:t>
            </a:r>
            <a:endParaRPr lang="zh-CN" altLang="en-US" sz="2400" dirty="0" smtClean="0"/>
          </a:p>
          <a:p>
            <a:r>
              <a:rPr lang="zh-CN" altLang="en-US" sz="2400" dirty="0" smtClean="0"/>
              <a:t>相邻凸台间不应有狭窄的缝隙。</a:t>
            </a:r>
          </a:p>
          <a:p>
            <a:r>
              <a:rPr lang="zh-CN" altLang="en-US" sz="2400" dirty="0" smtClean="0"/>
              <a:t>其余前后等周边凸缘的厚度为相边处壁厚的</a:t>
            </a:r>
            <a:r>
              <a:rPr lang="en-US" sz="2400" dirty="0" smtClean="0"/>
              <a:t>1.5</a:t>
            </a:r>
            <a:r>
              <a:rPr lang="zh-CN" altLang="en-US" sz="2400" dirty="0" smtClean="0"/>
              <a:t>倍。</a:t>
            </a:r>
          </a:p>
          <a:p>
            <a:pPr marL="0" indent="0">
              <a:buNone/>
            </a:pPr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7</a:t>
            </a:r>
            <a:r>
              <a:rPr lang="zh-CN" altLang="en-US" sz="3200" b="1" dirty="0" smtClean="0"/>
              <a:t>、座面凸缘设计</a:t>
            </a:r>
            <a:r>
              <a:rPr lang="en-US" altLang="zh-CN" b="1" dirty="0" smtClean="0"/>
              <a:t/>
            </a:r>
            <a:br>
              <a:rPr lang="en-US" altLang="zh-CN" b="1" dirty="0" smtClean="0"/>
            </a:br>
            <a:r>
              <a:rPr lang="en-US" sz="2000" b="1" dirty="0" smtClean="0"/>
              <a:t>P76</a:t>
            </a:r>
            <a:r>
              <a:rPr lang="zh-CN" altLang="en-US" sz="2000" b="1" dirty="0" smtClean="0"/>
              <a:t>图</a:t>
            </a:r>
            <a:r>
              <a:rPr lang="en-US" sz="2000" b="1" dirty="0" smtClean="0"/>
              <a:t>4-47</a:t>
            </a:r>
            <a:r>
              <a:rPr lang="zh-CN" altLang="en-US" sz="2000" b="1" dirty="0" smtClean="0"/>
              <a:t>箱座底面结构 图</a:t>
            </a:r>
            <a:r>
              <a:rPr lang="en-US" sz="2000" b="1" dirty="0" smtClean="0"/>
              <a:t>4-48</a:t>
            </a:r>
            <a:r>
              <a:rPr lang="zh-CN" altLang="en-US" sz="2000" b="1" dirty="0" smtClean="0"/>
              <a:t>箱座底面凸缘结构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 smtClean="0"/>
              <a:t>厚度：连接处壁厚的</a:t>
            </a:r>
            <a:r>
              <a:rPr lang="en-US" sz="2800" dirty="0" smtClean="0"/>
              <a:t>2.5</a:t>
            </a:r>
            <a:r>
              <a:rPr lang="zh-CN" altLang="en-US" sz="2800" dirty="0" smtClean="0"/>
              <a:t>倍或连接孔径的</a:t>
            </a:r>
            <a:r>
              <a:rPr lang="en-US" sz="2800" dirty="0" smtClean="0"/>
              <a:t>1.5~2</a:t>
            </a:r>
            <a:r>
              <a:rPr lang="zh-CN" altLang="en-US" sz="2800" dirty="0" smtClean="0"/>
              <a:t>倍。</a:t>
            </a:r>
          </a:p>
          <a:p>
            <a:r>
              <a:rPr lang="zh-CN" altLang="en-US" sz="2800" dirty="0" smtClean="0"/>
              <a:t>宽度：按连接螺栓直径确定的扳手空间要求确定。</a:t>
            </a:r>
          </a:p>
          <a:p>
            <a:r>
              <a:rPr lang="zh-CN" altLang="en-US" sz="2800" dirty="0" smtClean="0"/>
              <a:t>结构：周边凸出、中间凹进，减小加工量、保证接触平稳。</a:t>
            </a:r>
          </a:p>
          <a:p>
            <a:endParaRPr lang="zh-CN" alt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 smtClean="0"/>
              <a:t>8</a:t>
            </a:r>
            <a:r>
              <a:rPr lang="zh-CN" altLang="en-US" sz="3200" b="1" dirty="0" smtClean="0"/>
              <a:t>、肋板设计</a:t>
            </a:r>
            <a:r>
              <a:rPr lang="zh-CN" altLang="en-US" sz="4800" b="1" dirty="0" smtClean="0"/>
              <a:t/>
            </a:r>
            <a:br>
              <a:rPr lang="zh-CN" altLang="en-US" sz="4800" b="1" dirty="0" smtClean="0"/>
            </a:br>
            <a:r>
              <a:rPr lang="en-US" sz="2000" b="1" dirty="0" smtClean="0"/>
              <a:t>P76 </a:t>
            </a:r>
            <a:endParaRPr lang="en-US" altLang="en-US" sz="2000" b="1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 smtClean="0"/>
              <a:t>增加轴承座的支承刚性。</a:t>
            </a:r>
          </a:p>
          <a:p>
            <a:r>
              <a:rPr lang="zh-CN" altLang="en-US" sz="2800" dirty="0" smtClean="0"/>
              <a:t>厚度：壁厚的</a:t>
            </a:r>
            <a:r>
              <a:rPr lang="en-US" sz="2800" dirty="0" smtClean="0"/>
              <a:t>0.85.</a:t>
            </a:r>
            <a:r>
              <a:rPr lang="zh-CN" altLang="en-US" sz="2800" dirty="0" smtClean="0"/>
              <a:t>。</a:t>
            </a:r>
          </a:p>
          <a:p>
            <a:r>
              <a:rPr lang="zh-CN" altLang="en-US" sz="2800" dirty="0" smtClean="0"/>
              <a:t>宽度：略小于凸台（缘）面宽度。</a:t>
            </a:r>
          </a:p>
          <a:p>
            <a:r>
              <a:rPr lang="zh-CN" altLang="en-US" sz="2800" dirty="0" smtClean="0"/>
              <a:t>高度：连接于上下凸台或斜支于侧壁大于宽度的</a:t>
            </a:r>
            <a:r>
              <a:rPr lang="en-US" sz="2800" dirty="0" smtClean="0"/>
              <a:t>2</a:t>
            </a:r>
            <a:r>
              <a:rPr lang="zh-CN" altLang="en-US" sz="2800" dirty="0" smtClean="0"/>
              <a:t>倍。</a:t>
            </a:r>
          </a:p>
          <a:p>
            <a:endParaRPr lang="zh-CN" alt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9</a:t>
            </a:r>
            <a:r>
              <a:rPr lang="zh-CN" altLang="en-US" sz="3200" b="1" dirty="0" smtClean="0"/>
              <a:t>、输油沟设计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sz="2000" b="1" dirty="0" smtClean="0"/>
              <a:t>P76</a:t>
            </a:r>
            <a:r>
              <a:rPr lang="zh-CN" altLang="en-US" sz="2000" b="1" dirty="0" smtClean="0"/>
              <a:t>图</a:t>
            </a:r>
            <a:r>
              <a:rPr lang="en-US" sz="2000" b="1" dirty="0" smtClean="0"/>
              <a:t>4-4</a:t>
            </a:r>
            <a:r>
              <a:rPr lang="zh-CN" altLang="en-US" sz="2000" b="1" dirty="0" smtClean="0"/>
              <a:t>输油沟与回油沟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400" dirty="0" smtClean="0"/>
              <a:t>沟槽尺寸：宽度</a:t>
            </a:r>
            <a:r>
              <a:rPr lang="en-US" sz="2400" dirty="0" smtClean="0"/>
              <a:t>6~10mm</a:t>
            </a:r>
            <a:r>
              <a:rPr lang="zh-CN" altLang="en-US" sz="2400" dirty="0" smtClean="0"/>
              <a:t>、深度</a:t>
            </a:r>
            <a:r>
              <a:rPr lang="en-US" sz="2400" dirty="0" smtClean="0"/>
              <a:t>3~6mm</a:t>
            </a:r>
            <a:r>
              <a:rPr lang="zh-CN" altLang="en-US" sz="2400" dirty="0" smtClean="0"/>
              <a:t>。</a:t>
            </a:r>
          </a:p>
          <a:p>
            <a:r>
              <a:rPr lang="zh-CN" altLang="en-US" sz="2400" dirty="0" smtClean="0"/>
              <a:t>离内壁尺寸：</a:t>
            </a:r>
            <a:r>
              <a:rPr lang="en-US" sz="2400" dirty="0" smtClean="0"/>
              <a:t>5~8mm</a:t>
            </a:r>
            <a:r>
              <a:rPr lang="zh-CN" altLang="en-US" sz="2400" dirty="0" smtClean="0"/>
              <a:t>（铸造）、</a:t>
            </a:r>
            <a:r>
              <a:rPr lang="en-US" sz="2400" dirty="0" smtClean="0"/>
              <a:t>3~5mm</a:t>
            </a:r>
            <a:r>
              <a:rPr lang="zh-CN" altLang="en-US" sz="2400" dirty="0" smtClean="0"/>
              <a:t>（机加工）。</a:t>
            </a:r>
          </a:p>
          <a:p>
            <a:r>
              <a:rPr lang="zh-CN" altLang="en-US" sz="2400" dirty="0" smtClean="0"/>
              <a:t>输油沟位置：在两轴承座之间，箱座结合面上。</a:t>
            </a:r>
            <a:r>
              <a:rPr lang="en-US" sz="2400" dirty="0" smtClean="0"/>
              <a:t>P50</a:t>
            </a:r>
            <a:r>
              <a:rPr lang="zh-CN" altLang="en-US" sz="2400" dirty="0" smtClean="0"/>
              <a:t>图</a:t>
            </a:r>
            <a:r>
              <a:rPr lang="en-US" sz="2400" dirty="0" smtClean="0"/>
              <a:t>4-6</a:t>
            </a:r>
            <a:endParaRPr lang="zh-CN" altLang="en-US" sz="2400" dirty="0" smtClean="0"/>
          </a:p>
          <a:p>
            <a:r>
              <a:rPr lang="zh-CN" altLang="en-US" sz="2400" dirty="0" smtClean="0"/>
              <a:t>导油倒棱：箱盖上、输油对应处、位置至输油槽的中线位置。</a:t>
            </a:r>
          </a:p>
          <a:p>
            <a:r>
              <a:rPr lang="zh-CN" altLang="en-US" sz="2400" dirty="0" smtClean="0"/>
              <a:t>输油沟铸造与加工（圆盘铣刀或圆柱铣刀）的形状轨迹不同。</a:t>
            </a:r>
          </a:p>
          <a:p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10</a:t>
            </a:r>
            <a:r>
              <a:rPr lang="zh-CN" altLang="en-US" sz="3200" b="1" dirty="0" smtClean="0"/>
              <a:t>、连接螺栓间孔距</a:t>
            </a:r>
            <a:r>
              <a:rPr lang="zh-CN" altLang="en-US" sz="4800" b="1" dirty="0" smtClean="0"/>
              <a:t/>
            </a:r>
            <a:br>
              <a:rPr lang="zh-CN" altLang="en-US" sz="4800" b="1" dirty="0" smtClean="0"/>
            </a:br>
            <a:r>
              <a:rPr lang="en-US" sz="2000" b="1" dirty="0" smtClean="0"/>
              <a:t>P76</a:t>
            </a:r>
            <a:endParaRPr lang="en-US" altLang="en-US" sz="2000" b="1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 smtClean="0"/>
              <a:t>中小型：</a:t>
            </a:r>
            <a:r>
              <a:rPr lang="en-US" sz="2800" dirty="0" smtClean="0"/>
              <a:t>100~150mm</a:t>
            </a:r>
            <a:endParaRPr lang="zh-CN" altLang="en-US" sz="2800" dirty="0" smtClean="0"/>
          </a:p>
          <a:p>
            <a:r>
              <a:rPr lang="zh-CN" altLang="en-US" sz="2800" dirty="0" smtClean="0"/>
              <a:t>大型：</a:t>
            </a:r>
            <a:r>
              <a:rPr lang="en-US" sz="2800" dirty="0" smtClean="0"/>
              <a:t>150~200mm</a:t>
            </a:r>
            <a:endParaRPr lang="zh-CN" altLang="en-US" sz="2800" dirty="0" smtClean="0"/>
          </a:p>
          <a:p>
            <a:endParaRPr lang="zh-CN" alt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11</a:t>
            </a:r>
            <a:r>
              <a:rPr lang="zh-CN" altLang="en-US" sz="3200" b="1" dirty="0" smtClean="0"/>
              <a:t>、工艺性</a:t>
            </a:r>
            <a:r>
              <a:rPr lang="zh-CN" altLang="en-US" sz="4800" b="1" dirty="0" smtClean="0"/>
              <a:t/>
            </a:r>
            <a:br>
              <a:rPr lang="zh-CN" altLang="en-US" sz="4800" b="1" dirty="0" smtClean="0"/>
            </a:br>
            <a:r>
              <a:rPr lang="en-US" sz="2000" b="1" dirty="0" smtClean="0"/>
              <a:t>P77</a:t>
            </a:r>
            <a:endParaRPr lang="en-US" altLang="en-US" sz="2000" b="1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 smtClean="0"/>
              <a:t>拔模斜度</a:t>
            </a:r>
            <a:r>
              <a:rPr lang="en-US" sz="2800" dirty="0" smtClean="0"/>
              <a:t>1</a:t>
            </a:r>
            <a:r>
              <a:rPr lang="zh-CN" altLang="en-US" sz="2800" dirty="0" smtClean="0"/>
              <a:t>：</a:t>
            </a:r>
            <a:r>
              <a:rPr lang="en-US" sz="2800" dirty="0" smtClean="0"/>
              <a:t>10~1</a:t>
            </a:r>
            <a:r>
              <a:rPr lang="zh-CN" altLang="en-US" sz="2800" dirty="0" smtClean="0"/>
              <a:t>：</a:t>
            </a:r>
            <a:r>
              <a:rPr lang="en-US" sz="2800" dirty="0" smtClean="0"/>
              <a:t>20</a:t>
            </a:r>
            <a:endParaRPr lang="zh-CN" altLang="en-US" sz="2800" dirty="0" smtClean="0"/>
          </a:p>
          <a:p>
            <a:r>
              <a:rPr lang="zh-CN" altLang="en-US" sz="2800" dirty="0" smtClean="0"/>
              <a:t>据此：</a:t>
            </a:r>
          </a:p>
          <a:p>
            <a:r>
              <a:rPr lang="zh-CN" altLang="en-US" sz="2800" dirty="0" smtClean="0"/>
              <a:t>内外壁四周有拔模斜度</a:t>
            </a:r>
          </a:p>
          <a:p>
            <a:r>
              <a:rPr lang="zh-CN" altLang="en-US" sz="2800" dirty="0" smtClean="0"/>
              <a:t>凸台、轴承座增加拔模斜度后。圆柱体变成圆台体。</a:t>
            </a:r>
          </a:p>
          <a:p>
            <a:r>
              <a:rPr lang="zh-CN" altLang="en-US" sz="2800" dirty="0" smtClean="0"/>
              <a:t>凸台的圆台上小下大，下方与边界相切。设计尺寸的</a:t>
            </a:r>
            <a:r>
              <a:rPr lang="en-US" sz="2800" dirty="0" smtClean="0"/>
              <a:t>c1+c2+</a:t>
            </a:r>
            <a:r>
              <a:rPr lang="zh-CN" altLang="en-US" sz="2800" dirty="0" smtClean="0"/>
              <a:t>（</a:t>
            </a:r>
            <a:r>
              <a:rPr lang="en-US" sz="2800" dirty="0" smtClean="0"/>
              <a:t>5-8mm</a:t>
            </a:r>
            <a:r>
              <a:rPr lang="zh-CN" altLang="en-US" sz="2800" dirty="0" smtClean="0"/>
              <a:t>）</a:t>
            </a:r>
          </a:p>
          <a:p>
            <a:endParaRPr lang="zh-CN" alt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12</a:t>
            </a:r>
            <a:r>
              <a:rPr lang="zh-CN" altLang="en-US" sz="3200" b="1" dirty="0" smtClean="0"/>
              <a:t>、油标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sz="2000" dirty="0" smtClean="0"/>
              <a:t>P83</a:t>
            </a:r>
            <a:r>
              <a:rPr lang="zh-CN" altLang="en-US" sz="2000" dirty="0" smtClean="0"/>
              <a:t>表</a:t>
            </a:r>
            <a:r>
              <a:rPr lang="en-US" sz="2000" dirty="0" smtClean="0"/>
              <a:t>4-10~12</a:t>
            </a:r>
            <a:endParaRPr lang="en-US" altLang="en-US" sz="2000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 smtClean="0"/>
              <a:t>位置：低速级侧，不停车检查加装油标尺套。</a:t>
            </a:r>
          </a:p>
          <a:p>
            <a:endParaRPr lang="zh-CN" alt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13</a:t>
            </a:r>
            <a:r>
              <a:rPr lang="zh-CN" altLang="en-US" sz="3200" b="1" dirty="0" smtClean="0"/>
              <a:t>、排油螺塞</a:t>
            </a:r>
            <a:r>
              <a:rPr lang="zh-CN" altLang="en-US" b="1" dirty="0" smtClean="0"/>
              <a:t/>
            </a:r>
            <a:br>
              <a:rPr lang="zh-CN" altLang="en-US" b="1" dirty="0" smtClean="0"/>
            </a:br>
            <a:r>
              <a:rPr lang="en-US" sz="2000" b="1" dirty="0" smtClean="0"/>
              <a:t>P85</a:t>
            </a:r>
            <a:r>
              <a:rPr lang="zh-CN" altLang="en-US" sz="2000" b="1" dirty="0" smtClean="0"/>
              <a:t>表</a:t>
            </a:r>
            <a:r>
              <a:rPr lang="en-US" sz="2000" b="1" dirty="0" smtClean="0"/>
              <a:t>4-13</a:t>
            </a:r>
            <a:endParaRPr lang="en-US" altLang="en-US" sz="2000" b="1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 smtClean="0"/>
              <a:t>位置低于底面</a:t>
            </a:r>
            <a:r>
              <a:rPr lang="en-US" sz="2800" dirty="0" smtClean="0"/>
              <a:t>3mm</a:t>
            </a:r>
            <a:r>
              <a:rPr lang="zh-CN" altLang="en-US" sz="2800" dirty="0" smtClean="0"/>
              <a:t>左右，在箱体底面铸成凹坑</a:t>
            </a:r>
          </a:p>
          <a:p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14</a:t>
            </a:r>
            <a:r>
              <a:rPr lang="zh-CN" altLang="en-US" sz="3200" b="1" dirty="0" smtClean="0"/>
              <a:t>、检查孔</a:t>
            </a:r>
            <a:r>
              <a:rPr lang="zh-CN" altLang="en-US" sz="5400" b="1" dirty="0" smtClean="0"/>
              <a:t/>
            </a:r>
            <a:br>
              <a:rPr lang="zh-CN" altLang="en-US" sz="5400" b="1" dirty="0" smtClean="0"/>
            </a:br>
            <a:r>
              <a:rPr lang="en-US" sz="2000" b="1" dirty="0" smtClean="0">
                <a:sym typeface="+mn-ea"/>
              </a:rPr>
              <a:t>P85</a:t>
            </a:r>
            <a:r>
              <a:rPr lang="zh-CN" altLang="en-US" sz="2000" b="1" dirty="0" smtClean="0">
                <a:sym typeface="+mn-ea"/>
              </a:rPr>
              <a:t>表</a:t>
            </a:r>
            <a:r>
              <a:rPr lang="en-US" sz="2000" b="1" dirty="0" smtClean="0">
                <a:sym typeface="+mn-ea"/>
              </a:rPr>
              <a:t>4-14</a:t>
            </a:r>
            <a:endParaRPr lang="en-US" altLang="en-US" sz="2000" b="1" dirty="0" smtClean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 smtClean="0"/>
              <a:t>位置：箱盖上方</a:t>
            </a:r>
          </a:p>
          <a:p>
            <a:endParaRPr lang="zh-CN" alt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15</a:t>
            </a:r>
            <a:r>
              <a:rPr lang="zh-CN" altLang="en-US" sz="3200" b="1" dirty="0" smtClean="0"/>
              <a:t>、通气器</a:t>
            </a:r>
            <a:r>
              <a:rPr lang="zh-CN" altLang="en-US" b="1" dirty="0" smtClean="0"/>
              <a:t/>
            </a:r>
            <a:br>
              <a:rPr lang="zh-CN" altLang="en-US" b="1" dirty="0" smtClean="0"/>
            </a:br>
            <a:r>
              <a:rPr lang="en-US" sz="2000" b="1" dirty="0" smtClean="0"/>
              <a:t>P86</a:t>
            </a:r>
            <a:r>
              <a:rPr lang="zh-CN" altLang="en-US" sz="2000" b="1" dirty="0" smtClean="0"/>
              <a:t>表</a:t>
            </a:r>
            <a:r>
              <a:rPr lang="en-US" sz="2000" b="1" dirty="0" smtClean="0"/>
              <a:t>4-15</a:t>
            </a:r>
            <a:endParaRPr lang="zh-CN" altLang="en-US" sz="20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 smtClean="0"/>
              <a:t>位置：箱盖上方或检查孔盖板上。</a:t>
            </a:r>
          </a:p>
          <a:p>
            <a:endParaRPr lang="zh-CN" alt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16</a:t>
            </a:r>
            <a:r>
              <a:rPr lang="zh-CN" altLang="en-US" sz="3200" b="1" dirty="0" smtClean="0"/>
              <a:t>、起吊装置</a:t>
            </a:r>
            <a:r>
              <a:rPr lang="zh-CN" altLang="en-US" sz="4800" b="1" dirty="0" smtClean="0"/>
              <a:t/>
            </a:r>
            <a:br>
              <a:rPr lang="zh-CN" altLang="en-US" sz="4800" b="1" dirty="0" smtClean="0"/>
            </a:br>
            <a:r>
              <a:rPr lang="en-US" sz="2000" b="1" dirty="0" smtClean="0"/>
              <a:t>P87</a:t>
            </a:r>
            <a:endParaRPr lang="en-US" altLang="en-US" sz="2000" b="1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 smtClean="0"/>
              <a:t>吊环螺钉：表</a:t>
            </a:r>
            <a:r>
              <a:rPr lang="en-US" sz="2800" dirty="0" smtClean="0"/>
              <a:t>8-57</a:t>
            </a:r>
            <a:endParaRPr lang="zh-CN" altLang="en-US" sz="2800" dirty="0" smtClean="0"/>
          </a:p>
          <a:p>
            <a:r>
              <a:rPr lang="zh-CN" altLang="en-US" sz="2800" dirty="0" smtClean="0"/>
              <a:t>吊耳、吊耳环、吊钩：</a:t>
            </a:r>
            <a:r>
              <a:rPr lang="en-US" sz="2800" dirty="0" smtClean="0"/>
              <a:t>P87</a:t>
            </a:r>
            <a:r>
              <a:rPr lang="zh-CN" altLang="en-US" sz="2800" dirty="0" smtClean="0"/>
              <a:t>表</a:t>
            </a:r>
            <a:r>
              <a:rPr lang="en-US" sz="2800" dirty="0" smtClean="0"/>
              <a:t>4-16</a:t>
            </a:r>
            <a:endParaRPr lang="zh-CN" altLang="en-US" sz="2800" dirty="0" smtClean="0"/>
          </a:p>
          <a:p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17</a:t>
            </a:r>
            <a:r>
              <a:rPr lang="zh-CN" altLang="en-US" sz="3200" b="1" dirty="0" smtClean="0"/>
              <a:t>、定位销</a:t>
            </a:r>
            <a:r>
              <a:rPr lang="zh-CN" altLang="en-US" sz="4800" b="1" dirty="0" smtClean="0"/>
              <a:t/>
            </a:r>
            <a:br>
              <a:rPr lang="zh-CN" altLang="en-US" sz="4800" b="1" dirty="0" smtClean="0"/>
            </a:br>
            <a:r>
              <a:rPr lang="en-US" sz="2000" b="1" dirty="0" smtClean="0"/>
              <a:t>P87  </a:t>
            </a:r>
            <a:r>
              <a:rPr lang="zh-CN" altLang="en-US" sz="2000" b="1" dirty="0" smtClean="0"/>
              <a:t>表</a:t>
            </a:r>
            <a:r>
              <a:rPr lang="en-US" sz="2000" b="1" dirty="0" smtClean="0"/>
              <a:t>8-67</a:t>
            </a:r>
            <a:endParaRPr lang="en-US" altLang="en-US" sz="2000" b="1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 smtClean="0"/>
              <a:t>圆柱销：直径为箱体、箱盖连接螺栓直径的（</a:t>
            </a:r>
            <a:r>
              <a:rPr lang="en-US" sz="2800" dirty="0" smtClean="0"/>
              <a:t>0.7~0.8</a:t>
            </a:r>
            <a:r>
              <a:rPr lang="zh-CN" altLang="en-US" sz="2800" dirty="0" smtClean="0"/>
              <a:t>）</a:t>
            </a:r>
          </a:p>
          <a:p>
            <a:r>
              <a:rPr lang="zh-CN" altLang="en-US" sz="2800" dirty="0" smtClean="0"/>
              <a:t>数量：</a:t>
            </a:r>
            <a:r>
              <a:rPr lang="en-US" sz="2800" dirty="0" smtClean="0"/>
              <a:t>2</a:t>
            </a:r>
            <a:r>
              <a:rPr lang="zh-CN" altLang="en-US" sz="2800" dirty="0" smtClean="0"/>
              <a:t>个、对角</a:t>
            </a:r>
          </a:p>
          <a:p>
            <a:r>
              <a:rPr lang="zh-CN" altLang="en-US" sz="2800" dirty="0" smtClean="0"/>
              <a:t>长度：大于连接凸缘的总厚度，</a:t>
            </a:r>
          </a:p>
          <a:p>
            <a:r>
              <a:rPr lang="zh-CN" altLang="en-US" sz="2800" dirty="0" smtClean="0"/>
              <a:t>注意：两者配钻、配铰，且钻通。</a:t>
            </a:r>
          </a:p>
          <a:p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555" dirty="0" smtClean="0"/>
              <a:t>18</a:t>
            </a:r>
            <a:r>
              <a:rPr lang="zh-CN" altLang="en-US" sz="3555" dirty="0" smtClean="0"/>
              <a:t>、起盖螺钉</a:t>
            </a:r>
            <a:r>
              <a:rPr lang="zh-CN" altLang="en-US" sz="4800" dirty="0" smtClean="0"/>
              <a:t/>
            </a:r>
            <a:br>
              <a:rPr lang="zh-CN" altLang="en-US" sz="4800" dirty="0" smtClean="0"/>
            </a:br>
            <a:endParaRPr lang="zh-CN" altLang="en-US" sz="4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 smtClean="0"/>
              <a:t>直径：与箱体箱盖连接螺栓直径相同</a:t>
            </a:r>
          </a:p>
          <a:p>
            <a:r>
              <a:rPr lang="zh-CN" altLang="en-US" sz="2800" dirty="0" smtClean="0"/>
              <a:t>数量：</a:t>
            </a:r>
            <a:r>
              <a:rPr lang="en-US" sz="2800" dirty="0" smtClean="0"/>
              <a:t>1~2</a:t>
            </a:r>
            <a:r>
              <a:rPr lang="zh-CN" altLang="en-US" sz="2800" dirty="0" smtClean="0"/>
              <a:t>个。</a:t>
            </a:r>
          </a:p>
          <a:p>
            <a:endParaRPr lang="zh-CN" alt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19</a:t>
            </a:r>
            <a:r>
              <a:rPr lang="zh-CN" altLang="en-US" sz="3200" b="1" dirty="0" smtClean="0"/>
              <a:t>、工艺性</a:t>
            </a:r>
            <a:r>
              <a:rPr lang="en-US" altLang="zh-CN" b="1" dirty="0" smtClean="0"/>
              <a:t/>
            </a:r>
            <a:br>
              <a:rPr lang="en-US" altLang="zh-CN" b="1" dirty="0" smtClean="0"/>
            </a:br>
            <a:r>
              <a:rPr lang="en-US" sz="2000" b="1" dirty="0" smtClean="0"/>
              <a:t>P89~95</a:t>
            </a:r>
            <a:r>
              <a:rPr lang="zh-CN" altLang="en-US" sz="2000" b="1" dirty="0" smtClean="0"/>
              <a:t>表</a:t>
            </a:r>
            <a:r>
              <a:rPr lang="en-US" sz="2000" b="1" dirty="0" smtClean="0"/>
              <a:t>4-17</a:t>
            </a:r>
            <a:r>
              <a:rPr lang="zh-CN" altLang="en-US" sz="2000" b="1" dirty="0" smtClean="0"/>
              <a:t>、</a:t>
            </a:r>
            <a:r>
              <a:rPr lang="en-US" sz="2000" b="1" dirty="0" smtClean="0"/>
              <a:t>18</a:t>
            </a:r>
            <a:r>
              <a:rPr lang="zh-CN" altLang="en-US" sz="2000" b="1" dirty="0" smtClean="0"/>
              <a:t>、</a:t>
            </a:r>
            <a:r>
              <a:rPr lang="en-US" sz="2000" b="1" dirty="0" smtClean="0"/>
              <a:t>19</a:t>
            </a:r>
            <a:r>
              <a:rPr lang="zh-CN" altLang="en-US" sz="2000" b="1" dirty="0" smtClean="0"/>
              <a:t>、</a:t>
            </a:r>
            <a:r>
              <a:rPr lang="en-US" sz="2000" b="1" dirty="0" smtClean="0"/>
              <a:t>20</a:t>
            </a:r>
            <a:r>
              <a:rPr lang="zh-CN" altLang="en-US" sz="2000" b="1" dirty="0" smtClean="0"/>
              <a:t>、</a:t>
            </a:r>
            <a:r>
              <a:rPr lang="en-US" sz="2000" b="1" dirty="0" smtClean="0"/>
              <a:t>21</a:t>
            </a:r>
            <a:endParaRPr lang="zh-CN" altLang="en-US" sz="2000" b="1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1</a:t>
            </a:r>
            <a:r>
              <a:rPr lang="zh-CN" altLang="en-US" b="1" dirty="0" smtClean="0"/>
              <a:t>、齿轮结构设计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 smtClean="0"/>
              <a:t>在通过齿轮强度计算、确定齿数、模数及基本尺寸后进行。</a:t>
            </a:r>
            <a:endParaRPr lang="en-US" altLang="zh-CN" sz="2800" dirty="0" smtClean="0"/>
          </a:p>
          <a:p>
            <a:r>
              <a:rPr lang="zh-CN" altLang="en-US" sz="2800" dirty="0" smtClean="0"/>
              <a:t>参考图：</a:t>
            </a:r>
            <a:r>
              <a:rPr lang="en-US" altLang="zh-CN" sz="2800" dirty="0" smtClean="0"/>
              <a:t>P35</a:t>
            </a:r>
            <a:r>
              <a:rPr lang="zh-CN" altLang="en-US" sz="2800" dirty="0" smtClean="0"/>
              <a:t>，表</a:t>
            </a:r>
            <a:r>
              <a:rPr lang="en-US" altLang="zh-CN" sz="2800" dirty="0" smtClean="0"/>
              <a:t>3-1</a:t>
            </a:r>
          </a:p>
          <a:p>
            <a:r>
              <a:rPr lang="zh-CN" altLang="en-US" sz="2800" dirty="0" smtClean="0"/>
              <a:t>齿轮精度的计算与确定：参考</a:t>
            </a:r>
            <a:r>
              <a:rPr lang="en-US" altLang="zh-CN" sz="2800" dirty="0" smtClean="0"/>
              <a:t>P126</a:t>
            </a:r>
            <a:r>
              <a:rPr lang="zh-CN" altLang="en-US" sz="2800" dirty="0" smtClean="0"/>
              <a:t>例</a:t>
            </a:r>
            <a:r>
              <a:rPr lang="en-US" altLang="zh-CN" sz="2800" smtClean="0"/>
              <a:t>6-1</a:t>
            </a:r>
          </a:p>
          <a:p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ZiYWQ0ODVjMDdlMTc0YjdjMTUxY2YwMWY1OWE0NjQifQ=="/>
  <p:tag name="KSO_WPP_MARK_KEY" val="c31eed85-8239-41fa-8425-999ff354065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161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161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COMBINE_RELATE_SLIDE_ID" val="background20180934_1"/>
  <p:tag name="KSO_WM_TEMPLATE_SUBCATEGORY" val="0"/>
  <p:tag name="KSO_WM_TEMPLATE_THUMBS_INDEX" val="1、6、12、13、21、22、25、26"/>
  <p:tag name="KSO_WM_TAG_VERSION" val="1.0"/>
  <p:tag name="KSO_WM_BEAUTIFY_FLAG" val="#wm#"/>
  <p:tag name="KSO_WM_TEMPLATE_CATEGORY" val="custom"/>
  <p:tag name="KSO_WM_TEMPLATE_INDEX" val="20181613"/>
  <p:tag name="KSO_WM_TEMPLATE_MASTER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_13*l_h_i*1_1_1"/>
  <p:tag name="KSO_WM_UNIT_LAYERLEVEL" val="1_1_1"/>
  <p:tag name="KSO_WM_TAG_VERSION" val="1.0"/>
  <p:tag name="KSO_WM_BEAUTIFY_FLAG" val="#wm#"/>
  <p:tag name="KSO_WM_SLIDE_BACKGROUND_TYPE" val="frame"/>
  <p:tag name="KSO_WM_SLIDE_BK_DARK_LIGHT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_13*l_h_i*1_1_2"/>
  <p:tag name="KSO_WM_UNIT_LAYERLEVEL" val="1_1_1"/>
  <p:tag name="KSO_WM_TAG_VERSION" val="1.0"/>
  <p:tag name="KSO_WM_BEAUTIFY_FLAG" val="#wm#"/>
  <p:tag name="KSO_WM_SLIDE_BACKGROUND_TYPE" val="frame"/>
  <p:tag name="KSO_WM_SLIDE_BK_DARK_LIGHT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_13*l_h_i*1_1_1"/>
  <p:tag name="KSO_WM_UNIT_LAYERLEVEL" val="1_1_1"/>
  <p:tag name="KSO_WM_TAG_VERSION" val="1.0"/>
  <p:tag name="KSO_WM_BEAUTIFY_FLAG" val="#wm#"/>
  <p:tag name="KSO_WM_SLIDE_BACKGROUND_TYPE" val="frame"/>
  <p:tag name="KSO_WM_SLIDE_BK_DARK_LIGHT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_13*l_h_i*1_1_2"/>
  <p:tag name="KSO_WM_UNIT_LAYERLEVEL" val="1_1_1"/>
  <p:tag name="KSO_WM_TAG_VERSION" val="1.0"/>
  <p:tag name="KSO_WM_BEAUTIFY_FLAG" val="#wm#"/>
  <p:tag name="KSO_WM_SLIDE_BACKGROUND_TYPE" val="frame"/>
  <p:tag name="KSO_WM_SLIDE_BK_DARK_LIGHT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_13*l_h_i*1_1_1"/>
  <p:tag name="KSO_WM_UNIT_LAYERLEVEL" val="1_1_1"/>
  <p:tag name="KSO_WM_TAG_VERSION" val="1.0"/>
  <p:tag name="KSO_WM_BEAUTIFY_FLAG" val="#wm#"/>
  <p:tag name="KSO_WM_SLIDE_BACKGROUND_TYPE" val="frame"/>
  <p:tag name="KSO_WM_SLIDE_BK_DARK_LIGHT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_13*l_h_i*1_1_2"/>
  <p:tag name="KSO_WM_UNIT_LAYERLEVEL" val="1_1_1"/>
  <p:tag name="KSO_WM_TAG_VERSION" val="1.0"/>
  <p:tag name="KSO_WM_BEAUTIFY_FLAG" val="#wm#"/>
  <p:tag name="KSO_WM_SLIDE_BACKGROUND_TYPE" val="frame"/>
  <p:tag name="KSO_WM_SLIDE_BK_DARK_LIGHT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heme/theme1.xml><?xml version="1.0" encoding="utf-8"?>
<a:theme xmlns:a="http://schemas.openxmlformats.org/drawingml/2006/main" name="1_Office 主题">
  <a:themeElements>
    <a:clrScheme name="20181613">
      <a:dk1>
        <a:srgbClr val="000000"/>
      </a:dk1>
      <a:lt1>
        <a:srgbClr val="FFFFFF"/>
      </a:lt1>
      <a:dk2>
        <a:srgbClr val="C1E2F4"/>
      </a:dk2>
      <a:lt2>
        <a:srgbClr val="FFFFFF"/>
      </a:lt2>
      <a:accent1>
        <a:srgbClr val="2487BF"/>
      </a:accent1>
      <a:accent2>
        <a:srgbClr val="329ABB"/>
      </a:accent2>
      <a:accent3>
        <a:srgbClr val="40ADB8"/>
      </a:accent3>
      <a:accent4>
        <a:srgbClr val="4FC0B4"/>
      </a:accent4>
      <a:accent5>
        <a:srgbClr val="5DD3B1"/>
      </a:accent5>
      <a:accent6>
        <a:srgbClr val="6BE6AD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816</Words>
  <Application>Microsoft Office PowerPoint</Application>
  <PresentationFormat>全屏显示(4:3)</PresentationFormat>
  <Paragraphs>81</Paragraphs>
  <Slides>23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4" baseType="lpstr">
      <vt:lpstr>1_Office 主题</vt:lpstr>
      <vt:lpstr>机械设计 课程设计辅导 结构设计</vt:lpstr>
      <vt:lpstr>幻灯片 2</vt:lpstr>
      <vt:lpstr>减速器箱体设计 P74</vt:lpstr>
      <vt:lpstr>1、材料 P74</vt:lpstr>
      <vt:lpstr>2、结构 P74</vt:lpstr>
      <vt:lpstr>3、内腔设计 P74-80 P80表4-6减速器箱体主要结构尺寸关系</vt:lpstr>
      <vt:lpstr>4、壁厚与外形设计</vt:lpstr>
      <vt:lpstr>5、轴承座 </vt:lpstr>
      <vt:lpstr>6、接合面凸台设计 P75图4-44轴承座连接刚性对比 图4-45轴承座凸台的结构尺寸图4-46</vt:lpstr>
      <vt:lpstr>7、座面凸缘设计 P76图4-47箱座底面结构 图4-48箱座底面凸缘结构</vt:lpstr>
      <vt:lpstr>8、肋板设计 P76 </vt:lpstr>
      <vt:lpstr>9、输油沟设计 P76图4-4输油沟与回油沟</vt:lpstr>
      <vt:lpstr>10、连接螺栓间孔距 P76</vt:lpstr>
      <vt:lpstr>11、工艺性 P77</vt:lpstr>
      <vt:lpstr>12、油标 P83表4-10~12</vt:lpstr>
      <vt:lpstr>13、排油螺塞 P85表4-13</vt:lpstr>
      <vt:lpstr>14、检查孔 P85表4-14</vt:lpstr>
      <vt:lpstr>15、通气器 P86表4-15</vt:lpstr>
      <vt:lpstr>16、起吊装置 P87</vt:lpstr>
      <vt:lpstr>17、定位销 P87  表8-67</vt:lpstr>
      <vt:lpstr>18、起盖螺钉 </vt:lpstr>
      <vt:lpstr>19、工艺性 P89~95表4-17、18、19、20、21</vt:lpstr>
      <vt:lpstr>1、齿轮结构设计</vt:lpstr>
    </vt:vector>
  </TitlesOfParts>
  <Company>MS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机械设计课程设计辅导</dc:title>
  <dc:creator>USER-</dc:creator>
  <cp:lastModifiedBy>zhy</cp:lastModifiedBy>
  <cp:revision>10</cp:revision>
  <dcterms:created xsi:type="dcterms:W3CDTF">2021-05-29T04:10:00Z</dcterms:created>
  <dcterms:modified xsi:type="dcterms:W3CDTF">2023-11-10T07:06:41Z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147B4830D7E94BF284A005D2550699B2</vt:lpwstr>
  </property>
  <property fmtid="{D5CDD505-2E9C-101B-9397-08002B2CF9AE}" pid="3" name="KSOProductBuildVer">
    <vt:lpwstr>2052-11.1.0.12598</vt:lpwstr>
  </property>
</Properties>
</file>