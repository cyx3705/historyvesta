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82" r:id="rId6"/>
    <p:sldId id="262" r:id="rId7"/>
    <p:sldId id="273" r:id="rId8"/>
    <p:sldId id="283" r:id="rId9"/>
    <p:sldId id="263" r:id="rId10"/>
    <p:sldId id="264" r:id="rId11"/>
    <p:sldId id="265" r:id="rId12"/>
    <p:sldId id="266" r:id="rId13"/>
    <p:sldId id="268" r:id="rId14"/>
    <p:sldId id="269" r:id="rId15"/>
    <p:sldId id="267" r:id="rId16"/>
    <p:sldId id="270" r:id="rId17"/>
    <p:sldId id="274" r:id="rId18"/>
    <p:sldId id="275" r:id="rId19"/>
    <p:sldId id="279" r:id="rId20"/>
    <p:sldId id="280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37 24575,'0'-1'0,"-1"0"0,1 0 0,-1 1 0,0-1 0,1 0 0,-1 0 0,1 1 0,-1-1 0,0 0 0,0 1 0,1-1 0,-1 1 0,0-1 0,0 1 0,0-1 0,0 1 0,0 0 0,1-1 0,-1 1 0,0 0 0,0 0 0,0 0 0,0 0 0,-2 0 0,-28-4 0,28 4 0,-29 1 0,0 1 0,1 1 0,0 2 0,0 2 0,0 0 0,0 2 0,1 1 0,-43 22 0,63-28 0,1 0 0,-1 1 0,1 0 0,1 0 0,-1 1 0,1 0 0,0 0 0,0 1 0,1 0 0,-1 1 0,2-1 0,-1 1 0,1 1 0,0-1 0,1 1 0,0 0 0,1 0 0,-1 1 0,2-1 0,-1 1 0,2 0 0,-1 0 0,1 0 0,1 0 0,-1 0 0,2 20 0,-1-5 0,0 6 0,1-1 0,2 1 0,1 0 0,7 33 0,-8-56 0,0 0 0,1 0 0,-1-1 0,2 1 0,-1-1 0,1 0 0,0 0 0,1 0 0,-1 0 0,1-1 0,1 0 0,-1 0 0,1 0 0,0-1 0,1 1 0,-1-1 0,1-1 0,0 0 0,0 0 0,12 5 0,100 28 0,-24-9 0,-46-14 0,1-2 0,61 7 0,-51-10 0,65 19 0,-90-19 0,0-1 0,0-1 0,58 2 0,-71-8 0,-1-1 0,1-1 0,-1-1 0,1-1 0,-1-1 0,0-1 0,27-9 0,-45 12 0,0 0 0,0 0 0,0 0 0,0 0 0,-1-1 0,1 1 0,0-1 0,-1 1 0,0-1 0,0 0 0,0 0 0,0 0 0,0-1 0,0 1 0,-1 0 0,0-1 0,1 1 0,-1-1 0,0 1 0,-1-1 0,1 1 0,-1-1 0,0 0 0,0 1 0,0-1 0,-1-6 0,0-3 0,0 0 0,-1 1 0,0-1 0,-2 1 0,1-1 0,-9-18 0,-27-40 0,-3 2 0,-2 2 0,-74-85 0,78 101 0,14 18-120,-59-70 373,75 92-467,0 1 0,-1 1 0,-1-1 0,1 2 0,-1 0 0,-24-12 0,12 10-6612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8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1004 113 24575,'-78'4'0,"0"4"0,-124 27 0,73-10 0,77-16 0,-48 8 0,-139 41 0,232-56 0,1 0 0,0 1 0,0-1 0,0 1 0,0 0 0,0 0 0,1 1 0,-1 0 0,1 0 0,0 0 0,-9 10 0,11-8 0,0-1 0,0 1 0,1-1 0,-1 1 0,1 0 0,0 0 0,1-1 0,-1 2 0,1-1 0,1 0 0,-1 0 0,1 11 0,-12 220 0,-1 52 0,14-239 0,2-1 0,3 0 0,20 88 0,-19-118 0,0 1 0,2-1 0,0-1 0,1 1 0,1-2 0,1 1 0,1-2 0,0 1 0,1-2 0,17 16 0,-21-23 0,-1 0 0,2 0 0,-1-1 0,1-1 0,0 1 0,0-2 0,1 0 0,15 5 0,102 23 0,-112-29 0,473 59 0,-421-57 0,98 9 0,224-10 0,-386-5 0,0 0 0,0 0 0,0-1 0,0 0 0,0 0 0,0 0 0,-1-1 0,1 1 0,0-1 0,-1 0 0,1 0 0,-1-1 0,0 1 0,0-1 0,6-5 0,-5 2 0,-1 0 0,0 0 0,0 0 0,-1 0 0,0-1 0,0 0 0,0 1 0,-1-1 0,3-13 0,6-30 0,-2-1 0,-2 0 0,0-59 0,-12-157 0,2 229 0,-1 1 0,-1 0 0,-3 0 0,0 0 0,-3 1 0,-1 0 0,-1 1 0,-3 1 0,0 0 0,-2 1 0,-34-47 0,-33-34 0,27 33 0,-4 3 0,-97-97 0,152 169 11,1 1 0,-1-1 0,0 1 0,-1 0 0,1 1 0,-1 0-1,0 0 1,0 0 0,0 1 0,-9-2 0,4 3-259,0 0 1,0 1-1,0 0 1,0 1-1,-25 3 1,22-1-6579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8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1483 503 24575,'-5'-3'0,"1"0"0,-1 0 0,0 1 0,0-1 0,1 1 0,-2 0 0,1 1 0,0-1 0,0 1 0,0 0 0,-10 0 0,-4-2 0,-161-25 0,-1 9 0,-299 5 0,439 15 0,1 1 0,-1 1 0,-78 19 0,105-18 0,1 0 0,0 1 0,0 1 0,0 0 0,0 0 0,1 2 0,0-1 0,1 2 0,0 0 0,0 0 0,1 0 0,0 2 0,0-1 0,-15 24 0,9-10 0,1 1 0,1 0 0,1 1 0,1 1 0,1 0 0,2 1 0,0 0 0,2 0 0,2 0 0,-5 53 0,10-47 0,1 0 0,2 0 0,1-1 0,17 66 0,54 123 0,-51-158 0,-12-31 0,18 54 0,4-1 0,4-2 0,61 101 0,-82-159 0,1-1 0,2 0 0,1-2 0,0-1 0,40 33 0,-42-41 0,0-2 0,1 1 0,0-2 0,1-1 0,0 0 0,1-2 0,0 0 0,36 7 0,32-3 0,0-4 0,179-7 0,-157-3 0,34 2 0,239-8 0,-359 6 0,1-1 0,-1-1 0,0-1 0,0-1 0,26-11 0,-43 14 0,1-2 0,-1 1 0,0-1 0,0 0 0,0-1 0,-1 0 0,0-1 0,0 0 0,0 0 0,-1 0 0,0-1 0,-1 0 0,0 0 0,0-1 0,8-15 0,17-48 0,-4-2 0,21-84 0,22-155 0,-58 256 0,-3 5 0,-2 0 0,-3-1 0,-2 1 0,-2-1 0,-2 0 0,-3 0 0,-2 1 0,-2 0 0,-2 0 0,-3 1 0,-2 1 0,-2 0 0,-2 1 0,-41-70 0,8 31 0,-3 2 0,-5 3 0,-92-100 0,140 170 0,0 1 0,0 0 0,-2 1 0,-21-13 0,29 20 0,1 1 0,-1-1 0,-1 2 0,1-1 0,0 1 0,-1 0 0,1 0 0,-1 1 0,1 0 0,-1 1 0,0-1 0,1 1 0,-10 2 0,-7 1-170,-1 1-1,0 1 0,1 1 1,0 1-1,0 1 0,0 1 1,-37 22-1,37-15-6655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607 108 24575,'-31'-4'0,"-1"-1"0,1-5 0,-37-18 0,-45-13 0,88 35 0,14 1 0,-1 1 0,0 2 0,0 0 0,0 2 0,0 0 0,0 2 0,0 0 0,-18 7 0,26-1 0,-1-3 0,0 3 0,1-1 0,-1 3 0,1-3 0,0 3 0,1-1 0,-1 0 0,1 1 0,0-1 0,-4 21 0,-17 44 0,8-41 0,1 3 0,1 2 0,1-1 0,-17 63 0,27-85 0,0 0 0,0 0 0,1 0 0,0 2 0,0-2 0,1 2 0,0-2 0,0 2 0,1 0 0,0-2 0,1 2 0,0-1 0,0 0 0,1 0 0,0-1 0,3 19 0,3-9 0,0-1 0,1 1 0,0-3 0,1 1 0,0-3 0,1 1 0,1 0 0,24 31 0,-15-18 0,15 24 0,-12-18 0,44 57 0,-60-87 0,1-1 0,-1 1 0,1-3 0,1 1 0,-1-3 0,0 3 0,1-4 0,-1-1 0,18 5 0,14-4 0,0-4 0,0-4 0,0-2 0,0-3 0,-1-6 0,67-36 0,-39 13 0,-44 29 0,-1-4 0,0 0 0,0-2 0,0-4 0,-2 0 0,1-1 0,29-41 0,-46 52 0,-1-2 0,1 1 0,-1-1 0,0 0 0,-1-2 0,1 1 0,-1-1 0,0 2 0,-1-2 0,0 0 0,0-1 0,0 1 0,-1 0 0,0 0 0,0 0 0,-1-2 0,0 2 0,-1-23 0,0 0 0,-2 1 0,0-1 0,0 0 0,-2 2 0,-14-67 0,15 86 7,0 0 0,-1 2-1,0-2 1,0 2 0,0-1-1,-1 3 1,-1-2-1,1 2 1,-1-1 0,0 3-1,0 0 1,0-1 0,-1 1-1,0 1 1,0 1 0,0-1-1,-14-5 1,-1 0-255,-1 4 1,1-1-1,-1 5 1,0 1-1,-31 0 1,28 4-6579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1013 15 24575,'-2'-2'0,"0"1"0,-1-1 0,1 0 0,-1 1 0,0 0 0,0 0 0,1 0 0,-1 0 0,0 0 0,0 0 0,0 1 0,0 0 0,0-1 0,-3 1 0,-47 3 0,33-1 0,-51 5 0,0 3 0,0 3 0,1 3 0,1 3 0,-79 33 0,109-34 0,1 2 0,1 2 0,-58 44 0,82-55 0,1 0 0,1 0 0,0 1 0,0 1 0,1 0 0,-10 19 0,-2 5 0,-19 47 0,34-66 0,1 1 0,0 0 0,1 0 0,1 0 0,1 1 0,-1 27 0,3-34 0,1 0 0,1-1 0,0 1 0,1 0 0,0 0 0,0-1 0,2 1 0,0-1 0,0 0 0,11 21 0,-12-29 0,0 0 0,1 0 0,-1 0 0,1 0 0,0-1 0,0 1 0,1-1 0,-1 0 0,1 0 0,-1-1 0,1 1 0,9 2 0,69 19 0,-55-18 0,118 24 0,1-7 0,215 6 0,-353-29 0,12 2 0,1-1 0,-1-2 0,22-2 0,-35 1 0,-1 1 0,1-2 0,-1 1 0,0-1 0,0 0 0,0 0 0,0 0 0,-1-1 0,0-1 0,1 1 0,10-11 0,16-21 0,-1-1 0,-2-2 0,42-74 0,3-1 0,-72 110 0,91-139 0,-83 123 0,-1-1 0,-1 1 0,-1-1 0,-1-1 0,8-35 0,-10 29 0,-1 12 0,0-1 0,-2 0 0,1-29 0,-3 42 0,0 1 0,0-1 0,-1 1 0,1-1 0,-1 1 0,0 0 0,1-1 0,-2 1 0,1 0 0,0 0 0,-1 0 0,1 0 0,-1 0 0,0 0 0,0 0 0,0 0 0,-1 1 0,1-1 0,0 1 0,-1-1 0,0 1 0,1 0 0,-1 0 0,-4-1 0,-12-6 0,-1 2 0,0 1 0,0 0 0,-1 2 0,0 0 0,-26-1 0,-132 2 0,150 4 0,13-1-341,0 1 0,1 1-1,-17 3 1,15 0-6485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09:43:09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888 1 24575,'-29'0'0,"-192"7"0,186-4 0,1 2 0,-1 2 0,2 1 0,-46 16 0,48-12 0,0 2 0,1 0 0,1 2 0,0 2 0,1 0 0,-34 30 0,39-29 0,2 1 0,-23 28 0,37-39 0,1 0 0,-1 1 0,2-1 0,0 1 0,0 0 0,1 1 0,0-1 0,-5 23 0,-4 24 0,-12 69 0,23-110 0,1-1 0,1 1 0,0 0 0,1 0 0,5 30 0,-4-40 0,0 0 0,0-1 0,1 1 0,-1-1 0,1 0 0,0 1 0,1-1 0,0-1 0,-1 1 0,1 0 0,1-1 0,-1 0 0,1 0 0,-1 0 0,1-1 0,0 0 0,1 1 0,-1-2 0,7 4 0,13 4 0,1-1 0,55 13 0,-34-11 0,32 8 0,0-3 0,0-4 0,95 2 0,246-15 0,-217-3 0,-138 5 0,-25 1 0,53-6 0,-88 3 0,1 0 0,-1-1 0,1 1 0,-1-1 0,0-1 0,0 1 0,0-1 0,0 1 0,0-1 0,-1-1 0,1 1 0,-1-1 0,0 1 0,0-1 0,0 0 0,-1-1 0,1 1 0,-1-1 0,5-8 0,-2 1 0,-1 1 0,0-1 0,-1 1 0,0-1 0,-1 0 0,0-1 0,2-21 0,11-62 0,-10 69 0,5-55 0,-11 71 0,0 1 0,-1 0 0,0 0 0,0-1 0,-1 1 0,-1 0 0,0 0 0,0 0 0,-5-10 0,-5-2 0,-1-1 0,0 2 0,-2 0 0,0 1 0,-2 0 0,0 2 0,-1 0 0,0 1 0,-2 1 0,0 1 0,-1 0 0,0 2 0,-1 1 0,0 0 0,-1 2 0,-49-14 0,42 19 27,1 1-1,-1 1 1,0 2 0,-52 4-1,46-1-525,0-1-1,-61-7 1,76 2-6327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81FAD3-CE4E-444B-AFC3-991576DB8DC3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ADAB9-3114-432C-9FC2-BA1D697CAF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98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ADAB9-3114-432C-9FC2-BA1D697CAF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917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87317-EE7F-1948-FD15-EC0CC9298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F87CB0-2553-E9FC-37CA-24617637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CED1A9-40A6-2448-17DC-C1D7DD4A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F98C99-D519-81E1-8A7C-0F44CD31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A85B66-76CC-C7E7-C239-F2A802C5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5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B95BC-7D54-8A28-9E11-CDF38E12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462CC-3B6F-AB31-2DD6-BFC1D3411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39BC1-A9F3-83A5-8B0E-1356ECBBD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B70B96-4FEB-AB39-F869-31887504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184338-A658-8530-EF2A-67ADA30D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398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03E38-DBE7-357B-CFCB-B87EC5946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0ABCCA-39D3-5697-B6CA-E2D72407D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CD69A0-67E5-7973-9456-8F0E7E6A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CAF2B-32A0-73B7-0128-EA0A507E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B83589-0D3B-CA0A-944A-459C7B35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77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5361B-90C8-988C-8C67-A1C8C140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7548D9-DE7A-4C49-2427-FF205215A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E71C06-2FAC-CC25-BC78-099A79D6A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72115E-0BE6-D52D-F681-F441AF63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BB53D-BDCE-FFC6-5B2F-419BF88B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692B7A-49C1-1E9C-3000-8FE1E5DD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37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795815-56E2-3C8C-3584-8F6A82D34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18DE5A-0FCA-2FD9-9ED4-6E05D7CEC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E7EC9A-92A1-EFA7-582F-0CE576CBF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D1D286-EB0F-8CD1-9BBB-60DC4EA1D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DEDD92-E27E-D748-170C-DBD08915FF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BE9DE6-89E7-E0AB-54C8-DB5047097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249B42-1047-89C5-EFD1-9D5AAD108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47B4958-5946-70D5-5447-46414A2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5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0BC7B-A631-EB0D-5ECF-8E54CF53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7A92B9-9C7E-217A-0C1E-4E2BFB07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47A824C-B9AF-A24D-6ACB-2A533ABC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571126-72BC-2F2C-32F5-4550C76B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21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45425E-63F1-8C7B-549D-2501738E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15BD37-743A-3555-D594-4EB395ED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F4A7F-BBC8-8B36-2188-7AD1DB6C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42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AC974-1F11-FBDF-E924-00EFB060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E1FF8B-5449-16C1-9117-6A9AF3F1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3095F-2F71-A5EF-AA0E-E2E46581D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2D3D2C-C045-58EC-593E-01ED19C3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5534F9-98DA-7FFC-7497-068309D8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28BDC1-A0EA-621D-1E4F-B7AB87832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83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795EE-5CBD-2CA9-5410-1BD98349A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AAC34C-6561-C8CC-1C2F-6675652D1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B6923B-BE4B-0242-704E-A24ED1E39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7A3707-393A-AA57-BE0F-9146B734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D6A942-7DEA-8CB8-E636-F99A852FE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972AF-4114-7143-3BB1-BB1799CB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8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E440D-4A08-996F-6F9D-5EAACC1E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A89773-6E70-2454-3694-6E6E94AE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9AACA9-A3A4-7359-44D3-7B120F46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C84EE-31D0-C11F-77B6-56A5F3D1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59F289-437F-9D3E-AB4E-715543EF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1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6F4D7-A7D1-62BC-6AD1-86009288B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DF113C-89AD-BBC1-2D33-805714412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74B0C4-B5CD-03FF-EA31-9602995C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269FB6-3AFE-E1C1-A6D0-38908435D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49A872-3A4D-4886-370B-CEB3F6983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58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AC242A-94BD-4A9E-21E0-8F4C0548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24D57-F158-A3F1-64ED-D777AD5BC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01C5B-1A48-0B0D-00BB-ED3B93CC6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A1311-718C-4E8E-8010-28C99C476D3E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C69252-B5BF-21FB-31A8-10B7AC59CE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3F8026-D52C-69F6-ABDA-B04755E8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52537-7E0A-4414-9903-E514EDC45E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848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5.xml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12" Type="http://schemas.openxmlformats.org/officeDocument/2006/relationships/image" Target="../media/image18.png"/><Relationship Id="rId17" Type="http://schemas.openxmlformats.org/officeDocument/2006/relationships/image" Target="../media/image9.png"/><Relationship Id="rId2" Type="http://schemas.openxmlformats.org/officeDocument/2006/relationships/image" Target="../media/image13.jp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3.xml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03B6467-763A-9D02-53E0-49CDED985840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5F1B4B02-AA08-F23A-BC90-8368519466D7}"/>
              </a:ext>
            </a:extLst>
          </p:cNvPr>
          <p:cNvSpPr txBox="1">
            <a:spLocks/>
          </p:cNvSpPr>
          <p:nvPr/>
        </p:nvSpPr>
        <p:spPr>
          <a:xfrm>
            <a:off x="1524000" y="2297336"/>
            <a:ext cx="9144000" cy="1099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轻型</a:t>
            </a:r>
            <a:r>
              <a:rPr lang="en-US" altLang="zh-CN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AGV</a:t>
            </a:r>
            <a:r>
              <a:rPr lang="zh-CN" altLang="en-US" b="1" dirty="0">
                <a:effectLst>
                  <a:innerShdw blurRad="114300">
                    <a:prstClr val="black"/>
                  </a:innerShdw>
                </a:effectLst>
                <a:latin typeface="+mn-ea"/>
                <a:ea typeface="+mn-ea"/>
              </a:rPr>
              <a:t>小车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9112190-9BDB-4E61-23A6-C9C747C60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0E291F7-7C7C-34E1-755A-DD67448DE9EB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7828951D-D130-BB31-6D00-5E23884C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制作人 王齐权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F712D54D-5998-E98F-5664-1AAA17813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912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FDFFA-7225-6DC6-8F5A-9EF12E96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55744B-45F1-D3D2-4542-BB06029776E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0D75DF-7757-7B5C-0233-988E6CC6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1B7505-5F3C-36F1-0F81-ED55EC9A81C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84AC7C2-E82B-3795-B485-7DECE7C37686}"/>
              </a:ext>
            </a:extLst>
          </p:cNvPr>
          <p:cNvSpPr txBox="1">
            <a:spLocks/>
          </p:cNvSpPr>
          <p:nvPr/>
        </p:nvSpPr>
        <p:spPr>
          <a:xfrm>
            <a:off x="1685686" y="760689"/>
            <a:ext cx="3233011" cy="12928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000" b="1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B06544-18DC-8820-7975-217DF2D8B31B}"/>
              </a:ext>
            </a:extLst>
          </p:cNvPr>
          <p:cNvSpPr/>
          <p:nvPr/>
        </p:nvSpPr>
        <p:spPr>
          <a:xfrm>
            <a:off x="1617673" y="2502367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374C6DA-EA88-8B5D-DFAD-3E9BB6239C8E}"/>
              </a:ext>
            </a:extLst>
          </p:cNvPr>
          <p:cNvSpPr/>
          <p:nvPr/>
        </p:nvSpPr>
        <p:spPr>
          <a:xfrm>
            <a:off x="1617673" y="3980238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003B26-6273-B383-1438-0C6725968588}"/>
              </a:ext>
            </a:extLst>
          </p:cNvPr>
          <p:cNvSpPr/>
          <p:nvPr/>
        </p:nvSpPr>
        <p:spPr>
          <a:xfrm>
            <a:off x="1617673" y="4714894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8D6A76-CEDC-15CA-F25C-FDDF1BFE9CAF}"/>
              </a:ext>
            </a:extLst>
          </p:cNvPr>
          <p:cNvSpPr/>
          <p:nvPr/>
        </p:nvSpPr>
        <p:spPr>
          <a:xfrm>
            <a:off x="1630530" y="5460708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516E1A-2B28-37F2-0FCF-6439294ED17E}"/>
              </a:ext>
            </a:extLst>
          </p:cNvPr>
          <p:cNvSpPr txBox="1"/>
          <p:nvPr/>
        </p:nvSpPr>
        <p:spPr>
          <a:xfrm>
            <a:off x="2270872" y="3759643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设计创新点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BE3C3F-BA9F-9506-BF48-8E4736934F2F}"/>
              </a:ext>
            </a:extLst>
          </p:cNvPr>
          <p:cNvSpPr txBox="1"/>
          <p:nvPr/>
        </p:nvSpPr>
        <p:spPr>
          <a:xfrm>
            <a:off x="2270872" y="4499878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主要设计难点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A00FC14-B131-15EE-46CE-A39525270C23}"/>
              </a:ext>
            </a:extLst>
          </p:cNvPr>
          <p:cNvSpPr txBox="1"/>
          <p:nvPr/>
        </p:nvSpPr>
        <p:spPr>
          <a:xfrm>
            <a:off x="2270872" y="5240113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接下来的规划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B6C14CB-3497-B49B-C8D4-E0AFBC6FC128}"/>
              </a:ext>
            </a:extLst>
          </p:cNvPr>
          <p:cNvSpPr txBox="1"/>
          <p:nvPr/>
        </p:nvSpPr>
        <p:spPr>
          <a:xfrm>
            <a:off x="2270877" y="2237519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主要设计安排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2E6669-4FF9-541C-621A-6FAA63B8EA2B}"/>
              </a:ext>
            </a:extLst>
          </p:cNvPr>
          <p:cNvSpPr txBox="1"/>
          <p:nvPr/>
        </p:nvSpPr>
        <p:spPr>
          <a:xfrm>
            <a:off x="2270872" y="5980348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总结与展望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E56AE9-95F8-379E-7FEE-CAFC3EEBB9F3}"/>
              </a:ext>
            </a:extLst>
          </p:cNvPr>
          <p:cNvSpPr/>
          <p:nvPr/>
        </p:nvSpPr>
        <p:spPr>
          <a:xfrm flipV="1">
            <a:off x="1617673" y="6200943"/>
            <a:ext cx="136026" cy="1435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15A74D-9B3E-9BF0-FF30-F5C861CB7D04}"/>
              </a:ext>
            </a:extLst>
          </p:cNvPr>
          <p:cNvSpPr txBox="1"/>
          <p:nvPr/>
        </p:nvSpPr>
        <p:spPr>
          <a:xfrm>
            <a:off x="2270872" y="3019408"/>
            <a:ext cx="612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48CE"/>
                </a:solidFill>
              </a:rPr>
              <a:t>整体概览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78B4C2-74CE-9039-A986-6AFA32F48575}"/>
              </a:ext>
            </a:extLst>
          </p:cNvPr>
          <p:cNvSpPr/>
          <p:nvPr/>
        </p:nvSpPr>
        <p:spPr>
          <a:xfrm>
            <a:off x="1610015" y="3245582"/>
            <a:ext cx="136026" cy="1435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83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BD646-838B-2071-AE7E-E2EAD94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B2B750-3E03-C0C8-67B9-192E4B9BCEA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22DAA1-1BAE-0CE8-9C77-2C3E82A8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E414B79-C6DC-2DFE-D9CD-5C62B5D5D4B1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1E3830A-65AA-9A7B-02C0-342521E1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介绍有关部分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的分工与安排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3D3ADBF-4AFC-CCC2-9583-4CB1F2DB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D0C88-12C8-B08E-1A88-2C340F798154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主要设计安排</a:t>
            </a:r>
          </a:p>
        </p:txBody>
      </p:sp>
    </p:spTree>
    <p:extLst>
      <p:ext uri="{BB962C8B-B14F-4D97-AF65-F5344CB8AC3E}">
        <p14:creationId xmlns:p14="http://schemas.microsoft.com/office/powerpoint/2010/main" val="2560963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0225D-3F2D-B929-89C3-FA688321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58F66D8-9C85-0B6E-86F2-EF89B0FD9A3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5C1BFD-5B9B-CC07-B205-F26AF168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F46D18A-D547-88A1-DF73-23FE03A6E74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7BC13CC-BC92-B8A4-C971-AD9CD444408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主要设计安排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167D66-DB01-A6BA-FE43-8E527789EB18}"/>
              </a:ext>
            </a:extLst>
          </p:cNvPr>
          <p:cNvSpPr txBox="1"/>
          <p:nvPr/>
        </p:nvSpPr>
        <p:spPr>
          <a:xfrm>
            <a:off x="2361964" y="1406012"/>
            <a:ext cx="85638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主负责人：陈煜暄</a:t>
            </a:r>
            <a:endParaRPr lang="en-US" altLang="zh-CN" sz="2400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B02F0E9-BB44-8019-6564-D312E4B75DEC}"/>
              </a:ext>
            </a:extLst>
          </p:cNvPr>
          <p:cNvSpPr txBox="1"/>
          <p:nvPr/>
        </p:nvSpPr>
        <p:spPr>
          <a:xfrm>
            <a:off x="244446" y="337809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2"/>
                </a:solidFill>
              </a:rPr>
              <a:t>项目分工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8E8086-45BE-9E66-203F-9786F76E0868}"/>
              </a:ext>
            </a:extLst>
          </p:cNvPr>
          <p:cNvSpPr txBox="1"/>
          <p:nvPr/>
        </p:nvSpPr>
        <p:spPr>
          <a:xfrm>
            <a:off x="2361964" y="2845942"/>
            <a:ext cx="88498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陈煜暄：立项报告 </a:t>
            </a:r>
            <a:r>
              <a:rPr lang="en-US" altLang="zh-CN" sz="2000" b="1" dirty="0"/>
              <a:t>	</a:t>
            </a:r>
            <a:r>
              <a:rPr lang="zh-CN" altLang="en-US" sz="2000" b="1" dirty="0"/>
              <a:t>电器架及电器，底盘的建模出图        对比分析报告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张航诚：外壳绘制             外壳工程图及结构螺丝安装绘制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王齐权：悬挂建模以及出图            </a:t>
            </a:r>
            <a:r>
              <a:rPr lang="en-US" altLang="zh-CN" sz="2000" b="1" dirty="0"/>
              <a:t>BOM</a:t>
            </a:r>
            <a:r>
              <a:rPr lang="zh-CN" altLang="en-US" sz="2000" b="1" dirty="0"/>
              <a:t>表            项目报告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夏姜楠：</a:t>
            </a:r>
            <a:r>
              <a:rPr lang="en-US" altLang="zh-CN" sz="2000" b="1" dirty="0" err="1"/>
              <a:t>eplan</a:t>
            </a:r>
            <a:r>
              <a:rPr lang="zh-CN" altLang="en-US" sz="2000" b="1" dirty="0"/>
              <a:t>电气原理图绘制         </a:t>
            </a:r>
          </a:p>
        </p:txBody>
      </p:sp>
    </p:spTree>
    <p:extLst>
      <p:ext uri="{BB962C8B-B14F-4D97-AF65-F5344CB8AC3E}">
        <p14:creationId xmlns:p14="http://schemas.microsoft.com/office/powerpoint/2010/main" val="167730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BD646-838B-2071-AE7E-E2EAD94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BB2B750-3E03-C0C8-67B9-192E4B9BCEA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22DAA1-1BAE-0CE8-9C77-2C3E82A80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E414B79-C6DC-2DFE-D9CD-5C62B5D5D4B1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1E3830A-65AA-9A7B-02C0-342521E19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介绍整体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的设计样貌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3D3ADBF-4AFC-CCC2-9583-4CB1F2DB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89D0C88-12C8-B08E-1A88-2C340F798154}"/>
              </a:ext>
            </a:extLst>
          </p:cNvPr>
          <p:cNvSpPr txBox="1"/>
          <p:nvPr/>
        </p:nvSpPr>
        <p:spPr>
          <a:xfrm>
            <a:off x="3045093" y="2058914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整体概览</a:t>
            </a:r>
          </a:p>
        </p:txBody>
      </p:sp>
    </p:spTree>
    <p:extLst>
      <p:ext uri="{BB962C8B-B14F-4D97-AF65-F5344CB8AC3E}">
        <p14:creationId xmlns:p14="http://schemas.microsoft.com/office/powerpoint/2010/main" val="3803949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36DEF-A8A3-249E-AEAF-B87D4F84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BEB91E4-9B70-1A70-05DC-BCBCE47D42B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6A7CEB-76CB-A09B-5198-C3A9A865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69A4F58-3216-0759-EBCB-4066F6EBFCA7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EB27059-DA1E-9A50-2D05-78DFAF4053E9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整体概览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30B522-85DC-66FB-1B27-2B2BEA700B4D}"/>
              </a:ext>
            </a:extLst>
          </p:cNvPr>
          <p:cNvSpPr txBox="1"/>
          <p:nvPr/>
        </p:nvSpPr>
        <p:spPr>
          <a:xfrm>
            <a:off x="2613775" y="1681232"/>
            <a:ext cx="3647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我们所设计的这款轻型</a:t>
            </a:r>
            <a:r>
              <a:rPr lang="en-US" altLang="zh-CN" sz="2400" dirty="0"/>
              <a:t>AGV</a:t>
            </a:r>
            <a:r>
              <a:rPr lang="zh-CN" altLang="en-US" sz="2400" dirty="0"/>
              <a:t>小车主要是用来作为迎宾机器人的移动底盘。</a:t>
            </a:r>
            <a:endParaRPr lang="en-US" altLang="zh-CN" sz="2400" dirty="0"/>
          </a:p>
          <a:p>
            <a:r>
              <a:rPr lang="zh-CN" altLang="en-US" sz="2400" dirty="0"/>
              <a:t>其长宽高为</a:t>
            </a:r>
            <a:r>
              <a:rPr lang="en-US" altLang="zh-CN" sz="2400" dirty="0"/>
              <a:t>517*468.5*242mm</a:t>
            </a:r>
          </a:p>
          <a:p>
            <a:endParaRPr lang="en-US" altLang="zh-CN" sz="2400" dirty="0"/>
          </a:p>
          <a:p>
            <a:r>
              <a:rPr lang="zh-CN" altLang="en-US" sz="2400" dirty="0"/>
              <a:t>右图为其三维模型（为方便展示将其铝合金板设置成透明状）</a:t>
            </a:r>
          </a:p>
        </p:txBody>
      </p:sp>
      <p:pic>
        <p:nvPicPr>
          <p:cNvPr id="10" name="图片 9" descr="图片包含 游戏机, 桌子, 雪, 男人&#10;&#10;AI 生成的内容可能不正确。">
            <a:extLst>
              <a:ext uri="{FF2B5EF4-FFF2-40B4-BE49-F238E27FC236}">
                <a16:creationId xmlns:a16="http://schemas.microsoft.com/office/drawing/2014/main" id="{DB67A0A0-F585-8E28-236C-B774EC131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268" y="1817336"/>
            <a:ext cx="4557897" cy="360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2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EC9752-F113-86CD-71A7-F81D1FF7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C086FB3-8F05-DF86-337B-25FD87858D8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9E4CEE-D54D-1BF6-DB43-D66C59E58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203A330-E95A-B200-2A00-69988F326D2A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3AB06F4-C672-FEB9-841D-0E58D7E8CAAA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整体概览</a:t>
            </a:r>
          </a:p>
        </p:txBody>
      </p:sp>
      <p:pic>
        <p:nvPicPr>
          <p:cNvPr id="15" name="图片 14" descr="图片包含 器具, 游戏机&#10;&#10;AI 生成的内容可能不正确。">
            <a:extLst>
              <a:ext uri="{FF2B5EF4-FFF2-40B4-BE49-F238E27FC236}">
                <a16:creationId xmlns:a16="http://schemas.microsoft.com/office/drawing/2014/main" id="{3FDFA73C-3C45-3D4C-9D99-93226476F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459" y="1153358"/>
            <a:ext cx="3335206" cy="2014332"/>
          </a:xfrm>
          <a:prstGeom prst="rect">
            <a:avLst/>
          </a:prstGeom>
        </p:spPr>
      </p:pic>
      <p:pic>
        <p:nvPicPr>
          <p:cNvPr id="17" name="图片 16" descr="电子仪器&#10;&#10;AI 生成的内容可能不正确。">
            <a:extLst>
              <a:ext uri="{FF2B5EF4-FFF2-40B4-BE49-F238E27FC236}">
                <a16:creationId xmlns:a16="http://schemas.microsoft.com/office/drawing/2014/main" id="{01EFFDD0-FB91-3D42-92F4-CC63B0A8A4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870" y="1153358"/>
            <a:ext cx="3126365" cy="2322569"/>
          </a:xfrm>
          <a:prstGeom prst="rect">
            <a:avLst/>
          </a:prstGeom>
        </p:spPr>
      </p:pic>
      <p:pic>
        <p:nvPicPr>
          <p:cNvPr id="19" name="图片 18" descr="图片包含 灯光, 游戏机, 电脑, 烤箱&#10;&#10;AI 生成的内容可能不正确。">
            <a:extLst>
              <a:ext uri="{FF2B5EF4-FFF2-40B4-BE49-F238E27FC236}">
                <a16:creationId xmlns:a16="http://schemas.microsoft.com/office/drawing/2014/main" id="{133506E9-9B88-1F30-E0C3-41DCC4D579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460" y="3084819"/>
            <a:ext cx="3408699" cy="2031912"/>
          </a:xfrm>
          <a:prstGeom prst="rect">
            <a:avLst/>
          </a:prstGeom>
        </p:spPr>
      </p:pic>
      <p:pic>
        <p:nvPicPr>
          <p:cNvPr id="21" name="图片 20" descr="图标&#10;&#10;AI 生成的内容可能不正确。">
            <a:extLst>
              <a:ext uri="{FF2B5EF4-FFF2-40B4-BE49-F238E27FC236}">
                <a16:creationId xmlns:a16="http://schemas.microsoft.com/office/drawing/2014/main" id="{87B2B05E-C214-95B8-549B-844E0ED27196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046" b="15112"/>
          <a:stretch>
            <a:fillRect/>
          </a:stretch>
        </p:blipFill>
        <p:spPr>
          <a:xfrm>
            <a:off x="8888159" y="3084819"/>
            <a:ext cx="2347001" cy="203191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620393C-B9CE-8F4D-CADA-BA779DEDE07C}"/>
              </a:ext>
            </a:extLst>
          </p:cNvPr>
          <p:cNvSpPr txBox="1"/>
          <p:nvPr/>
        </p:nvSpPr>
        <p:spPr>
          <a:xfrm>
            <a:off x="2435816" y="2888591"/>
            <a:ext cx="2428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右边为轻型</a:t>
            </a:r>
            <a:r>
              <a:rPr lang="en-US" altLang="zh-CN" sz="2400" dirty="0"/>
              <a:t>AGV</a:t>
            </a:r>
            <a:r>
              <a:rPr lang="zh-CN" altLang="en-US" sz="2400" dirty="0"/>
              <a:t>小车四个方向的视图</a:t>
            </a:r>
          </a:p>
        </p:txBody>
      </p:sp>
    </p:spTree>
    <p:extLst>
      <p:ext uri="{BB962C8B-B14F-4D97-AF65-F5344CB8AC3E}">
        <p14:creationId xmlns:p14="http://schemas.microsoft.com/office/powerpoint/2010/main" val="308851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095D332-6305-985C-75E6-83662D8CA34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B187C5-4D56-DB95-6DB3-654A0EB90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C5367D6-D5D5-9705-DEC2-7236F594D042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B9E62ED-55A0-B9A4-2C70-08A64DF594BE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整体概览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A02C10-E2B0-E098-8BED-07A11594376A}"/>
              </a:ext>
            </a:extLst>
          </p:cNvPr>
          <p:cNvSpPr txBox="1"/>
          <p:nvPr/>
        </p:nvSpPr>
        <p:spPr>
          <a:xfrm>
            <a:off x="2231406" y="944628"/>
            <a:ext cx="2428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内部结构展示</a:t>
            </a:r>
          </a:p>
        </p:txBody>
      </p:sp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5AB1E623-A2F8-45A4-A657-60141DE76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06" y="1817673"/>
            <a:ext cx="3140694" cy="2151654"/>
          </a:xfrm>
          <a:prstGeom prst="rect">
            <a:avLst/>
          </a:prstGeom>
        </p:spPr>
      </p:pic>
      <p:pic>
        <p:nvPicPr>
          <p:cNvPr id="16" name="图片 15" descr="图示&#10;&#10;AI 生成的内容可能不正确。">
            <a:extLst>
              <a:ext uri="{FF2B5EF4-FFF2-40B4-BE49-F238E27FC236}">
                <a16:creationId xmlns:a16="http://schemas.microsoft.com/office/drawing/2014/main" id="{C795ADCB-016F-A77A-E1E3-547948084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223" y="1822294"/>
            <a:ext cx="3174930" cy="2222070"/>
          </a:xfrm>
          <a:prstGeom prst="rect">
            <a:avLst/>
          </a:prstGeom>
        </p:spPr>
      </p:pic>
      <p:pic>
        <p:nvPicPr>
          <p:cNvPr id="18" name="图片 17" descr="图示&#10;&#10;AI 生成的内容可能不正确。">
            <a:extLst>
              <a:ext uri="{FF2B5EF4-FFF2-40B4-BE49-F238E27FC236}">
                <a16:creationId xmlns:a16="http://schemas.microsoft.com/office/drawing/2014/main" id="{2D755BC6-11A4-AB4F-82C4-7D72E68497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9276" y="1921978"/>
            <a:ext cx="2756605" cy="1943043"/>
          </a:xfrm>
          <a:prstGeom prst="rect">
            <a:avLst/>
          </a:prstGeom>
        </p:spPr>
      </p:pic>
      <p:pic>
        <p:nvPicPr>
          <p:cNvPr id="24" name="图片 23" descr="图片包含 游戏机, 电子, 话筒&#10;&#10;AI 生成的内容可能不正确。">
            <a:extLst>
              <a:ext uri="{FF2B5EF4-FFF2-40B4-BE49-F238E27FC236}">
                <a16:creationId xmlns:a16="http://schemas.microsoft.com/office/drawing/2014/main" id="{05ABBC76-8285-ED41-C0B6-3A0814376C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06" y="4520045"/>
            <a:ext cx="3221190" cy="1846292"/>
          </a:xfrm>
          <a:prstGeom prst="rect">
            <a:avLst/>
          </a:prstGeom>
        </p:spPr>
      </p:pic>
      <p:pic>
        <p:nvPicPr>
          <p:cNvPr id="26" name="图片 25" descr="图片包含 话筒, 游戏机&#10;&#10;AI 生成的内容可能不正确。">
            <a:extLst>
              <a:ext uri="{FF2B5EF4-FFF2-40B4-BE49-F238E27FC236}">
                <a16:creationId xmlns:a16="http://schemas.microsoft.com/office/drawing/2014/main" id="{692B1706-FDE3-3DB5-B607-D0A02DAE20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719" y="4552647"/>
            <a:ext cx="2951018" cy="1781088"/>
          </a:xfrm>
          <a:prstGeom prst="rect">
            <a:avLst/>
          </a:prstGeom>
        </p:spPr>
      </p:pic>
      <p:pic>
        <p:nvPicPr>
          <p:cNvPr id="28" name="图片 27" descr="图示, 工程绘图&#10;&#10;AI 生成的内容可能不正确。">
            <a:extLst>
              <a:ext uri="{FF2B5EF4-FFF2-40B4-BE49-F238E27FC236}">
                <a16:creationId xmlns:a16="http://schemas.microsoft.com/office/drawing/2014/main" id="{E3AE8A6F-ECF0-CF81-72F3-A63D51245F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3294" y="4439708"/>
            <a:ext cx="2428568" cy="20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9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2EC7C-6960-7EFD-2B46-25A8837E5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0BA7EE98-90E2-1FD3-65E1-7902690D96A1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FA38026-B17F-CD37-BAFB-C535E9A81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E6D4E67-2C1E-AA7E-53DC-639F3FE8E002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EA7ECD4E-B21F-EB65-5CC5-50F894D9E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介绍几个新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的设计与想法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290565C4-084A-EEF0-FDE0-2EB5E689E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30A862-A58D-793A-2404-8EE0017FC568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设计创新点</a:t>
            </a:r>
          </a:p>
        </p:txBody>
      </p:sp>
    </p:spTree>
    <p:extLst>
      <p:ext uri="{BB962C8B-B14F-4D97-AF65-F5344CB8AC3E}">
        <p14:creationId xmlns:p14="http://schemas.microsoft.com/office/powerpoint/2010/main" val="348841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03F8C-C045-90F0-A222-070B3578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桌子上的自行车&#10;&#10;AI 生成的内容可能不正确。">
            <a:extLst>
              <a:ext uri="{FF2B5EF4-FFF2-40B4-BE49-F238E27FC236}">
                <a16:creationId xmlns:a16="http://schemas.microsoft.com/office/drawing/2014/main" id="{53F2C2EB-0F6B-A840-8CF6-B741279F1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0" y="1809894"/>
            <a:ext cx="3784600" cy="504810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C1B2792-69C3-C466-E7EA-417A80EC82BB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5C7ACAF-8F2B-8C90-6AD1-DE98EC32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41BCEB-F417-F8EE-344B-EB83CCF99B93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A80A810-8913-F220-68A6-39FB751BF7F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BED67F-C6E3-54D0-A374-0D2BCA9AD6F1}"/>
              </a:ext>
            </a:extLst>
          </p:cNvPr>
          <p:cNvSpPr txBox="1"/>
          <p:nvPr/>
        </p:nvSpPr>
        <p:spPr>
          <a:xfrm>
            <a:off x="2025282" y="1080655"/>
            <a:ext cx="314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此为小车顶部空间利用对比</a:t>
            </a:r>
            <a:endParaRPr lang="en-US" altLang="zh-CN" dirty="0"/>
          </a:p>
        </p:txBody>
      </p:sp>
      <p:pic>
        <p:nvPicPr>
          <p:cNvPr id="8" name="图片 7" descr="图形用户界面&#10;&#10;AI 生成的内容可能不正确。">
            <a:extLst>
              <a:ext uri="{FF2B5EF4-FFF2-40B4-BE49-F238E27FC236}">
                <a16:creationId xmlns:a16="http://schemas.microsoft.com/office/drawing/2014/main" id="{FC76BB59-EA35-BB89-08C1-6A41ABF10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477" y="3933706"/>
            <a:ext cx="3446922" cy="29242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AF77E09-B848-EE90-83CE-E6BE1D561686}"/>
                  </a:ext>
                </a:extLst>
              </p14:cNvPr>
              <p14:cNvContentPartPr/>
              <p14:nvPr/>
            </p14:nvContentPartPr>
            <p14:xfrm>
              <a:off x="5671560" y="4423710"/>
              <a:ext cx="424440" cy="3085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AF77E09-B848-EE90-83CE-E6BE1D5616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65440" y="4417590"/>
                <a:ext cx="43668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87E026B5-A712-4BB8-B2CA-CDEDC88F31DB}"/>
                  </a:ext>
                </a:extLst>
              </p14:cNvPr>
              <p14:cNvContentPartPr/>
              <p14:nvPr/>
            </p14:nvContentPartPr>
            <p14:xfrm>
              <a:off x="9931840" y="2283330"/>
              <a:ext cx="611280" cy="5814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87E026B5-A712-4BB8-B2CA-CDEDC88F31D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25720" y="2277210"/>
                <a:ext cx="62352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172A7160-13E0-4E47-CAFB-15E615D23D16}"/>
                  </a:ext>
                </a:extLst>
              </p14:cNvPr>
              <p14:cNvContentPartPr/>
              <p14:nvPr/>
            </p14:nvContentPartPr>
            <p14:xfrm>
              <a:off x="10102480" y="5851650"/>
              <a:ext cx="842760" cy="7995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172A7160-13E0-4E47-CAFB-15E615D23D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96357" y="5845530"/>
                <a:ext cx="855005" cy="81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F39532B9-14E3-9F1E-6A2B-2E2431CB04D6}"/>
                  </a:ext>
                </a:extLst>
              </p14:cNvPr>
              <p14:cNvContentPartPr/>
              <p14:nvPr/>
            </p14:nvContentPartPr>
            <p14:xfrm>
              <a:off x="6982360" y="4271610"/>
              <a:ext cx="381240" cy="46062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F39532B9-14E3-9F1E-6A2B-2E2431CB04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76240" y="4265488"/>
                <a:ext cx="393480" cy="4728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C2B3528C-9532-8C89-9398-501F941CEF01}"/>
                  </a:ext>
                </a:extLst>
              </p14:cNvPr>
              <p14:cNvContentPartPr/>
              <p14:nvPr/>
            </p14:nvContentPartPr>
            <p14:xfrm>
              <a:off x="5452620" y="6262770"/>
              <a:ext cx="536760" cy="34308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C2B3528C-9532-8C89-9398-501F941CEF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446500" y="6256656"/>
                <a:ext cx="549000" cy="3553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77AA83C2-85A5-3687-D076-072E8EB3E047}"/>
                  </a:ext>
                </a:extLst>
              </p14:cNvPr>
              <p14:cNvContentPartPr/>
              <p14:nvPr/>
            </p14:nvContentPartPr>
            <p14:xfrm>
              <a:off x="6836920" y="6279690"/>
              <a:ext cx="599400" cy="32616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77AA83C2-85A5-3687-D076-072E8EB3E04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830800" y="6273570"/>
                <a:ext cx="611640" cy="3384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72022C0C-4D14-B0E0-2910-6D38301DA40C}"/>
              </a:ext>
            </a:extLst>
          </p:cNvPr>
          <p:cNvSpPr txBox="1"/>
          <p:nvPr/>
        </p:nvSpPr>
        <p:spPr>
          <a:xfrm>
            <a:off x="2018932" y="2000965"/>
            <a:ext cx="6121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本设计底部螺丝直接与外壳相连接，总体安装比右图红圈标注的地方的螺母连接更易连接（本设计还有很多有代表性的这类设计，只是使用这一典型设计做声明）</a:t>
            </a:r>
            <a:endParaRPr lang="en-US" altLang="zh-CN" dirty="0"/>
          </a:p>
        </p:txBody>
      </p:sp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794ABE3B-959D-4907-31F6-9693E7F71B6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655" y="4423710"/>
            <a:ext cx="2882057" cy="203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176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20043-3752-6B5B-403D-9898552D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860C2E-D041-938F-7BF3-4F968BF8D321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C4C69D-A9D3-394E-B0FB-D701950D3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59AC269-712C-6EEF-0FE7-E187850D887E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78EB67BA-7F2B-3602-45FC-3077F436A0E4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31735C-40BD-4519-F00D-5955AA9FE67D}"/>
              </a:ext>
            </a:extLst>
          </p:cNvPr>
          <p:cNvSpPr txBox="1"/>
          <p:nvPr/>
        </p:nvSpPr>
        <p:spPr>
          <a:xfrm>
            <a:off x="2463432" y="5647241"/>
            <a:ext cx="331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我们设计的布局紧凑结构合理</a:t>
            </a:r>
            <a:endParaRPr lang="en-US" altLang="zh-CN" dirty="0"/>
          </a:p>
        </p:txBody>
      </p:sp>
      <p:pic>
        <p:nvPicPr>
          <p:cNvPr id="8" name="图片 7" descr="桌子上放着几个行李箱&#10;&#10;AI 生成的内容可能不正确。">
            <a:extLst>
              <a:ext uri="{FF2B5EF4-FFF2-40B4-BE49-F238E27FC236}">
                <a16:creationId xmlns:a16="http://schemas.microsoft.com/office/drawing/2014/main" id="{D28099D9-5479-6C4C-8DF0-7D3E6ACFA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30868"/>
            <a:ext cx="3870856" cy="29020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38B731-DE51-5CE2-BDC0-6D626EFE2FDC}"/>
              </a:ext>
            </a:extLst>
          </p:cNvPr>
          <p:cNvSpPr txBox="1"/>
          <p:nvPr/>
        </p:nvSpPr>
        <p:spPr>
          <a:xfrm>
            <a:off x="6152782" y="5647241"/>
            <a:ext cx="3315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原先的较多空间浪费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5F7EE6-F8C4-A597-FC53-082F9C77DA58}"/>
              </a:ext>
            </a:extLst>
          </p:cNvPr>
          <p:cNvSpPr txBox="1"/>
          <p:nvPr/>
        </p:nvSpPr>
        <p:spPr>
          <a:xfrm>
            <a:off x="2025282" y="1065541"/>
            <a:ext cx="5663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此为小车内部结构的对比</a:t>
            </a:r>
            <a:r>
              <a:rPr lang="en-US" altLang="zh-CN" sz="2000" b="1" dirty="0"/>
              <a:t>,</a:t>
            </a:r>
            <a:r>
              <a:rPr lang="zh-CN" altLang="en-US" sz="2000" b="1" dirty="0"/>
              <a:t>我们在设计时极大的提高的轻型</a:t>
            </a:r>
            <a:r>
              <a:rPr lang="en-US" altLang="zh-CN" sz="2000" b="1" dirty="0"/>
              <a:t>AGV</a:t>
            </a:r>
            <a:r>
              <a:rPr lang="zh-CN" altLang="en-US" sz="2000" b="1" dirty="0"/>
              <a:t>小车的集成度</a:t>
            </a:r>
            <a:endParaRPr lang="en-US" altLang="zh-CN" sz="2000" b="1" dirty="0"/>
          </a:p>
        </p:txBody>
      </p:sp>
      <p:pic>
        <p:nvPicPr>
          <p:cNvPr id="11" name="图片 10" descr="图示, 工程绘图&#10;&#10;AI 生成的内容可能不正确。">
            <a:extLst>
              <a:ext uri="{FF2B5EF4-FFF2-40B4-BE49-F238E27FC236}">
                <a16:creationId xmlns:a16="http://schemas.microsoft.com/office/drawing/2014/main" id="{476245EA-4B80-ACE8-C6D3-4266F76754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369" y="2465938"/>
            <a:ext cx="3469193" cy="286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1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E3B45-CCB9-4C47-4066-6CF2606E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770353-D84D-1ECA-D72B-2B275BC24BB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63D687-E012-6FBD-F753-CFEA6233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1BA7F92-D9CE-8A0C-B511-4C88D3ECEE48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242F033-DCD9-F194-93B4-DC4D33BE030F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设计创新点</a:t>
            </a:r>
          </a:p>
        </p:txBody>
      </p:sp>
      <p:pic>
        <p:nvPicPr>
          <p:cNvPr id="2" name="图片 1" descr="图片包含 游戏机, 电子, 话筒, 桌子&#10;&#10;AI 生成的内容可能不正确。">
            <a:extLst>
              <a:ext uri="{FF2B5EF4-FFF2-40B4-BE49-F238E27FC236}">
                <a16:creationId xmlns:a16="http://schemas.microsoft.com/office/drawing/2014/main" id="{20985C99-B5FA-0B90-D981-B576D4F23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479" y="1080655"/>
            <a:ext cx="3518401" cy="2136529"/>
          </a:xfrm>
          <a:prstGeom prst="rect">
            <a:avLst/>
          </a:prstGeom>
        </p:spPr>
      </p:pic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B271C9E-9789-0882-232F-4E92E8F60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479" y="3640817"/>
            <a:ext cx="3174772" cy="230278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3C35CDF-9F05-3EB5-E5A2-A08F7017EBBA}"/>
              </a:ext>
            </a:extLst>
          </p:cNvPr>
          <p:cNvSpPr txBox="1"/>
          <p:nvPr/>
        </p:nvSpPr>
        <p:spPr>
          <a:xfrm>
            <a:off x="2231406" y="1410255"/>
            <a:ext cx="49713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 </a:t>
            </a:r>
            <a:r>
              <a:rPr lang="zh-CN" altLang="en-US" sz="2400" b="1" dirty="0"/>
              <a:t>原先的设计使用螺栓进行锁紧并提供纵向拉力，所有力汇集到螺栓上面，受力非常不合理。</a:t>
            </a:r>
            <a:endParaRPr lang="en-US" altLang="zh-CN" sz="2400" b="1" dirty="0"/>
          </a:p>
          <a:p>
            <a:r>
              <a:rPr lang="en-US" altLang="zh-CN" sz="2400" b="1" dirty="0"/>
              <a:t>      </a:t>
            </a:r>
            <a:r>
              <a:rPr lang="zh-CN" altLang="en-US" sz="2400" b="1" dirty="0"/>
              <a:t>我们的设计使用悬挂直接与底板解除传导力，不仅螺栓受力更合理，而且支撑架的受力同样更合理。悬挂的顶部直接是支撑架，底盘不传导车体本身重量以外的其他力是非承载式底盘。</a:t>
            </a:r>
            <a:endParaRPr lang="en-US" altLang="zh-CN" sz="2400" b="1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244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93E230-D23D-B963-D27F-CE6D0C2B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288221B-A446-666D-92CB-0F0BF1CDDC89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0E42A88-06D6-00B5-9DD2-3BF1F26DD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7A354F-AF57-7422-DDE5-81A1986399EE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D31E354-877F-B5F2-73B4-AA7F720A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设计遇到的</a:t>
            </a:r>
            <a:endParaRPr lang="en-US" altLang="zh-CN" sz="3200" b="1" dirty="0">
              <a:solidFill>
                <a:schemeClr val="bg1"/>
              </a:solidFill>
              <a:latin typeface="+mn-ea"/>
            </a:endParaRPr>
          </a:p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不确定和难点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78FBE7A-40FE-3C72-D9B7-5F238B238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87A3EB-05B5-DA0C-754A-2BACB7C60432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主要设计难点</a:t>
            </a:r>
          </a:p>
        </p:txBody>
      </p:sp>
    </p:spTree>
    <p:extLst>
      <p:ext uri="{BB962C8B-B14F-4D97-AF65-F5344CB8AC3E}">
        <p14:creationId xmlns:p14="http://schemas.microsoft.com/office/powerpoint/2010/main" val="3047416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ADB015-7DC2-4F08-710E-193AC6B81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B1F38C-5B59-6582-F138-A9D5667D8250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E9DF26-9375-36B1-CF45-4E30B265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4B2C2D2-DA16-5F2D-B086-7531318C0D89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64B9A6A-1F5A-CA42-95E8-90BF5132E32D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2" name="图片 1" descr="图片包含 游戏机, 桌子, 雪, 男人&#10;&#10;AI 生成的内容可能不正确。">
            <a:extLst>
              <a:ext uri="{FF2B5EF4-FFF2-40B4-BE49-F238E27FC236}">
                <a16:creationId xmlns:a16="http://schemas.microsoft.com/office/drawing/2014/main" id="{93AE0AA5-5D1A-0BF0-9940-5472A97F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750" y="1796554"/>
            <a:ext cx="4557897" cy="360577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5B7260E-446B-E167-E7AB-FA6018459274}"/>
              </a:ext>
            </a:extLst>
          </p:cNvPr>
          <p:cNvSpPr txBox="1"/>
          <p:nvPr/>
        </p:nvSpPr>
        <p:spPr>
          <a:xfrm>
            <a:off x="2231406" y="2828835"/>
            <a:ext cx="4114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该轻型</a:t>
            </a:r>
            <a:r>
              <a:rPr lang="en-US" altLang="zh-CN" sz="2400" b="1" dirty="0"/>
              <a:t>AGV</a:t>
            </a:r>
            <a:r>
              <a:rPr lang="zh-CN" altLang="en-US" sz="2400" b="1" dirty="0"/>
              <a:t>小车整体尺寸为</a:t>
            </a:r>
            <a:r>
              <a:rPr lang="en-US" altLang="zh-CN" sz="2400" b="1" dirty="0"/>
              <a:t>517*468.5*242mm,</a:t>
            </a:r>
            <a:r>
              <a:rPr lang="zh-CN" altLang="en-US" sz="2400" b="1" dirty="0"/>
              <a:t>未达到当时控制体积的目的，横向最大长度超过了同类型产品</a:t>
            </a:r>
            <a:r>
              <a:rPr lang="en-US" altLang="zh-CN" sz="2400" b="1" dirty="0"/>
              <a:t>500mm</a:t>
            </a:r>
            <a:r>
              <a:rPr lang="zh-CN" altLang="en-US" sz="2400" b="1" dirty="0"/>
              <a:t>的长度</a:t>
            </a:r>
          </a:p>
        </p:txBody>
      </p:sp>
    </p:spTree>
    <p:extLst>
      <p:ext uri="{BB962C8B-B14F-4D97-AF65-F5344CB8AC3E}">
        <p14:creationId xmlns:p14="http://schemas.microsoft.com/office/powerpoint/2010/main" val="240580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D2D43-DEE3-B75E-637B-B0F4B7AC9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0C7F41B-A665-5E04-71D6-3E29222DA6F3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719459-33EF-30D8-A966-CE1F1D18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D5B362D-720E-5B69-5579-842BC1C1A454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9D74187-D9FF-008C-4D63-99989B54BF3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3" name="图片 2" descr="电子仪器&#10;&#10;AI 生成的内容可能不正确。">
            <a:extLst>
              <a:ext uri="{FF2B5EF4-FFF2-40B4-BE49-F238E27FC236}">
                <a16:creationId xmlns:a16="http://schemas.microsoft.com/office/drawing/2014/main" id="{189A81CF-32ED-9DC2-0722-810BA23F4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816" y="1080655"/>
            <a:ext cx="3960468" cy="2633981"/>
          </a:xfrm>
          <a:prstGeom prst="rect">
            <a:avLst/>
          </a:prstGeom>
        </p:spPr>
      </p:pic>
      <p:pic>
        <p:nvPicPr>
          <p:cNvPr id="9" name="图片 8" descr="图片包含 游戏机, 电脑&#10;&#10;AI 生成的内容可能不正确。">
            <a:extLst>
              <a:ext uri="{FF2B5EF4-FFF2-40B4-BE49-F238E27FC236}">
                <a16:creationId xmlns:a16="http://schemas.microsoft.com/office/drawing/2014/main" id="{B5AE06A1-D796-6C89-D5C1-87BDC229D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033" y="3688771"/>
            <a:ext cx="4064035" cy="275359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7580D5E-0C3E-BD97-DDBD-18A8CE578047}"/>
              </a:ext>
            </a:extLst>
          </p:cNvPr>
          <p:cNvSpPr txBox="1"/>
          <p:nvPr/>
        </p:nvSpPr>
        <p:spPr>
          <a:xfrm>
            <a:off x="2648894" y="2187172"/>
            <a:ext cx="34471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电池盒装配仍有问题，电池盒上沿仍有空隙，小车遇障颠簸可能会使电池盒跃起与顶上螺栓发生碰撞引燃</a:t>
            </a:r>
          </a:p>
        </p:txBody>
      </p:sp>
    </p:spTree>
    <p:extLst>
      <p:ext uri="{BB962C8B-B14F-4D97-AF65-F5344CB8AC3E}">
        <p14:creationId xmlns:p14="http://schemas.microsoft.com/office/powerpoint/2010/main" val="1071050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C00F-8887-D131-E19F-062507C3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838823-4074-60FD-918B-DE20F96E103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67DDDE5-88D1-ED94-75DA-6EE20BFB3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C14F729-D65E-9381-2DF8-4FE946E3DAA0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989CFC-3E03-0F59-D0E9-0CAA82EC17A0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主要设计难点</a:t>
            </a:r>
          </a:p>
        </p:txBody>
      </p:sp>
      <p:pic>
        <p:nvPicPr>
          <p:cNvPr id="3" name="图片 2" descr="图片包含 室内, 卡车, 桌子, 小&#10;&#10;AI 生成的内容可能不正确。">
            <a:extLst>
              <a:ext uri="{FF2B5EF4-FFF2-40B4-BE49-F238E27FC236}">
                <a16:creationId xmlns:a16="http://schemas.microsoft.com/office/drawing/2014/main" id="{CB332CEB-BA07-098F-585B-E69782BDF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792" y="1194351"/>
            <a:ext cx="3102763" cy="2234649"/>
          </a:xfrm>
          <a:prstGeom prst="rect">
            <a:avLst/>
          </a:prstGeom>
        </p:spPr>
      </p:pic>
      <p:pic>
        <p:nvPicPr>
          <p:cNvPr id="9" name="图片 8" descr="图片包含 玩具, 乐高, 盒子, 桌子&#10;&#10;AI 生成的内容可能不正确。">
            <a:extLst>
              <a:ext uri="{FF2B5EF4-FFF2-40B4-BE49-F238E27FC236}">
                <a16:creationId xmlns:a16="http://schemas.microsoft.com/office/drawing/2014/main" id="{193B272B-56B4-F1DD-CC2B-24D91EE6A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792" y="3429000"/>
            <a:ext cx="3237843" cy="261673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F64EFBA-C31A-AE01-54FE-32C7D857DA6B}"/>
              </a:ext>
            </a:extLst>
          </p:cNvPr>
          <p:cNvSpPr txBox="1"/>
          <p:nvPr/>
        </p:nvSpPr>
        <p:spPr>
          <a:xfrm>
            <a:off x="2670464" y="2430267"/>
            <a:ext cx="3501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小车内壳有前后两壳拼接而成，螺栓需要从内部加装，这使得组装十分不便利</a:t>
            </a:r>
          </a:p>
        </p:txBody>
      </p:sp>
    </p:spTree>
    <p:extLst>
      <p:ext uri="{BB962C8B-B14F-4D97-AF65-F5344CB8AC3E}">
        <p14:creationId xmlns:p14="http://schemas.microsoft.com/office/powerpoint/2010/main" val="3306696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B166B-DF22-82F8-A374-B42F4283E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B853696-25E0-648F-25C1-4C1C045C864A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1EFA7DE-FEF6-E362-B42B-D411307F9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A2F2127-8289-3911-873B-B8B458DCDD53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D0674884-996F-82E0-017A-4ECABC69E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751" y="4900655"/>
            <a:ext cx="3517260" cy="1205494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接下来需要做部分未达到的遗憾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5A6E5C74-36FF-DC30-7F88-FEE1AE67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C67AC4-919A-C2E0-F471-E99DB7D5C825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接下来的规划</a:t>
            </a:r>
          </a:p>
        </p:txBody>
      </p:sp>
    </p:spTree>
    <p:extLst>
      <p:ext uri="{BB962C8B-B14F-4D97-AF65-F5344CB8AC3E}">
        <p14:creationId xmlns:p14="http://schemas.microsoft.com/office/powerpoint/2010/main" val="299544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B666-6CF1-A393-0663-AD1A9AC88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621D31-4CB9-B274-8807-DA2D65816D1C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EFAC7E-ED01-F63E-5E85-42EF43E01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5533B91-FB62-3FF3-6962-B25DAA8A4A9F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BDF3B1CF-7975-4412-98F0-32FF72F44D38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接下来的规划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B10A87C-D886-BAFC-D2FB-D35FCA0FCC73}"/>
              </a:ext>
            </a:extLst>
          </p:cNvPr>
          <p:cNvSpPr txBox="1"/>
          <p:nvPr/>
        </p:nvSpPr>
        <p:spPr>
          <a:xfrm>
            <a:off x="2369127" y="1983009"/>
            <a:ext cx="50084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1</a:t>
            </a:r>
            <a:r>
              <a:rPr lang="zh-CN" altLang="en-US" sz="2400" b="1" dirty="0"/>
              <a:t>、继续改进模型设计问题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en-US" altLang="zh-CN" sz="2400" b="1" dirty="0"/>
              <a:t>2</a:t>
            </a:r>
            <a:r>
              <a:rPr lang="zh-CN" altLang="en-US" sz="2400" b="1" dirty="0"/>
              <a:t>、第二版</a:t>
            </a:r>
            <a:r>
              <a:rPr lang="en-US" altLang="zh-CN" sz="2400" b="1" dirty="0"/>
              <a:t>BOM</a:t>
            </a:r>
            <a:r>
              <a:rPr lang="zh-CN" altLang="en-US" sz="2400" b="1" dirty="0"/>
              <a:t>完成（分成机械电器两个）</a:t>
            </a:r>
          </a:p>
        </p:txBody>
      </p:sp>
    </p:spTree>
    <p:extLst>
      <p:ext uri="{BB962C8B-B14F-4D97-AF65-F5344CB8AC3E}">
        <p14:creationId xmlns:p14="http://schemas.microsoft.com/office/powerpoint/2010/main" val="782037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FE05B-7645-F94F-C588-20C92F4E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484ED5-7D05-E6FB-7077-019C0E601A5D}"/>
              </a:ext>
            </a:extLst>
          </p:cNvPr>
          <p:cNvSpPr/>
          <p:nvPr/>
        </p:nvSpPr>
        <p:spPr>
          <a:xfrm>
            <a:off x="0" y="4053249"/>
            <a:ext cx="12192000" cy="2709193"/>
          </a:xfrm>
          <a:prstGeom prst="rect">
            <a:avLst/>
          </a:prstGeom>
          <a:solidFill>
            <a:srgbClr val="177D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80F4548-9FA0-22E8-7EB7-2A8472CFA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91729F9D-AE1B-2A1B-F0C9-5D7752704456}"/>
              </a:ext>
            </a:extLst>
          </p:cNvPr>
          <p:cNvSpPr/>
          <p:nvPr/>
        </p:nvSpPr>
        <p:spPr>
          <a:xfrm>
            <a:off x="0" y="4148805"/>
            <a:ext cx="12192000" cy="2709193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41521101-0052-C9AE-2B42-EE4744E60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95" y="6106149"/>
            <a:ext cx="5721796" cy="440494"/>
          </a:xfrm>
          <a:prstGeom prst="rect">
            <a:avLst/>
          </a:prstGeom>
          <a:noFill/>
          <a:ln w="9525">
            <a:noFill/>
            <a:bevel/>
          </a:ln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1400" b="1" dirty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AIR-Tech@ </a:t>
            </a:r>
            <a:fld id="{5853BA87-C0A4-4D40-A7D0-264FBDFF6174}" type="datetime9">
              <a:rPr lang="en-US" altLang="zh-CN" sz="1400" b="1" dirty="0" smtClean="0">
                <a:solidFill>
                  <a:schemeClr val="accent4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11/24/2025 5:24:34 PM</a:t>
            </a:fld>
            <a:endParaRPr lang="zh-CN" altLang="en-US" sz="1400" b="1" dirty="0">
              <a:solidFill>
                <a:schemeClr val="accent4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611506-9CF2-CED6-0673-98E0CC70569D}"/>
              </a:ext>
            </a:extLst>
          </p:cNvPr>
          <p:cNvSpPr txBox="1"/>
          <p:nvPr/>
        </p:nvSpPr>
        <p:spPr>
          <a:xfrm>
            <a:off x="3045093" y="2249386"/>
            <a:ext cx="60949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/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115572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FB84F-8C3A-DF2B-5AB3-1A1838206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D6BE0FD-4A42-40D8-5892-C79B4FE45942}"/>
              </a:ext>
            </a:extLst>
          </p:cNvPr>
          <p:cNvSpPr/>
          <p:nvPr/>
        </p:nvSpPr>
        <p:spPr>
          <a:xfrm>
            <a:off x="0" y="944628"/>
            <a:ext cx="2025283" cy="5913372"/>
          </a:xfrm>
          <a:prstGeom prst="rect">
            <a:avLst/>
          </a:prstGeom>
          <a:solidFill>
            <a:srgbClr val="197D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A0F46C-3724-3D13-B529-BF623E71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95" y="197312"/>
            <a:ext cx="1741460" cy="58600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887F5B3-B8AC-FF1E-4F10-527D3E858F0B}"/>
              </a:ext>
            </a:extLst>
          </p:cNvPr>
          <p:cNvSpPr/>
          <p:nvPr/>
        </p:nvSpPr>
        <p:spPr>
          <a:xfrm>
            <a:off x="-1" y="1080655"/>
            <a:ext cx="2025283" cy="5777345"/>
          </a:xfrm>
          <a:prstGeom prst="rect">
            <a:avLst/>
          </a:prstGeom>
          <a:solidFill>
            <a:srgbClr val="0048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9962419-950E-2F5C-3A2B-CC4EE1AB3A23}"/>
              </a:ext>
            </a:extLst>
          </p:cNvPr>
          <p:cNvSpPr txBox="1">
            <a:spLocks/>
          </p:cNvSpPr>
          <p:nvPr/>
        </p:nvSpPr>
        <p:spPr>
          <a:xfrm>
            <a:off x="2231406" y="197312"/>
            <a:ext cx="4412506" cy="647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+mn-ea"/>
                <a:ea typeface="+mn-ea"/>
              </a:rPr>
              <a:t>总结与展望</a:t>
            </a:r>
          </a:p>
        </p:txBody>
      </p:sp>
      <p:pic>
        <p:nvPicPr>
          <p:cNvPr id="3" name="图片 2" descr="图片包含 游戏机, 桌子, 雪, 男人&#10;&#10;AI 生成的内容可能不正确。">
            <a:extLst>
              <a:ext uri="{FF2B5EF4-FFF2-40B4-BE49-F238E27FC236}">
                <a16:creationId xmlns:a16="http://schemas.microsoft.com/office/drawing/2014/main" id="{CCEAF2CD-7E7E-749B-42B1-68B7E4109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5459" y="1902171"/>
            <a:ext cx="4150795" cy="32837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E3558D-D35A-C60C-11A6-B38B328580EF}"/>
              </a:ext>
            </a:extLst>
          </p:cNvPr>
          <p:cNvSpPr txBox="1"/>
          <p:nvPr/>
        </p:nvSpPr>
        <p:spPr>
          <a:xfrm>
            <a:off x="2466276" y="1693718"/>
            <a:ext cx="431898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       本轻型</a:t>
            </a:r>
            <a:r>
              <a:rPr lang="en-US" altLang="zh-CN" sz="2000" b="1" dirty="0"/>
              <a:t>AGV</a:t>
            </a:r>
            <a:r>
              <a:rPr lang="zh-CN" altLang="en-US" sz="2000" b="1" dirty="0"/>
              <a:t>小车设计项目旨在为迎宾机器人设计一个移动底盘。本轻型</a:t>
            </a:r>
            <a:r>
              <a:rPr lang="en-US" altLang="zh-CN" sz="2000" b="1" dirty="0"/>
              <a:t>AGV</a:t>
            </a:r>
            <a:r>
              <a:rPr lang="zh-CN" altLang="en-US" sz="2000" b="1" dirty="0"/>
              <a:t>小车设计项目已顺利完成阶段性目标，核心技术指标达到预期，为后续产业化发展奠定了坚实基础。项目实施过程中积累的技术经验与问题反思，将为后续优化提供重要支撑。未来，团队将以技术创新为核心，以市场需求为导向，持续提升产品性能与应用价值，推动轻型</a:t>
            </a:r>
            <a:r>
              <a:rPr lang="en-US" altLang="zh-CN" sz="2000" b="1" dirty="0"/>
              <a:t>AGV</a:t>
            </a:r>
            <a:r>
              <a:rPr lang="zh-CN" altLang="en-US" sz="2000" b="1" dirty="0"/>
              <a:t>小车在更多领域的普及应用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0348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634</Words>
  <Application>Microsoft Office PowerPoint</Application>
  <PresentationFormat>宽屏</PresentationFormat>
  <Paragraphs>81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c0 ex</dc:creator>
  <cp:lastModifiedBy>齐权 王</cp:lastModifiedBy>
  <cp:revision>7</cp:revision>
  <dcterms:created xsi:type="dcterms:W3CDTF">2025-09-25T15:24:44Z</dcterms:created>
  <dcterms:modified xsi:type="dcterms:W3CDTF">2025-11-24T11:02:44Z</dcterms:modified>
</cp:coreProperties>
</file>