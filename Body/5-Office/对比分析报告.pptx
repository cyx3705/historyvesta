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8" r:id="rId3"/>
    <p:sldId id="259" r:id="rId4"/>
    <p:sldId id="260" r:id="rId5"/>
    <p:sldId id="288" r:id="rId6"/>
    <p:sldId id="290" r:id="rId7"/>
    <p:sldId id="291" r:id="rId8"/>
    <p:sldId id="292" r:id="rId9"/>
    <p:sldId id="293" r:id="rId10"/>
    <p:sldId id="282" r:id="rId11"/>
    <p:sldId id="285" r:id="rId12"/>
    <p:sldId id="283" r:id="rId13"/>
    <p:sldId id="28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" y="1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6:23:51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534 37 24575,'0'-1'0,"-1"0"0,1 0 0,-1 1 0,0-1 0,1 0 0,-1 0 0,1 1 0,-1-1 0,0 0 0,0 1 0,1-1 0,-1 1 0,0-1 0,0 1 0,0-1 0,0 1 0,0 0 0,1-1 0,-1 1 0,0 0 0,0 0 0,0 0 0,0 0 0,-2 0 0,-28-4 0,28 4 0,-29 1 0,0 1 0,1 1 0,0 2 0,0 2 0,0 0 0,0 2 0,1 1 0,-43 22 0,63-28 0,1 0 0,-1 1 0,1 0 0,1 0 0,-1 1 0,1 0 0,0 0 0,0 1 0,1 0 0,-1 1 0,2-1 0,-1 1 0,1 1 0,0-1 0,1 1 0,0 0 0,1 0 0,-1 1 0,2-1 0,-1 1 0,2 0 0,-1 0 0,1 0 0,1 0 0,-1 0 0,2 20 0,-1-5 0,0 6 0,1-1 0,2 1 0,1 0 0,7 33 0,-8-56 0,0 0 0,1 0 0,-1-1 0,2 1 0,-1-1 0,1 0 0,0 0 0,1 0 0,-1 0 0,1-1 0,1 0 0,-1 0 0,1 0 0,0-1 0,1 1 0,-1-1 0,1-1 0,0 0 0,0 0 0,12 5 0,100 28 0,-24-9 0,-46-14 0,1-2 0,61 7 0,-51-10 0,65 19 0,-90-19 0,0-1 0,0-1 0,58 2 0,-71-8 0,-1-1 0,1-1 0,-1-1 0,1-1 0,-1-1 0,0-1 0,27-9 0,-45 12 0,0 0 0,0 0 0,0 0 0,0 0 0,-1-1 0,1 1 0,0-1 0,-1 1 0,0-1 0,0 0 0,0 0 0,0 0 0,0-1 0,0 1 0,-1 0 0,0-1 0,1 1 0,-1-1 0,0 1 0,-1-1 0,1 1 0,-1-1 0,0 0 0,0 1 0,0-1 0,-1-6 0,0-3 0,0 0 0,-1 1 0,0-1 0,-2 1 0,1-1 0,-9-18 0,-27-40 0,-3 2 0,-2 2 0,-74-85 0,78 101 0,14 18-120,-59-70 373,75 92-467,0 1 0,-1 1 0,-1-1 0,1 2 0,-1 0 0,-24-12 0,12 10-6612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6:23:59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1004 113 24575,'-78'4'0,"0"4"0,-124 27 0,73-10 0,77-16 0,-48 8 0,-139 41 0,232-56 0,1 0 0,0 1 0,0-1 0,0 1 0,0 0 0,0 0 0,1 1 0,-1 0 0,1 0 0,0 0 0,-9 10 0,11-8 0,0-1 0,0 1 0,1-1 0,-1 1 0,1 0 0,0 0 0,1-1 0,-1 2 0,1-1 0,1 0 0,-1 0 0,1 11 0,-12 220 0,-1 52 0,14-239 0,2-1 0,3 0 0,20 88 0,-19-118 0,0 1 0,2-1 0,0-1 0,1 1 0,1-2 0,1 1 0,1-2 0,0 1 0,1-2 0,17 16 0,-21-23 0,-1 0 0,2 0 0,-1-1 0,1-1 0,0 1 0,0-2 0,1 0 0,15 5 0,102 23 0,-112-29 0,473 59 0,-421-57 0,98 9 0,224-10 0,-386-5 0,0 0 0,0 0 0,0-1 0,0 0 0,0 0 0,0 0 0,-1-1 0,1 1 0,0-1 0,-1 0 0,1 0 0,-1-1 0,0 1 0,0-1 0,6-5 0,-5 2 0,-1 0 0,0 0 0,0 0 0,-1 0 0,0-1 0,0 0 0,0 1 0,-1-1 0,3-13 0,6-30 0,-2-1 0,-2 0 0,0-59 0,-12-157 0,2 229 0,-1 1 0,-1 0 0,-3 0 0,0 0 0,-3 1 0,-1 0 0,-1 1 0,-3 1 0,0 0 0,-2 1 0,-34-47 0,-33-34 0,27 33 0,-4 3 0,-97-97 0,152 169 11,1 1 0,-1-1 0,0 1 0,-1 0 0,1 1 0,-1 0-1,0 0 1,0 0 0,0 1 0,-9-2 0,4 3-259,0 0 1,0 1-1,0 0 1,0 1-1,-25 3 1,22-1-6579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6:24:02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1483 503 24575,'-5'-3'0,"1"0"0,-1 0 0,0 1 0,0-1 0,1 1 0,-2 0 0,1 1 0,0-1 0,0 1 0,0 0 0,-10 0 0,-4-2 0,-161-25 0,-1 9 0,-299 5 0,439 15 0,1 1 0,-1 1 0,-78 19 0,105-18 0,1 0 0,0 1 0,0 1 0,0 0 0,0 0 0,1 2 0,0-1 0,1 2 0,0 0 0,0 0 0,1 0 0,0 2 0,0-1 0,-15 24 0,9-10 0,1 1 0,1 0 0,1 1 0,1 1 0,1 0 0,2 1 0,0 0 0,2 0 0,2 0 0,-5 53 0,10-47 0,1 0 0,2 0 0,1-1 0,17 66 0,54 123 0,-51-158 0,-12-31 0,18 54 0,4-1 0,4-2 0,61 101 0,-82-159 0,1-1 0,2 0 0,1-2 0,0-1 0,40 33 0,-42-41 0,0-2 0,1 1 0,0-2 0,1-1 0,0 0 0,1-2 0,0 0 0,36 7 0,32-3 0,0-4 0,179-7 0,-157-3 0,34 2 0,239-8 0,-359 6 0,1-1 0,-1-1 0,0-1 0,0-1 0,26-11 0,-43 14 0,1-2 0,-1 1 0,0-1 0,0 0 0,0-1 0,-1 0 0,0-1 0,0 0 0,0 0 0,-1 0 0,0-1 0,-1 0 0,0 0 0,0-1 0,8-15 0,17-48 0,-4-2 0,21-84 0,22-155 0,-58 256 0,-3 5 0,-2 0 0,-3-1 0,-2 1 0,-2-1 0,-2 0 0,-3 0 0,-2 1 0,-2 0 0,-2 0 0,-3 1 0,-2 1 0,-2 0 0,-2 1 0,-41-70 0,8 31 0,-3 2 0,-5 3 0,-92-100 0,140 170 0,0 1 0,0 0 0,-2 1 0,-21-13 0,29 20 0,1 1 0,-1-1 0,-1 2 0,1-1 0,0 1 0,-1 0 0,1 0 0,-1 1 0,1 0 0,-1 1 0,0-1 0,1 1 0,-10 2 0,-7 1-170,-1 1-1,0 1 0,1 1 1,0 1-1,0 1 0,0 1 1,-37 22-1,37-15-6655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6:24:04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607 58 24575,'-31'-2'0,"-1"-1"0,1-2 0,-37-10 0,-45-7 0,88 19 0,14 0 0,-1 1 0,0 1 0,0 0 0,0 1 0,0 0 0,0 1 0,0 0 0,-18 4 0,26-1 0,-1-1 0,0 1 0,1 0 0,-1 1 0,1-1 0,0 1 0,1 0 0,-1 0 0,1 0 0,0 0 0,-4 11 0,-17 23 0,8-21 0,1 1 0,1 1 0,1 0 0,-17 33 0,27-45 0,0 0 0,0 0 0,1 0 0,0 1 0,0-1 0,1 1 0,0-1 0,0 1 0,1 0 0,0-1 0,1 1 0,0 0 0,0-1 0,1 1 0,0-1 0,3 10 0,3-5 0,0 0 0,1 0 0,0-1 0,1 0 0,0-1 0,1 0 0,1 0 0,24 17 0,-15-10 0,15 13 0,-12-10 0,44 31 0,-60-47 0,1 0 0,-1 0 0,1-1 0,1 0 0,-1-1 0,0 1 0,1-2 0,-1 0 0,18 2 0,14-2 0,0-2 0,0-2 0,0-1 0,0-2 0,-1-3 0,67-19 0,-39 7 0,-44 15 0,-1-2 0,0 0 0,0-1 0,0-2 0,-2 0 0,1-1 0,29-21 0,-46 27 0,-1-1 0,1 1 0,-1-1 0,0 0 0,-1-1 0,1 1 0,-1-1 0,0 1 0,-1-1 0,0 0 0,0 0 0,0 0 0,-1 0 0,0 0 0,0 0 0,-1-1 0,0 1 0,-1-12 0,0 0 0,-2 0 0,0 0 0,0 0 0,-2 1 0,-14-36 0,15 46 7,0 0 0,-1 1-1,0-1 1,0 1 0,0 0-1,-1 1 1,-1-1-1,1 1 1,-1 0 0,0 1-1,0 0 1,0 0 0,-1 0-1,0 1 1,0 0 0,0 0-1,-14-3 1,-1 0-255,-1 2 1,1 0-1,-1 2 1,0 1-1,-31 0 1,28 2-6579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6:24:06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1013 15 24575,'-2'-2'0,"0"1"0,-1-1 0,1 0 0,-1 1 0,0 0 0,0 0 0,1 0 0,-1 0 0,0 0 0,0 0 0,0 1 0,0 0 0,0-1 0,-3 1 0,-47 3 0,33-1 0,-51 5 0,0 3 0,0 3 0,1 3 0,1 3 0,-79 33 0,109-34 0,1 2 0,1 2 0,-58 44 0,82-55 0,1 0 0,1 0 0,0 1 0,0 1 0,1 0 0,-10 19 0,-2 5 0,-19 47 0,34-66 0,1 1 0,0 0 0,1 0 0,1 0 0,1 1 0,-1 27 0,3-34 0,1 0 0,1-1 0,0 1 0,1 0 0,0 0 0,0-1 0,2 1 0,0-1 0,0 0 0,11 21 0,-12-29 0,0 0 0,1 0 0,-1 0 0,1 0 0,0-1 0,0 1 0,1-1 0,-1 0 0,1 0 0,-1-1 0,1 1 0,9 2 0,69 19 0,-55-18 0,118 24 0,1-7 0,215 6 0,-353-29 0,12 2 0,1-1 0,-1-2 0,22-2 0,-35 1 0,-1 1 0,1-2 0,-1 1 0,0-1 0,0 0 0,0 0 0,0 0 0,-1-1 0,0-1 0,1 1 0,10-11 0,16-21 0,-1-1 0,-2-2 0,42-74 0,3-1 0,-72 110 0,91-139 0,-83 123 0,-1-1 0,-1 1 0,-1-1 0,-1-1 0,8-35 0,-10 29 0,-1 12 0,0-1 0,-2 0 0,1-29 0,-3 42 0,0 1 0,0-1 0,-1 1 0,1-1 0,-1 1 0,0 0 0,1-1 0,-2 1 0,1 0 0,0 0 0,-1 0 0,1 0 0,-1 0 0,0 0 0,0 0 0,0 0 0,-1 1 0,1-1 0,0 1 0,-1-1 0,0 1 0,1 0 0,-1 0 0,-4-1 0,-12-6 0,-1 2 0,0 1 0,0 0 0,-1 2 0,0 0 0,-26-1 0,-132 2 0,150 4 0,13-1-341,0 1 0,1 1-1,-17 3 1,15 0-6485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6:24:08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888 1 24575,'-29'0'0,"-192"7"0,186-4 0,1 2 0,-1 2 0,2 1 0,-46 16 0,48-12 0,0 2 0,1 0 0,1 2 0,0 2 0,1 0 0,-34 30 0,39-29 0,2 1 0,-23 28 0,37-39 0,1 0 0,-1 1 0,2-1 0,0 1 0,0 0 0,1 1 0,0-1 0,-5 23 0,-4 24 0,-12 69 0,23-110 0,1-1 0,1 1 0,0 0 0,1 0 0,5 30 0,-4-40 0,0 0 0,0-1 0,1 1 0,-1-1 0,1 0 0,0 1 0,1-1 0,0-1 0,-1 1 0,1 0 0,1-1 0,-1 0 0,1 0 0,-1 0 0,1-1 0,0 0 0,1 1 0,-1-2 0,7 4 0,13 4 0,1-1 0,55 13 0,-34-11 0,32 8 0,0-3 0,0-4 0,95 2 0,246-15 0,-217-3 0,-138 5 0,-25 1 0,53-6 0,-88 3 0,1 0 0,-1-1 0,1 1 0,-1-1 0,0-1 0,0 1 0,0-1 0,0 1 0,0-1 0,-1-1 0,1 1 0,-1-1 0,0 1 0,0-1 0,0 0 0,-1-1 0,1 1 0,-1-1 0,5-8 0,-2 1 0,-1 1 0,0-1 0,-1 1 0,0-1 0,-1 0 0,0-1 0,2-21 0,11-62 0,-10 69 0,5-55 0,-11 71 0,0 1 0,-1 0 0,0 0 0,0-1 0,-1 1 0,-1 0 0,0 0 0,0 0 0,-5-10 0,-5-2 0,-1-1 0,0 2 0,-2 0 0,0 1 0,-2 0 0,0 2 0,-1 0 0,0 1 0,-2 1 0,0 1 0,-1 0 0,0 2 0,-1 1 0,0 0 0,-1 2 0,-49-14 0,42 19 27,1 1-1,-1 1 1,0 2 0,-52 4-1,46-1-525,0-1-1,-61-7 1,76 2-6327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6:24:10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303DC-9D80-983D-70B3-E780D1805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647B41-58B5-E772-9540-BC2C20861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511CCD-5C50-C552-8A82-B034652FB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60B076-6E79-1705-867C-412A8F14B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2DD728-ED62-193F-F146-B7D22683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13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4F8E5-3068-6309-DE4E-183E7E6B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6AB8E-1A1A-49D0-2842-1756E1FBB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BC7ED5-9FDE-9C2B-48AA-66E48D52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D7E3E-5B4B-C3CD-401A-05424239A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AF6005-EBCD-340D-DE68-4807420D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67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D30D6-CDC0-52C2-6900-BFD20910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BC687C-55D4-A654-A4C3-CA9D0A7C2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C424A4-CC25-0EE0-3E2F-847F3759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3C86C3-4568-1DF5-F313-50FAE169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EE16BC-CAF6-9D1F-A2D0-7CBF1E05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24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3B36B-D29E-E945-8357-F2E358CF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34B897-12D4-AEF7-C9A2-DA46EDCDD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3B89D0-DE67-158C-9E6F-9B20ED537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99321E-B3BA-0C45-942E-089736E9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BDD5C5-20EE-E250-31A7-0E5F9CAB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A2C58A-0668-E33A-2D6F-98275AC54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792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AEDCC-71D9-852E-58E8-75BDA05C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E67F09-6F8A-5F97-4DCE-7EA01BDA3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2C09AD-D49B-2F4D-762E-2718C1DE8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D0777E-F643-50ED-92E8-AC8417240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6F6229-BA98-EAB1-0726-A96D8CDA0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F31800-157D-96F5-6116-8E3702F3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AFE45F-56D9-ADB9-BC11-FAC808599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6E79A2-F56E-394B-7480-0D5DC7F2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90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BEEFD-6403-32A7-0060-8D44E907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DA6BBB-7C83-6699-2F66-BEF185D52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746463-F398-C7E9-B61B-BE2728945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7B8D32-9D33-906E-D7D8-62B796C3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75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EF6B9E-DBA0-D3B3-3B12-2B954727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B3A18E-9955-92C8-3161-79A2022B8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1D15AD-9C3B-9DB6-008D-CC18D8D6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07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73058-1311-5D97-32C3-7DBC0BFE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06E755-C113-6ABF-C459-F52A8083E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0DEFD0-25C5-0316-CDD9-3E224FC58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1A77E8-6644-6BFF-0303-EB1C0C43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1F4A52-FFEC-71DC-B99F-58DFC155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8ACBD3-2C37-3EB8-CFB5-E1BFBEBE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13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E3F54-E469-E04A-C7A3-54D7E1268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B0B1B9-E601-AFAA-73D5-F05360814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ADDB55-8ED4-413A-DD66-90CEE169C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19165A-2692-7D54-C807-89D5BB1B0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91A755-608F-6BD5-9DC6-C3AC65D1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694262-7514-5603-5497-612793E1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941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B620C-86ED-F59D-DC01-4B89EF5A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64126C-5014-57ED-920F-A1357E22D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3DF454-2A1C-F84F-DCDC-426DC014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0EED14-1561-75AB-7A73-F0ECE71A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5475FA-6A07-5943-88ED-62241530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951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E47C87-88C2-6468-41FA-812FAE50D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90CDC2-91DC-1731-CB2B-8E63683DD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D3C84-6904-2014-04D8-3D5E18EB2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83D21-16A8-3EBE-F90C-B2C1862AC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88AFC-1B2D-E2F2-9D62-D5C45A18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7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5E587C-95C3-35D2-57E9-1D21861A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4F32FC-BCA7-B3DB-CC59-157D37BF8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66DC84-6A5B-707B-480C-D5E850E01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12DF9-1922-45B3-B4AD-B4D5605124E1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8ED83C-666A-029A-F5CD-743A86829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5DE6B6-0DC0-47C7-94C2-BB48993D9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1FCE9-8774-4C2B-923E-1A374B204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49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0.png"/><Relationship Id="rId18" Type="http://schemas.openxmlformats.org/officeDocument/2006/relationships/customXml" Target="../ink/ink7.xml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customXml" Target="../ink/ink4.xml"/><Relationship Id="rId17" Type="http://schemas.openxmlformats.org/officeDocument/2006/relationships/image" Target="../media/image22.png"/><Relationship Id="rId2" Type="http://schemas.openxmlformats.org/officeDocument/2006/relationships/image" Target="../media/image12.png"/><Relationship Id="rId16" Type="http://schemas.openxmlformats.org/officeDocument/2006/relationships/customXml" Target="../ink/ink6.xml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9.png"/><Relationship Id="rId5" Type="http://schemas.openxmlformats.org/officeDocument/2006/relationships/customXml" Target="../ink/ink1.xml"/><Relationship Id="rId15" Type="http://schemas.openxmlformats.org/officeDocument/2006/relationships/image" Target="../media/image21.png"/><Relationship Id="rId10" Type="http://schemas.openxmlformats.org/officeDocument/2006/relationships/customXml" Target="../ink/ink3.xml"/><Relationship Id="rId19" Type="http://schemas.openxmlformats.org/officeDocument/2006/relationships/image" Target="../media/image23.png"/><Relationship Id="rId4" Type="http://schemas.openxmlformats.org/officeDocument/2006/relationships/image" Target="../media/image13.jpg"/><Relationship Id="rId9" Type="http://schemas.openxmlformats.org/officeDocument/2006/relationships/image" Target="../media/image18.png"/><Relationship Id="rId14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E0A0C-168A-763E-4C20-4D92D692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73C91BD-F7FC-2F0A-B2F0-500DD7D081B9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DD4618DB-73F4-9DC1-EF78-B7B1983C7762}"/>
              </a:ext>
            </a:extLst>
          </p:cNvPr>
          <p:cNvSpPr txBox="1">
            <a:spLocks/>
          </p:cNvSpPr>
          <p:nvPr/>
        </p:nvSpPr>
        <p:spPr>
          <a:xfrm>
            <a:off x="1524000" y="2297336"/>
            <a:ext cx="9144000" cy="1099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effectLst>
                  <a:innerShdw blurRad="114300">
                    <a:prstClr val="black"/>
                  </a:innerShdw>
                </a:effectLst>
                <a:latin typeface="+mn-ea"/>
                <a:ea typeface="+mn-ea"/>
              </a:rPr>
              <a:t>标题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7CB12E2-FE1E-4940-E747-2F7D222EE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AEF3D88-6198-AFDB-9E7A-7D1C45254AE4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7271FE8-CD28-A188-140F-AA9B5AE5F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制作人 王小明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6FFA081F-B02D-017C-B89A-FED3E3182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12/26/2025 4:06:29 PM</a:t>
            </a:fld>
            <a:endParaRPr lang="zh-CN" altLang="en-US" sz="1400" b="1" dirty="0">
              <a:solidFill>
                <a:schemeClr val="accent4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323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FDFFA-7225-6DC6-8F5A-9EF12E962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55744B-45F1-D3D2-4542-BB06029776E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0D75DF-7757-7B5C-0233-988E6CC6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1B7505-5F3C-36F1-0F81-ED55EC9A81CA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84AC7C2-E82B-3795-B485-7DECE7C37686}"/>
              </a:ext>
            </a:extLst>
          </p:cNvPr>
          <p:cNvSpPr txBox="1">
            <a:spLocks/>
          </p:cNvSpPr>
          <p:nvPr/>
        </p:nvSpPr>
        <p:spPr>
          <a:xfrm>
            <a:off x="1685686" y="760689"/>
            <a:ext cx="3233011" cy="129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000" b="1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B06544-18DC-8820-7975-217DF2D8B31B}"/>
              </a:ext>
            </a:extLst>
          </p:cNvPr>
          <p:cNvSpPr/>
          <p:nvPr/>
        </p:nvSpPr>
        <p:spPr>
          <a:xfrm>
            <a:off x="1685686" y="2800743"/>
            <a:ext cx="136026" cy="1435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74C6DA-EA88-8B5D-DFAD-3E9BB6239C8E}"/>
              </a:ext>
            </a:extLst>
          </p:cNvPr>
          <p:cNvSpPr/>
          <p:nvPr/>
        </p:nvSpPr>
        <p:spPr>
          <a:xfrm>
            <a:off x="1685686" y="3661321"/>
            <a:ext cx="136026" cy="1435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003B26-6273-B383-1438-0C6725968588}"/>
              </a:ext>
            </a:extLst>
          </p:cNvPr>
          <p:cNvSpPr/>
          <p:nvPr/>
        </p:nvSpPr>
        <p:spPr>
          <a:xfrm>
            <a:off x="1685686" y="4521899"/>
            <a:ext cx="136026" cy="1435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516E1A-2B28-37F2-0FCF-6439294ED17E}"/>
              </a:ext>
            </a:extLst>
          </p:cNvPr>
          <p:cNvSpPr txBox="1"/>
          <p:nvPr/>
        </p:nvSpPr>
        <p:spPr>
          <a:xfrm>
            <a:off x="2346548" y="3440725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设计的优势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BE3C3F-BA9F-9506-BF48-8E4736934F2F}"/>
              </a:ext>
            </a:extLst>
          </p:cNvPr>
          <p:cNvSpPr txBox="1"/>
          <p:nvPr/>
        </p:nvSpPr>
        <p:spPr>
          <a:xfrm>
            <a:off x="2346547" y="4301303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设计的劣势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6C14CB-3497-B49B-C8D4-E0AFBC6FC128}"/>
              </a:ext>
            </a:extLst>
          </p:cNvPr>
          <p:cNvSpPr txBox="1"/>
          <p:nvPr/>
        </p:nvSpPr>
        <p:spPr>
          <a:xfrm>
            <a:off x="2346548" y="2580147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主要设计的对比</a:t>
            </a:r>
          </a:p>
        </p:txBody>
      </p:sp>
    </p:spTree>
    <p:extLst>
      <p:ext uri="{BB962C8B-B14F-4D97-AF65-F5344CB8AC3E}">
        <p14:creationId xmlns:p14="http://schemas.microsoft.com/office/powerpoint/2010/main" val="367083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D646-838B-2071-AE7E-E2EAD94A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BB2B750-3E03-C0C8-67B9-192E4B9BCEAA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222DAA1-1BAE-0CE8-9C77-2C3E82A80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E414B79-C6DC-2DFE-D9CD-5C62B5D5D4B1}"/>
              </a:ext>
            </a:extLst>
          </p:cNvPr>
          <p:cNvSpPr/>
          <p:nvPr/>
        </p:nvSpPr>
        <p:spPr>
          <a:xfrm>
            <a:off x="0" y="4148807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23D3ADBF-4AFC-CCC2-9583-4CB1F2DB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12/26/2025 4:06:30 PM</a:t>
            </a:fld>
            <a:endParaRPr lang="zh-CN" altLang="en-US" sz="1400" b="1" dirty="0">
              <a:solidFill>
                <a:schemeClr val="accent4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9D0C88-12C8-B08E-1A88-2C340F798154}"/>
              </a:ext>
            </a:extLst>
          </p:cNvPr>
          <p:cNvSpPr txBox="1"/>
          <p:nvPr/>
        </p:nvSpPr>
        <p:spPr>
          <a:xfrm>
            <a:off x="3045093" y="2058914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主要设计对比</a:t>
            </a:r>
          </a:p>
        </p:txBody>
      </p:sp>
    </p:spTree>
    <p:extLst>
      <p:ext uri="{BB962C8B-B14F-4D97-AF65-F5344CB8AC3E}">
        <p14:creationId xmlns:p14="http://schemas.microsoft.com/office/powerpoint/2010/main" val="2560963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0225D-3F2D-B929-89C3-FA688321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58F66D8-9C85-0B6E-86F2-EF89B0FD9A3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5C1BFD-5B9B-CC07-B205-F26AF1684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F46D18A-D547-88A1-DF73-23FE03A6E744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7BC13CC-BC92-B8A4-C971-AD9CD4444083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主要设计对比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965229-8882-7605-E643-90E81770A36D}"/>
              </a:ext>
            </a:extLst>
          </p:cNvPr>
          <p:cNvSpPr txBox="1"/>
          <p:nvPr/>
        </p:nvSpPr>
        <p:spPr>
          <a:xfrm>
            <a:off x="2085786" y="2477069"/>
            <a:ext cx="27295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此为小车三维视图与</a:t>
            </a:r>
            <a:endParaRPr lang="en-US" altLang="zh-CN" dirty="0"/>
          </a:p>
          <a:p>
            <a:r>
              <a:rPr lang="zh-CN" altLang="en-US" dirty="0"/>
              <a:t>小车整体样式，</a:t>
            </a:r>
            <a:endParaRPr lang="en-US" altLang="zh-CN" dirty="0"/>
          </a:p>
          <a:p>
            <a:r>
              <a:rPr lang="zh-CN" altLang="en-US" dirty="0"/>
              <a:t>注意：此时外壳设置为透明只是为方便观察到内部设计和样式，方便对比分析，实物使用的是铝合金外壳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4F30ACF-E9AE-3253-981E-D1D1E4943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434" y="1397000"/>
            <a:ext cx="2716168" cy="4508394"/>
          </a:xfrm>
          <a:prstGeom prst="rect">
            <a:avLst/>
          </a:prstGeom>
        </p:spPr>
      </p:pic>
      <p:pic>
        <p:nvPicPr>
          <p:cNvPr id="12" name="图片 11" descr="图片包含 文本&#10;&#10;AI 生成的内容可能不正确。">
            <a:extLst>
              <a:ext uri="{FF2B5EF4-FFF2-40B4-BE49-F238E27FC236}">
                <a16:creationId xmlns:a16="http://schemas.microsoft.com/office/drawing/2014/main" id="{725075F4-CCFC-1CB0-7F8B-1F0B84570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227" y="1485900"/>
            <a:ext cx="1817973" cy="46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04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F9FD2-09A6-0282-C57F-631F04CD3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EA62094-7EB5-CAD8-080C-08255E5B6D6B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CE8312-9509-253F-0218-24CFA3228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989636E-34C0-4A3C-23D6-57BDAF4809BA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305CDBC-F135-6F3E-9368-C44D60CB30D0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主要设计对比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10D6E0-0303-1626-7A0B-4B7E21E31162}"/>
              </a:ext>
            </a:extLst>
          </p:cNvPr>
          <p:cNvSpPr txBox="1"/>
          <p:nvPr/>
        </p:nvSpPr>
        <p:spPr>
          <a:xfrm>
            <a:off x="2025282" y="1080655"/>
            <a:ext cx="314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此为小车三维大小图形对比</a:t>
            </a:r>
            <a:endParaRPr lang="en-US" altLang="zh-CN" dirty="0"/>
          </a:p>
        </p:txBody>
      </p:sp>
      <p:pic>
        <p:nvPicPr>
          <p:cNvPr id="10" name="图片 9" descr="房间的摆设布局&#10;&#10;AI 生成的内容可能不正确。">
            <a:extLst>
              <a:ext uri="{FF2B5EF4-FFF2-40B4-BE49-F238E27FC236}">
                <a16:creationId xmlns:a16="http://schemas.microsoft.com/office/drawing/2014/main" id="{270E17CE-E8D4-AF97-BBD0-EAE516871E7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5" t="34259" r="20359" b="27963"/>
          <a:stretch>
            <a:fillRect/>
          </a:stretch>
        </p:blipFill>
        <p:spPr>
          <a:xfrm>
            <a:off x="6159500" y="1593850"/>
            <a:ext cx="6032500" cy="5264150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74E0202-C3E4-6BAE-9E9E-B1046515B027}"/>
              </a:ext>
            </a:extLst>
          </p:cNvPr>
          <p:cNvCxnSpPr>
            <a:cxnSpLocks/>
          </p:cNvCxnSpPr>
          <p:nvPr/>
        </p:nvCxnSpPr>
        <p:spPr>
          <a:xfrm>
            <a:off x="7172838" y="4206875"/>
            <a:ext cx="3958712" cy="190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2B566C9-4199-DBA4-B1F4-2CA320621BFB}"/>
              </a:ext>
            </a:extLst>
          </p:cNvPr>
          <p:cNvSpPr txBox="1"/>
          <p:nvPr/>
        </p:nvSpPr>
        <p:spPr>
          <a:xfrm>
            <a:off x="8702675" y="3837543"/>
            <a:ext cx="167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500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的直径</a:t>
            </a:r>
          </a:p>
        </p:txBody>
      </p:sp>
      <p:pic>
        <p:nvPicPr>
          <p:cNvPr id="9" name="图片 8" descr="图片包含 图表&#10;&#10;AI 生成的内容可能不正确。">
            <a:extLst>
              <a:ext uri="{FF2B5EF4-FFF2-40B4-BE49-F238E27FC236}">
                <a16:creationId xmlns:a16="http://schemas.microsoft.com/office/drawing/2014/main" id="{4E468E9D-B288-E104-156F-5C49CBE99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481" y="1578401"/>
            <a:ext cx="3727818" cy="525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89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C62F9-F4F5-58F8-0272-6A55FBBF9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7CBA48E-6168-0FFE-3197-81DD00046EDD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43EB57-B3A3-1B3E-58D0-2D3D774F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1BB1742-35A4-C57B-D303-24B8252CD6F5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B603D73-D470-F982-5882-65AF10205988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主要设计对比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FFC4D6C-9D3B-F42D-4749-C2C85BEDB002}"/>
              </a:ext>
            </a:extLst>
          </p:cNvPr>
          <p:cNvSpPr txBox="1"/>
          <p:nvPr/>
        </p:nvSpPr>
        <p:spPr>
          <a:xfrm>
            <a:off x="2025282" y="1080655"/>
            <a:ext cx="314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此为小车三维大小图形对比</a:t>
            </a:r>
            <a:endParaRPr lang="en-US" altLang="zh-CN" dirty="0"/>
          </a:p>
        </p:txBody>
      </p:sp>
      <p:pic>
        <p:nvPicPr>
          <p:cNvPr id="13" name="图片 12" descr="图片包含 室内, 桌子, 猫, 前&#10;&#10;AI 生成的内容可能不正确。">
            <a:extLst>
              <a:ext uri="{FF2B5EF4-FFF2-40B4-BE49-F238E27FC236}">
                <a16:creationId xmlns:a16="http://schemas.microsoft.com/office/drawing/2014/main" id="{693255A9-BD0C-C6E3-6AC7-D9B3478D2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650" y="2623344"/>
            <a:ext cx="5372100" cy="3021806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44FC354-ED5B-4C7A-1965-19F12ECBAE84}"/>
              </a:ext>
            </a:extLst>
          </p:cNvPr>
          <p:cNvCxnSpPr>
            <a:cxnSpLocks/>
          </p:cNvCxnSpPr>
          <p:nvPr/>
        </p:nvCxnSpPr>
        <p:spPr>
          <a:xfrm>
            <a:off x="9213850" y="3079750"/>
            <a:ext cx="0" cy="1736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B74CBA6-135A-E5FC-2059-CDB75F881E81}"/>
              </a:ext>
            </a:extLst>
          </p:cNvPr>
          <p:cNvSpPr txBox="1"/>
          <p:nvPr/>
        </p:nvSpPr>
        <p:spPr>
          <a:xfrm>
            <a:off x="9213850" y="3843893"/>
            <a:ext cx="167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250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的高</a:t>
            </a:r>
          </a:p>
        </p:txBody>
      </p:sp>
      <p:pic>
        <p:nvPicPr>
          <p:cNvPr id="8" name="图片 7" descr="图形用户界面&#10;&#10;AI 生成的内容可能不正确。">
            <a:extLst>
              <a:ext uri="{FF2B5EF4-FFF2-40B4-BE49-F238E27FC236}">
                <a16:creationId xmlns:a16="http://schemas.microsoft.com/office/drawing/2014/main" id="{0744026E-8B7D-E986-201E-C93C2F9912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55" y="1887053"/>
            <a:ext cx="2887645" cy="402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031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5CD6B-1798-A39C-652D-0CE06784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64E0971-4015-F27E-3E1B-74D6320281C2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A0CBA1-0C76-98A9-A344-2168C2D4D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448615F-27A1-581B-3514-A7C148D90C40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2816D9B-D4B0-2CC5-BC44-6679EF03BCD5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主要设计对比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9712B6-1E0F-26D7-2A46-664DF4BD366C}"/>
              </a:ext>
            </a:extLst>
          </p:cNvPr>
          <p:cNvSpPr txBox="1"/>
          <p:nvPr/>
        </p:nvSpPr>
        <p:spPr>
          <a:xfrm>
            <a:off x="2025282" y="1065541"/>
            <a:ext cx="314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此为小车内部结构的对比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91A24E-CE2F-56A8-F92C-404F72B32CDA}"/>
              </a:ext>
            </a:extLst>
          </p:cNvPr>
          <p:cNvSpPr txBox="1"/>
          <p:nvPr/>
        </p:nvSpPr>
        <p:spPr>
          <a:xfrm>
            <a:off x="2463432" y="5647241"/>
            <a:ext cx="3315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我们设计的布局紧凑结构合理</a:t>
            </a:r>
            <a:endParaRPr lang="en-US" altLang="zh-CN" dirty="0"/>
          </a:p>
          <a:p>
            <a:r>
              <a:rPr lang="zh-CN" altLang="en-US" dirty="0"/>
              <a:t>上方屏幕与底面结合</a:t>
            </a:r>
            <a:endParaRPr lang="en-US" altLang="zh-CN" dirty="0"/>
          </a:p>
        </p:txBody>
      </p:sp>
      <p:pic>
        <p:nvPicPr>
          <p:cNvPr id="12" name="图片 11" descr="桌子上放着几个行李箱&#10;&#10;AI 生成的内容可能不正确。">
            <a:extLst>
              <a:ext uri="{FF2B5EF4-FFF2-40B4-BE49-F238E27FC236}">
                <a16:creationId xmlns:a16="http://schemas.microsoft.com/office/drawing/2014/main" id="{EC014683-1789-9541-7C8C-38983287B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775" y="2341751"/>
            <a:ext cx="4155375" cy="311531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DD54BCD-1F4B-98CA-72C7-A79B5BF238F5}"/>
              </a:ext>
            </a:extLst>
          </p:cNvPr>
          <p:cNvSpPr txBox="1"/>
          <p:nvPr/>
        </p:nvSpPr>
        <p:spPr>
          <a:xfrm>
            <a:off x="6152782" y="5647241"/>
            <a:ext cx="3315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原先的较多空间浪费</a:t>
            </a:r>
            <a:endParaRPr lang="en-US" altLang="zh-CN" dirty="0"/>
          </a:p>
        </p:txBody>
      </p:sp>
      <p:pic>
        <p:nvPicPr>
          <p:cNvPr id="9" name="图片 8" descr="图示, 工程绘图&#10;&#10;AI 生成的内容可能不正确。">
            <a:extLst>
              <a:ext uri="{FF2B5EF4-FFF2-40B4-BE49-F238E27FC236}">
                <a16:creationId xmlns:a16="http://schemas.microsoft.com/office/drawing/2014/main" id="{6EF004C0-B7C3-EB29-BBB8-D2C603BE3D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450" y="1816472"/>
            <a:ext cx="2501096" cy="364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77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9413C-20CF-46EE-4746-C3C9884B4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EE8E0CC-620C-39C9-14F1-6D8B11CACB4C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A16549-A2CA-19BE-1A88-012AEF6E1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416E5B2-0E7E-2094-A3A8-42DAAA166109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4558BDE-C4DC-3272-1DBE-A3E4A6E4A21A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主要设计对比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F9E6F0-3143-3DD6-2155-F57B3DEC45D9}"/>
              </a:ext>
            </a:extLst>
          </p:cNvPr>
          <p:cNvSpPr txBox="1"/>
          <p:nvPr/>
        </p:nvSpPr>
        <p:spPr>
          <a:xfrm>
            <a:off x="2025282" y="1065541"/>
            <a:ext cx="314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此为小车内部结构的对比</a:t>
            </a:r>
            <a:endParaRPr lang="en-US" altLang="zh-CN" dirty="0"/>
          </a:p>
        </p:txBody>
      </p:sp>
      <p:pic>
        <p:nvPicPr>
          <p:cNvPr id="9" name="图片 8" descr="图片包含 户外, 卡车, 男人, 大&#10;&#10;AI 生成的内容可能不正确。">
            <a:extLst>
              <a:ext uri="{FF2B5EF4-FFF2-40B4-BE49-F238E27FC236}">
                <a16:creationId xmlns:a16="http://schemas.microsoft.com/office/drawing/2014/main" id="{B4D08999-7835-14EF-8371-41169ADBB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04" y="1387736"/>
            <a:ext cx="4101095" cy="5470264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39D703E-EAF4-3979-EE4B-80286703178C}"/>
              </a:ext>
            </a:extLst>
          </p:cNvPr>
          <p:cNvCxnSpPr/>
          <p:nvPr/>
        </p:nvCxnSpPr>
        <p:spPr>
          <a:xfrm flipV="1">
            <a:off x="8807450" y="3308350"/>
            <a:ext cx="0" cy="939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9F94097-9093-04E0-3F0D-97CE71D69AA1}"/>
              </a:ext>
            </a:extLst>
          </p:cNvPr>
          <p:cNvCxnSpPr/>
          <p:nvPr/>
        </p:nvCxnSpPr>
        <p:spPr>
          <a:xfrm flipV="1">
            <a:off x="11582400" y="3429000"/>
            <a:ext cx="0" cy="939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09ED3EC-D7F8-EB72-3401-8A23FEA1B190}"/>
              </a:ext>
            </a:extLst>
          </p:cNvPr>
          <p:cNvSpPr txBox="1"/>
          <p:nvPr/>
        </p:nvSpPr>
        <p:spPr>
          <a:xfrm>
            <a:off x="2025282" y="1845587"/>
            <a:ext cx="6172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原先的设计使用螺栓进行锁紧并提供纵向拉力，所有力汇集</a:t>
            </a:r>
            <a:endParaRPr lang="en-US" altLang="zh-CN" dirty="0"/>
          </a:p>
          <a:p>
            <a:r>
              <a:rPr lang="zh-CN" altLang="en-US" dirty="0"/>
              <a:t>到螺栓上面，受力非常不合理</a:t>
            </a:r>
            <a:endParaRPr lang="en-US" altLang="zh-CN" dirty="0"/>
          </a:p>
          <a:p>
            <a:r>
              <a:rPr lang="zh-CN" altLang="en-US" dirty="0"/>
              <a:t>我们的设计使用悬挂直接与底板解除传导力，受力合理</a:t>
            </a:r>
            <a:endParaRPr lang="en-US" altLang="zh-CN" dirty="0"/>
          </a:p>
        </p:txBody>
      </p:sp>
      <p:pic>
        <p:nvPicPr>
          <p:cNvPr id="8" name="图片 7" descr="电脑游戏的截图&#10;&#10;AI 生成的内容可能不正确。">
            <a:extLst>
              <a:ext uri="{FF2B5EF4-FFF2-40B4-BE49-F238E27FC236}">
                <a16:creationId xmlns:a16="http://schemas.microsoft.com/office/drawing/2014/main" id="{31659AFD-78E9-4A72-BD82-7AEDBDC43B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362" y="3836378"/>
            <a:ext cx="5008074" cy="208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28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4B35-8C41-0A15-0F2F-D3D4C809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子设备&#10;&#10;AI 生成的内容可能不正确。">
            <a:extLst>
              <a:ext uri="{FF2B5EF4-FFF2-40B4-BE49-F238E27FC236}">
                <a16:creationId xmlns:a16="http://schemas.microsoft.com/office/drawing/2014/main" id="{384AF5F5-A0B7-E06B-6B7A-04349D453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042" y="4148177"/>
            <a:ext cx="3356664" cy="259077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5EAC10D-E6CC-3498-9253-C1ECA6F429EA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6DC1F6-DF85-4D11-AF27-E28E21762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444803F-F165-8CDC-D05C-AACF212BC4AA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CD36550-D542-E26F-51A6-622F94D52392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主要设计对比</a:t>
            </a:r>
          </a:p>
        </p:txBody>
      </p:sp>
      <p:pic>
        <p:nvPicPr>
          <p:cNvPr id="8" name="图片 7" descr="桌子上的自行车&#10;&#10;AI 生成的内容可能不正确。">
            <a:extLst>
              <a:ext uri="{FF2B5EF4-FFF2-40B4-BE49-F238E27FC236}">
                <a16:creationId xmlns:a16="http://schemas.microsoft.com/office/drawing/2014/main" id="{D73DA7CC-8DEE-4A34-792E-CB6249EE4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400" y="1809894"/>
            <a:ext cx="3784600" cy="504810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337DA96-163D-6BBD-9F9E-31EE85EA49E8}"/>
              </a:ext>
            </a:extLst>
          </p:cNvPr>
          <p:cNvSpPr txBox="1"/>
          <p:nvPr/>
        </p:nvSpPr>
        <p:spPr>
          <a:xfrm>
            <a:off x="2025282" y="1080655"/>
            <a:ext cx="314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此为小车顶部空间利用对比</a:t>
            </a:r>
            <a:endParaRPr lang="en-US" altLang="zh-C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1EE1F3B9-6DB5-EBBE-BCD9-75B5EA843C68}"/>
                  </a:ext>
                </a:extLst>
              </p14:cNvPr>
              <p14:cNvContentPartPr/>
              <p14:nvPr/>
            </p14:nvContentPartPr>
            <p14:xfrm>
              <a:off x="5351200" y="4234890"/>
              <a:ext cx="424440" cy="30852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1EE1F3B9-6DB5-EBBE-BCD9-75B5EA843C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45080" y="4228770"/>
                <a:ext cx="4366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BB390344-61B6-FB5B-A383-15FF1686DC71}"/>
                  </a:ext>
                </a:extLst>
              </p14:cNvPr>
              <p14:cNvContentPartPr/>
              <p14:nvPr/>
            </p14:nvContentPartPr>
            <p14:xfrm>
              <a:off x="9931840" y="2283330"/>
              <a:ext cx="611280" cy="58140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BB390344-61B6-FB5B-A383-15FF1686DC7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25720" y="2277210"/>
                <a:ext cx="623520" cy="59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9685D6F2-B509-F124-EE11-CDFEE88EED15}"/>
                  </a:ext>
                </a:extLst>
              </p14:cNvPr>
              <p14:cNvContentPartPr/>
              <p14:nvPr/>
            </p14:nvContentPartPr>
            <p14:xfrm>
              <a:off x="10102480" y="5851650"/>
              <a:ext cx="842760" cy="79956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9685D6F2-B509-F124-EE11-CDFEE88EED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96360" y="5845530"/>
                <a:ext cx="855000" cy="81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1DBCBDC7-E1DC-90AD-D5DF-504412F91350}"/>
                  </a:ext>
                </a:extLst>
              </p14:cNvPr>
              <p14:cNvContentPartPr/>
              <p14:nvPr/>
            </p14:nvContentPartPr>
            <p14:xfrm>
              <a:off x="6982360" y="4271610"/>
              <a:ext cx="381240" cy="24516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1DBCBDC7-E1DC-90AD-D5DF-504412F9135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76240" y="4265490"/>
                <a:ext cx="3934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0715A698-F8BB-C6A9-8A98-63301DBDAB36}"/>
                  </a:ext>
                </a:extLst>
              </p14:cNvPr>
              <p14:cNvContentPartPr/>
              <p14:nvPr/>
            </p14:nvContentPartPr>
            <p14:xfrm>
              <a:off x="5407360" y="6274650"/>
              <a:ext cx="536760" cy="34308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0715A698-F8BB-C6A9-8A98-63301DBDAB3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01240" y="6268530"/>
                <a:ext cx="54900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D79424AC-AD6D-7DCB-133C-B5A221F709DA}"/>
                  </a:ext>
                </a:extLst>
              </p14:cNvPr>
              <p14:cNvContentPartPr/>
              <p14:nvPr/>
            </p14:nvContentPartPr>
            <p14:xfrm>
              <a:off x="6836920" y="6279690"/>
              <a:ext cx="599400" cy="3261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D79424AC-AD6D-7DCB-133C-B5A221F709D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30800" y="6273570"/>
                <a:ext cx="61164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074AA045-1916-94E1-C959-369AEEB544FC}"/>
                  </a:ext>
                </a:extLst>
              </p14:cNvPr>
              <p14:cNvContentPartPr/>
              <p14:nvPr/>
            </p14:nvContentPartPr>
            <p14:xfrm>
              <a:off x="3358960" y="1282530"/>
              <a:ext cx="360" cy="36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074AA045-1916-94E1-C959-369AEEB544F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52840" y="12764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FE328EC5-F5FA-1B51-253F-54C6447BA4C1}"/>
              </a:ext>
            </a:extLst>
          </p:cNvPr>
          <p:cNvSpPr txBox="1"/>
          <p:nvPr/>
        </p:nvSpPr>
        <p:spPr>
          <a:xfrm>
            <a:off x="2018932" y="2000965"/>
            <a:ext cx="6121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本设计底部螺丝直接与外壳相连接，总体安装比右图红圈标注的地方的螺母连接更易连接（本设计还有很多有代表性的这类设计，只是使用这一典型设计做声明）</a:t>
            </a:r>
            <a:endParaRPr lang="en-US" altLang="zh-CN" dirty="0"/>
          </a:p>
        </p:txBody>
      </p:sp>
      <p:pic>
        <p:nvPicPr>
          <p:cNvPr id="10" name="图片 9" descr="图形用户界面, 图示&#10;&#10;AI 生成的内容可能不正确。">
            <a:extLst>
              <a:ext uri="{FF2B5EF4-FFF2-40B4-BE49-F238E27FC236}">
                <a16:creationId xmlns:a16="http://schemas.microsoft.com/office/drawing/2014/main" id="{08B8EE43-5A40-4DEC-F796-5F53D390693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742" y="4389150"/>
            <a:ext cx="2481012" cy="19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10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46D2D-5966-0F74-6D12-70387249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3D831FF-2306-F63F-DCE0-E9423A746CD4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376776B-AC80-ACAB-3289-8426D23CD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AEE068F-9133-5C3F-CC0B-F2BD9DC73CED}"/>
              </a:ext>
            </a:extLst>
          </p:cNvPr>
          <p:cNvSpPr/>
          <p:nvPr/>
        </p:nvSpPr>
        <p:spPr>
          <a:xfrm>
            <a:off x="0" y="4148807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BC18C6EE-7F3A-0E9A-B639-5FDA41895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12/26/2025 4:06:30 PM</a:t>
            </a:fld>
            <a:endParaRPr lang="zh-CN" altLang="en-US" sz="1400" b="1" dirty="0">
              <a:solidFill>
                <a:schemeClr val="accent4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8318D7-6FB3-6774-7432-B3A424CFF3E8}"/>
              </a:ext>
            </a:extLst>
          </p:cNvPr>
          <p:cNvSpPr txBox="1"/>
          <p:nvPr/>
        </p:nvSpPr>
        <p:spPr>
          <a:xfrm>
            <a:off x="3045093" y="2058914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设计的优势</a:t>
            </a:r>
          </a:p>
        </p:txBody>
      </p:sp>
    </p:spTree>
    <p:extLst>
      <p:ext uri="{BB962C8B-B14F-4D97-AF65-F5344CB8AC3E}">
        <p14:creationId xmlns:p14="http://schemas.microsoft.com/office/powerpoint/2010/main" val="3563827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486A4-25C8-80EB-B98F-F21C88E5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467A7E4-0295-74C2-DC72-21C21C8A5792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4084D3-B844-34F1-2496-648C42144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3B772A-8453-ACD2-789C-39FC44E8EBED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88B8198-E8D3-77D0-2731-F18FCD01F69A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设计的优势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D47FE4-B097-CF94-7853-A5AA10554AC0}"/>
              </a:ext>
            </a:extLst>
          </p:cNvPr>
          <p:cNvSpPr txBox="1"/>
          <p:nvPr/>
        </p:nvSpPr>
        <p:spPr>
          <a:xfrm>
            <a:off x="2131519" y="1455035"/>
            <a:ext cx="9423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不仅螺栓受力更合理，而且支撑架的受力同样更合理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悬挂的顶部直接是支撑架，底盘不传导车体本身重量以外的其他力是非承载式底盘。</a:t>
            </a:r>
            <a:endParaRPr lang="en-US" altLang="zh-CN" dirty="0"/>
          </a:p>
          <a:p>
            <a:r>
              <a:rPr lang="zh-CN" altLang="en-US" dirty="0"/>
              <a:t>上方屏幕重量直接作用于悬挂，并且屏幕底面直接集成在底盘内部！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97F890A-E7DE-3F86-0734-907C84250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212" y="2525904"/>
            <a:ext cx="2628300" cy="433209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CCE24F-88A7-A698-7769-7110CE2C7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439" y="3195980"/>
            <a:ext cx="4232562" cy="34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42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5E4CC-FE9B-542E-7F38-E78E4CF2D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F271911-38CD-2707-73F6-95B7B9501206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37F2A7A-9898-8C8D-C90E-22F005763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1D08593-C24A-62AE-946A-4F88DEE46927}"/>
              </a:ext>
            </a:extLst>
          </p:cNvPr>
          <p:cNvSpPr/>
          <p:nvPr/>
        </p:nvSpPr>
        <p:spPr>
          <a:xfrm>
            <a:off x="0" y="4148807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63471180-A9EE-FE66-81F9-AD2ECBBCE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12/26/2025 4:06:30 PM</a:t>
            </a:fld>
            <a:endParaRPr lang="zh-CN" altLang="en-US" sz="1400" b="1" dirty="0">
              <a:solidFill>
                <a:schemeClr val="accent4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FCF802-7E51-7A0E-3BD1-9015A6F49168}"/>
              </a:ext>
            </a:extLst>
          </p:cNvPr>
          <p:cNvSpPr txBox="1"/>
          <p:nvPr/>
        </p:nvSpPr>
        <p:spPr>
          <a:xfrm>
            <a:off x="3045093" y="2058914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设计的疑问</a:t>
            </a:r>
          </a:p>
        </p:txBody>
      </p:sp>
    </p:spTree>
    <p:extLst>
      <p:ext uri="{BB962C8B-B14F-4D97-AF65-F5344CB8AC3E}">
        <p14:creationId xmlns:p14="http://schemas.microsoft.com/office/powerpoint/2010/main" val="1482506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A0AFF-9EC8-6F9A-CE4F-60E3E275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C363D2D-8357-C199-A00E-1028341C37C6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80B01B-3C4E-FC34-8A09-C35E3AD9F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3C654B3-DC51-CBD5-73D9-5D6FEB57CD1D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291B290-A638-13EE-987D-637CE4457478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设计的疑问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8B5B90-E64B-6845-5D46-591A4EB76A88}"/>
              </a:ext>
            </a:extLst>
          </p:cNvPr>
          <p:cNvSpPr txBox="1"/>
          <p:nvPr/>
        </p:nvSpPr>
        <p:spPr>
          <a:xfrm>
            <a:off x="2025282" y="1655512"/>
            <a:ext cx="94237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本设经过多次改动几乎没有劣势 接下来根据已经设计好的内容进行优化可以进一步减小底盘体积！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我们还需要清楚雷达的位置如何布置，现在有以下两种方案（对置无死角类型，和前后布置类型）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9" name="图片 8" descr="电子仪器&#10;&#10;AI 生成的内容可能不正确。">
            <a:extLst>
              <a:ext uri="{FF2B5EF4-FFF2-40B4-BE49-F238E27FC236}">
                <a16:creationId xmlns:a16="http://schemas.microsoft.com/office/drawing/2014/main" id="{DC222404-DE31-A3D2-DD9D-21A043E69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406" y="3345813"/>
            <a:ext cx="2582197" cy="3314875"/>
          </a:xfrm>
          <a:prstGeom prst="rect">
            <a:avLst/>
          </a:prstGeom>
        </p:spPr>
      </p:pic>
      <p:pic>
        <p:nvPicPr>
          <p:cNvPr id="13" name="图片 12" descr="文本&#10;&#10;AI 生成的内容可能不正确。">
            <a:extLst>
              <a:ext uri="{FF2B5EF4-FFF2-40B4-BE49-F238E27FC236}">
                <a16:creationId xmlns:a16="http://schemas.microsoft.com/office/drawing/2014/main" id="{CE686F4A-371C-87B5-067F-B848900D9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971" y="3336241"/>
            <a:ext cx="2826730" cy="332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89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15824</TotalTime>
  <Words>363</Words>
  <Application>Microsoft Office PowerPoint</Application>
  <PresentationFormat>宽屏</PresentationFormat>
  <Paragraphs>48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c0 ex</dc:creator>
  <cp:lastModifiedBy>煜暄 陈</cp:lastModifiedBy>
  <cp:revision>13</cp:revision>
  <dcterms:created xsi:type="dcterms:W3CDTF">2025-09-29T04:37:19Z</dcterms:created>
  <dcterms:modified xsi:type="dcterms:W3CDTF">2025-12-26T09:40:10Z</dcterms:modified>
</cp:coreProperties>
</file>