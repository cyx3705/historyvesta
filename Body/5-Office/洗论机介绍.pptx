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85" r:id="rId5"/>
    <p:sldId id="286" r:id="rId6"/>
    <p:sldId id="287" r:id="rId7"/>
    <p:sldId id="288" r:id="rId8"/>
    <p:sldId id="290" r:id="rId9"/>
    <p:sldId id="289" r:id="rId10"/>
    <p:sldId id="291" r:id="rId11"/>
    <p:sldId id="292" r:id="rId12"/>
    <p:sldId id="293" r:id="rId13"/>
    <p:sldId id="260" r:id="rId14"/>
    <p:sldId id="261" r:id="rId15"/>
    <p:sldId id="263" r:id="rId16"/>
    <p:sldId id="264" r:id="rId17"/>
    <p:sldId id="265" r:id="rId18"/>
    <p:sldId id="266" r:id="rId19"/>
    <p:sldId id="267" r:id="rId20"/>
    <p:sldId id="281" r:id="rId21"/>
    <p:sldId id="282" r:id="rId22"/>
    <p:sldId id="283" r:id="rId23"/>
    <p:sldId id="268" r:id="rId24"/>
    <p:sldId id="269" r:id="rId25"/>
    <p:sldId id="270" r:id="rId26"/>
    <p:sldId id="271" r:id="rId27"/>
    <p:sldId id="272" r:id="rId28"/>
    <p:sldId id="284" r:id="rId29"/>
    <p:sldId id="274" r:id="rId30"/>
    <p:sldId id="275" r:id="rId31"/>
    <p:sldId id="276"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CF7"/>
    <a:srgbClr val="197DF7"/>
    <a:srgbClr val="46B1E1"/>
    <a:srgbClr val="0048CE"/>
    <a:srgbClr val="1878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581" autoAdjust="0"/>
  </p:normalViewPr>
  <p:slideViewPr>
    <p:cSldViewPr snapToGrid="0">
      <p:cViewPr varScale="1">
        <p:scale>
          <a:sx n="75" d="100"/>
          <a:sy n="75" d="100"/>
        </p:scale>
        <p:origin x="90" y="16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687317-EE7F-1948-FD15-EC0CC9298F6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FF87CB0-2553-E9FC-37CA-246176377C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9CED1A9-40A6-2448-17DC-C1D7DD4A6662}"/>
              </a:ext>
            </a:extLst>
          </p:cNvPr>
          <p:cNvSpPr>
            <a:spLocks noGrp="1"/>
          </p:cNvSpPr>
          <p:nvPr>
            <p:ph type="dt" sz="half" idx="10"/>
          </p:nvPr>
        </p:nvSpPr>
        <p:spPr/>
        <p:txBody>
          <a:bodyPr/>
          <a:lstStyle/>
          <a:p>
            <a:fld id="{581A1311-718C-4E8E-8010-28C99C476D3E}"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39F98C99-D519-81E1-8A7C-0F44CD31605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CA85B66-76CC-C7E7-C239-F2A802C5037F}"/>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2172651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B95BC-7D54-8A28-9E11-CDF38E12CF6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2A462CC-3B6F-AB31-2DD6-BFC1D3411EB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4239BC1-A9F3-83A5-8B0E-1356ECBBD798}"/>
              </a:ext>
            </a:extLst>
          </p:cNvPr>
          <p:cNvSpPr>
            <a:spLocks noGrp="1"/>
          </p:cNvSpPr>
          <p:nvPr>
            <p:ph type="dt" sz="half" idx="10"/>
          </p:nvPr>
        </p:nvSpPr>
        <p:spPr/>
        <p:txBody>
          <a:bodyPr/>
          <a:lstStyle/>
          <a:p>
            <a:fld id="{581A1311-718C-4E8E-8010-28C99C476D3E}"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D9B70B96-4FEB-AB39-F869-318875040F2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3184338-A658-8530-EF2A-67ADA30D8237}"/>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3551398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703E38-DBE7-357B-CFCB-B87EC5946C9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40ABCCA-39D3-5697-B6CA-E2D72407DE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4CD69A0-67E5-7973-9456-8F0E7E6AC9CB}"/>
              </a:ext>
            </a:extLst>
          </p:cNvPr>
          <p:cNvSpPr>
            <a:spLocks noGrp="1"/>
          </p:cNvSpPr>
          <p:nvPr>
            <p:ph type="dt" sz="half" idx="10"/>
          </p:nvPr>
        </p:nvSpPr>
        <p:spPr/>
        <p:txBody>
          <a:bodyPr/>
          <a:lstStyle/>
          <a:p>
            <a:fld id="{581A1311-718C-4E8E-8010-28C99C476D3E}"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E87CAF2B-32A0-73B7-0128-EA0A507E75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6B83589-0D3B-CA0A-944A-459C7B35C355}"/>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1139774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95361B-90C8-988C-8C67-A1C8C140934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97548D9-DE7A-4C49-2427-FF205215AA8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9E71C06-2FAC-CC25-BC78-099A79D6A97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D72115E-0BE6-D52D-F681-F441AF634C08}"/>
              </a:ext>
            </a:extLst>
          </p:cNvPr>
          <p:cNvSpPr>
            <a:spLocks noGrp="1"/>
          </p:cNvSpPr>
          <p:nvPr>
            <p:ph type="dt" sz="half" idx="10"/>
          </p:nvPr>
        </p:nvSpPr>
        <p:spPr/>
        <p:txBody>
          <a:bodyPr/>
          <a:lstStyle/>
          <a:p>
            <a:fld id="{581A1311-718C-4E8E-8010-28C99C476D3E}"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8A5BB53D-BDCE-FFC6-5B2F-419BF88B7CA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D692B7A-49C1-1E9C-3000-8FE1E5DDA050}"/>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1633375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795815-56E2-3C8C-3584-8F6A82D3400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818DE5A-0FCA-2FD9-9ED4-6E05D7CECB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3E7EC9A-92A1-EFA7-582F-0CE576CBF58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DD1D286-EB0F-8CD1-9BBB-60DC4EA1D2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9DEDD92-E27E-D748-170C-DBD08915FFE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0BE9DE6-89E7-E0AB-54C8-DB5047097780}"/>
              </a:ext>
            </a:extLst>
          </p:cNvPr>
          <p:cNvSpPr>
            <a:spLocks noGrp="1"/>
          </p:cNvSpPr>
          <p:nvPr>
            <p:ph type="dt" sz="half" idx="10"/>
          </p:nvPr>
        </p:nvSpPr>
        <p:spPr/>
        <p:txBody>
          <a:bodyPr/>
          <a:lstStyle/>
          <a:p>
            <a:fld id="{581A1311-718C-4E8E-8010-28C99C476D3E}" type="datetimeFigureOut">
              <a:rPr lang="zh-CN" altLang="en-US" smtClean="0"/>
              <a:t>2026/5/8</a:t>
            </a:fld>
            <a:endParaRPr lang="zh-CN" altLang="en-US"/>
          </a:p>
        </p:txBody>
      </p:sp>
      <p:sp>
        <p:nvSpPr>
          <p:cNvPr id="8" name="页脚占位符 7">
            <a:extLst>
              <a:ext uri="{FF2B5EF4-FFF2-40B4-BE49-F238E27FC236}">
                <a16:creationId xmlns:a16="http://schemas.microsoft.com/office/drawing/2014/main" id="{95249B42-1047-89C5-EFD1-9D5AAD1081F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47B4958-5946-70D5-5447-46414A24684D}"/>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113959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0BC7B-A631-EB0D-5ECF-8E54CF53ACF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F7A92B9-9C7E-217A-0C1E-4E2BFB07F695}"/>
              </a:ext>
            </a:extLst>
          </p:cNvPr>
          <p:cNvSpPr>
            <a:spLocks noGrp="1"/>
          </p:cNvSpPr>
          <p:nvPr>
            <p:ph type="dt" sz="half" idx="10"/>
          </p:nvPr>
        </p:nvSpPr>
        <p:spPr/>
        <p:txBody>
          <a:bodyPr/>
          <a:lstStyle/>
          <a:p>
            <a:fld id="{581A1311-718C-4E8E-8010-28C99C476D3E}" type="datetimeFigureOut">
              <a:rPr lang="zh-CN" altLang="en-US" smtClean="0"/>
              <a:t>2026/5/8</a:t>
            </a:fld>
            <a:endParaRPr lang="zh-CN" altLang="en-US"/>
          </a:p>
        </p:txBody>
      </p:sp>
      <p:sp>
        <p:nvSpPr>
          <p:cNvPr id="4" name="页脚占位符 3">
            <a:extLst>
              <a:ext uri="{FF2B5EF4-FFF2-40B4-BE49-F238E27FC236}">
                <a16:creationId xmlns:a16="http://schemas.microsoft.com/office/drawing/2014/main" id="{247A824C-B9AF-A24D-6ACB-2A533ABC279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5571126-72BC-2F2C-32F5-4550C76B361F}"/>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3296211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245425E-63F1-8C7B-549D-2501738EBC81}"/>
              </a:ext>
            </a:extLst>
          </p:cNvPr>
          <p:cNvSpPr>
            <a:spLocks noGrp="1"/>
          </p:cNvSpPr>
          <p:nvPr>
            <p:ph type="dt" sz="half" idx="10"/>
          </p:nvPr>
        </p:nvSpPr>
        <p:spPr/>
        <p:txBody>
          <a:bodyPr/>
          <a:lstStyle/>
          <a:p>
            <a:fld id="{581A1311-718C-4E8E-8010-28C99C476D3E}" type="datetimeFigureOut">
              <a:rPr lang="zh-CN" altLang="en-US" smtClean="0"/>
              <a:t>2026/5/8</a:t>
            </a:fld>
            <a:endParaRPr lang="zh-CN" altLang="en-US"/>
          </a:p>
        </p:txBody>
      </p:sp>
      <p:sp>
        <p:nvSpPr>
          <p:cNvPr id="3" name="页脚占位符 2">
            <a:extLst>
              <a:ext uri="{FF2B5EF4-FFF2-40B4-BE49-F238E27FC236}">
                <a16:creationId xmlns:a16="http://schemas.microsoft.com/office/drawing/2014/main" id="{9D15BD37-743A-3555-D594-4EB395EDB52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E8F4A7F-BBC8-8B36-2188-7AD1DB6C8510}"/>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417342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DAC974-1F11-FBDF-E924-00EFB060D50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AE1FF8B-5449-16C1-9117-6A9AF3F191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933095F-2F71-A5EF-AA0E-E2E46581DC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02D3D2C-C045-58EC-593E-01ED19C3F511}"/>
              </a:ext>
            </a:extLst>
          </p:cNvPr>
          <p:cNvSpPr>
            <a:spLocks noGrp="1"/>
          </p:cNvSpPr>
          <p:nvPr>
            <p:ph type="dt" sz="half" idx="10"/>
          </p:nvPr>
        </p:nvSpPr>
        <p:spPr/>
        <p:txBody>
          <a:bodyPr/>
          <a:lstStyle/>
          <a:p>
            <a:fld id="{581A1311-718C-4E8E-8010-28C99C476D3E}"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D15534F9-98DA-7FFC-7497-068309D80B6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228BDC1-A0EA-621D-1E4F-B7AB87832A78}"/>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3382836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9795EE-5CBD-2CA9-5410-1BD98349A5C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FAAC34C-6561-C8CC-1C2F-6675652D18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1B6923B-BE4B-0242-704E-A24ED1E39C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67A3707-393A-AA57-BE0F-9146B734CAFC}"/>
              </a:ext>
            </a:extLst>
          </p:cNvPr>
          <p:cNvSpPr>
            <a:spLocks noGrp="1"/>
          </p:cNvSpPr>
          <p:nvPr>
            <p:ph type="dt" sz="half" idx="10"/>
          </p:nvPr>
        </p:nvSpPr>
        <p:spPr/>
        <p:txBody>
          <a:bodyPr/>
          <a:lstStyle/>
          <a:p>
            <a:fld id="{581A1311-718C-4E8E-8010-28C99C476D3E}" type="datetimeFigureOut">
              <a:rPr lang="zh-CN" altLang="en-US" smtClean="0"/>
              <a:t>2026/5/8</a:t>
            </a:fld>
            <a:endParaRPr lang="zh-CN" altLang="en-US"/>
          </a:p>
        </p:txBody>
      </p:sp>
      <p:sp>
        <p:nvSpPr>
          <p:cNvPr id="6" name="页脚占位符 5">
            <a:extLst>
              <a:ext uri="{FF2B5EF4-FFF2-40B4-BE49-F238E27FC236}">
                <a16:creationId xmlns:a16="http://schemas.microsoft.com/office/drawing/2014/main" id="{2DD6A942-7DEA-8CB8-E636-F99A852FE0F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A2972AF-4114-7143-3BB1-BB1799CB0413}"/>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1188813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DE440D-4A08-996F-6F9D-5EAACC1EC12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EA89773-6E70-2454-3694-6E6E94AE763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09AACA9-A3A4-7359-44D3-7B120F462304}"/>
              </a:ext>
            </a:extLst>
          </p:cNvPr>
          <p:cNvSpPr>
            <a:spLocks noGrp="1"/>
          </p:cNvSpPr>
          <p:nvPr>
            <p:ph type="dt" sz="half" idx="10"/>
          </p:nvPr>
        </p:nvSpPr>
        <p:spPr/>
        <p:txBody>
          <a:bodyPr/>
          <a:lstStyle/>
          <a:p>
            <a:fld id="{581A1311-718C-4E8E-8010-28C99C476D3E}"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96BC84EE-31D0-C11F-77B6-56A5F3D1D26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59F289-437F-9D3E-AB4E-715543EF1DD5}"/>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229012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566F4D7-A7D1-62BC-6AD1-86009288BDD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3DF113C-89AD-BBC1-2D33-80571441225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774B0C4-B5CD-03FF-EA31-9602995C25EB}"/>
              </a:ext>
            </a:extLst>
          </p:cNvPr>
          <p:cNvSpPr>
            <a:spLocks noGrp="1"/>
          </p:cNvSpPr>
          <p:nvPr>
            <p:ph type="dt" sz="half" idx="10"/>
          </p:nvPr>
        </p:nvSpPr>
        <p:spPr/>
        <p:txBody>
          <a:bodyPr/>
          <a:lstStyle/>
          <a:p>
            <a:fld id="{581A1311-718C-4E8E-8010-28C99C476D3E}"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A5269FB6-3AFE-E1C1-A6D0-38908435D51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49A872-3A4D-4886-370B-CEB3F69837C9}"/>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4125585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BAC242A-94BD-4A9E-21E0-8F4C054814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6124D57-F158-A3F1-64ED-D777AD5BC3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4E01C5B-1A48-0B0D-00BB-ED3B93CC61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1A1311-718C-4E8E-8010-28C99C476D3E}" type="datetimeFigureOut">
              <a:rPr lang="zh-CN" altLang="en-US" smtClean="0"/>
              <a:t>2026/5/8</a:t>
            </a:fld>
            <a:endParaRPr lang="zh-CN" altLang="en-US"/>
          </a:p>
        </p:txBody>
      </p:sp>
      <p:sp>
        <p:nvSpPr>
          <p:cNvPr id="5" name="页脚占位符 4">
            <a:extLst>
              <a:ext uri="{FF2B5EF4-FFF2-40B4-BE49-F238E27FC236}">
                <a16:creationId xmlns:a16="http://schemas.microsoft.com/office/drawing/2014/main" id="{69C69252-B5BF-21FB-31A8-10B7AC59CE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ED3F8026-D52C-69F6-ABDA-B04755E87D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15198481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803B6467-763A-9D02-53E0-49CDED985840}"/>
              </a:ext>
            </a:extLst>
          </p:cNvPr>
          <p:cNvSpPr/>
          <p:nvPr/>
        </p:nvSpPr>
        <p:spPr>
          <a:xfrm>
            <a:off x="0" y="4053249"/>
            <a:ext cx="12192000" cy="2709193"/>
          </a:xfrm>
          <a:prstGeom prst="rect">
            <a:avLst/>
          </a:prstGeom>
          <a:solidFill>
            <a:srgbClr val="177D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a:t>
            </a:r>
            <a:endParaRPr lang="zh-CN" altLang="en-US" dirty="0"/>
          </a:p>
        </p:txBody>
      </p:sp>
      <p:sp>
        <p:nvSpPr>
          <p:cNvPr id="10" name="标题 1">
            <a:extLst>
              <a:ext uri="{FF2B5EF4-FFF2-40B4-BE49-F238E27FC236}">
                <a16:creationId xmlns:a16="http://schemas.microsoft.com/office/drawing/2014/main" id="{5F1B4B02-AA08-F23A-BC90-8368519466D7}"/>
              </a:ext>
            </a:extLst>
          </p:cNvPr>
          <p:cNvSpPr txBox="1">
            <a:spLocks/>
          </p:cNvSpPr>
          <p:nvPr/>
        </p:nvSpPr>
        <p:spPr>
          <a:xfrm>
            <a:off x="1524000" y="2297336"/>
            <a:ext cx="9144000" cy="109962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b="1" dirty="0">
                <a:effectLst>
                  <a:innerShdw blurRad="114300">
                    <a:prstClr val="black"/>
                  </a:innerShdw>
                </a:effectLst>
                <a:latin typeface="+mn-ea"/>
                <a:ea typeface="+mn-ea"/>
              </a:rPr>
              <a:t>洗论机介绍</a:t>
            </a:r>
          </a:p>
        </p:txBody>
      </p:sp>
      <p:pic>
        <p:nvPicPr>
          <p:cNvPr id="11" name="图片 10">
            <a:extLst>
              <a:ext uri="{FF2B5EF4-FFF2-40B4-BE49-F238E27FC236}">
                <a16:creationId xmlns:a16="http://schemas.microsoft.com/office/drawing/2014/main" id="{D9112190-9BDB-4E61-23A6-C9C747C6078A}"/>
              </a:ext>
            </a:extLst>
          </p:cNvPr>
          <p:cNvPicPr>
            <a:picLocks noChangeAspect="1"/>
          </p:cNvPicPr>
          <p:nvPr/>
        </p:nvPicPr>
        <p:blipFill>
          <a:blip r:embed="rId2"/>
          <a:stretch>
            <a:fillRect/>
          </a:stretch>
        </p:blipFill>
        <p:spPr>
          <a:xfrm>
            <a:off x="184195" y="197312"/>
            <a:ext cx="1741460" cy="586009"/>
          </a:xfrm>
          <a:prstGeom prst="rect">
            <a:avLst/>
          </a:prstGeom>
        </p:spPr>
      </p:pic>
      <p:sp>
        <p:nvSpPr>
          <p:cNvPr id="12" name="矩形 11">
            <a:extLst>
              <a:ext uri="{FF2B5EF4-FFF2-40B4-BE49-F238E27FC236}">
                <a16:creationId xmlns:a16="http://schemas.microsoft.com/office/drawing/2014/main" id="{90E291F7-7C7C-34E1-755A-DD67448DE9EB}"/>
              </a:ext>
            </a:extLst>
          </p:cNvPr>
          <p:cNvSpPr/>
          <p:nvPr/>
        </p:nvSpPr>
        <p:spPr>
          <a:xfrm>
            <a:off x="0" y="4148805"/>
            <a:ext cx="12192000" cy="2709193"/>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副标题 2">
            <a:extLst>
              <a:ext uri="{FF2B5EF4-FFF2-40B4-BE49-F238E27FC236}">
                <a16:creationId xmlns:a16="http://schemas.microsoft.com/office/drawing/2014/main" id="{7828951D-D130-BB31-6D00-5E23884CD051}"/>
              </a:ext>
            </a:extLst>
          </p:cNvPr>
          <p:cNvSpPr>
            <a:spLocks noGrp="1"/>
          </p:cNvSpPr>
          <p:nvPr>
            <p:ph type="subTitle" idx="1"/>
          </p:nvPr>
        </p:nvSpPr>
        <p:spPr>
          <a:xfrm>
            <a:off x="8227751" y="4900655"/>
            <a:ext cx="3517260" cy="1205494"/>
          </a:xfrm>
        </p:spPr>
        <p:txBody>
          <a:bodyPr>
            <a:normAutofit/>
          </a:bodyPr>
          <a:lstStyle/>
          <a:p>
            <a:r>
              <a:rPr lang="zh-CN" altLang="en-US" sz="3200" b="1" dirty="0">
                <a:solidFill>
                  <a:schemeClr val="bg1"/>
                </a:solidFill>
                <a:latin typeface="+mn-ea"/>
              </a:rPr>
              <a:t>制作人 王小明</a:t>
            </a:r>
          </a:p>
        </p:txBody>
      </p:sp>
      <p:sp>
        <p:nvSpPr>
          <p:cNvPr id="14" name="Text Placeholder 1">
            <a:extLst>
              <a:ext uri="{FF2B5EF4-FFF2-40B4-BE49-F238E27FC236}">
                <a16:creationId xmlns:a16="http://schemas.microsoft.com/office/drawing/2014/main" id="{F712D54D-5998-E98F-5664-1AAA17813899}"/>
              </a:ext>
            </a:extLst>
          </p:cNvPr>
          <p:cNvSpPr>
            <a:spLocks noChangeArrowheads="1"/>
          </p:cNvSpPr>
          <p:nvPr/>
        </p:nvSpPr>
        <p:spPr bwMode="auto">
          <a:xfrm>
            <a:off x="184195" y="6106149"/>
            <a:ext cx="5721796" cy="440494"/>
          </a:xfrm>
          <a:prstGeom prst="rect">
            <a:avLst/>
          </a:prstGeom>
          <a:noFill/>
          <a:ln w="9525">
            <a:noFill/>
            <a:bevel/>
          </a:ln>
        </p:spPr>
        <p:txBody>
          <a:bodyPr anchor="ctr"/>
          <a:lstStyle/>
          <a:p>
            <a:pPr eaLnBrk="1" hangingPunct="1">
              <a:defRPr/>
            </a:pPr>
            <a:r>
              <a:rPr lang="en-US" altLang="zh-CN" sz="1400" b="1" dirty="0">
                <a:solidFill>
                  <a:schemeClr val="accent4">
                    <a:lumMod val="95000"/>
                    <a:lumOff val="5000"/>
                  </a:schemeClr>
                </a:solidFill>
                <a:latin typeface="Arial" panose="020B0604020202020204" pitchFamily="34" charset="0"/>
                <a:cs typeface="Arial" panose="020B0604020202020204" pitchFamily="34" charset="0"/>
              </a:rPr>
              <a:t>Prepared by AIR-Tech@ </a:t>
            </a:r>
            <a:fld id="{5853BA87-C0A4-4D40-A7D0-264FBDFF6174}" type="datetime9">
              <a:rPr lang="en-US" altLang="zh-CN" sz="1400" b="1" dirty="0" smtClean="0">
                <a:solidFill>
                  <a:schemeClr val="accent4">
                    <a:lumMod val="95000"/>
                    <a:lumOff val="5000"/>
                  </a:schemeClr>
                </a:solidFill>
                <a:latin typeface="Arial" panose="020B0604020202020204" pitchFamily="34" charset="0"/>
                <a:cs typeface="Arial" panose="020B0604020202020204" pitchFamily="34" charset="0"/>
              </a:rPr>
              <a:t>5/8/2026 5:57:41 PM</a:t>
            </a:fld>
            <a:endParaRPr lang="zh-CN" altLang="en-US" sz="1400" b="1" dirty="0">
              <a:solidFill>
                <a:schemeClr val="accent4">
                  <a:lumMod val="95000"/>
                  <a:lumOff val="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9912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1BDFDFFA-7225-6DC6-8F5A-9EF12E9623E4}"/>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355744B-45F1-D3D2-4542-BB06029776E0}"/>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E20D75DF-7757-7B5C-0233-988E6CC61BA9}"/>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681B7505-5F3C-36F1-0F81-ED55EC9A81CA}"/>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B84AC7C2-E82B-3795-B485-7DECE7C37686}"/>
              </a:ext>
            </a:extLst>
          </p:cNvPr>
          <p:cNvSpPr txBox="1">
            <a:spLocks/>
          </p:cNvSpPr>
          <p:nvPr/>
        </p:nvSpPr>
        <p:spPr>
          <a:xfrm>
            <a:off x="1685686" y="760689"/>
            <a:ext cx="3233011" cy="1292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6000" b="1" dirty="0">
                <a:latin typeface="+mn-ea"/>
                <a:ea typeface="+mn-ea"/>
              </a:rPr>
              <a:t>目录</a:t>
            </a:r>
          </a:p>
        </p:txBody>
      </p:sp>
      <p:sp>
        <p:nvSpPr>
          <p:cNvPr id="9" name="矩形 8">
            <a:extLst>
              <a:ext uri="{FF2B5EF4-FFF2-40B4-BE49-F238E27FC236}">
                <a16:creationId xmlns:a16="http://schemas.microsoft.com/office/drawing/2014/main" id="{B6B06544-18DC-8820-7975-217DF2D8B31B}"/>
              </a:ext>
            </a:extLst>
          </p:cNvPr>
          <p:cNvSpPr/>
          <p:nvPr/>
        </p:nvSpPr>
        <p:spPr>
          <a:xfrm>
            <a:off x="1610015" y="2458115"/>
            <a:ext cx="136026" cy="14358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E374C6DA-EA88-8B5D-DFAD-3E9BB6239C8E}"/>
              </a:ext>
            </a:extLst>
          </p:cNvPr>
          <p:cNvSpPr/>
          <p:nvPr/>
        </p:nvSpPr>
        <p:spPr>
          <a:xfrm>
            <a:off x="1610015" y="3318693"/>
            <a:ext cx="136026" cy="14358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BA003B26-6273-B383-1438-0C6725968588}"/>
              </a:ext>
            </a:extLst>
          </p:cNvPr>
          <p:cNvSpPr/>
          <p:nvPr/>
        </p:nvSpPr>
        <p:spPr>
          <a:xfrm>
            <a:off x="1610015" y="4179271"/>
            <a:ext cx="136026" cy="14358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A98D6A76-CEDC-15CA-F25C-FDDF1BFE9CAF}"/>
              </a:ext>
            </a:extLst>
          </p:cNvPr>
          <p:cNvSpPr/>
          <p:nvPr/>
        </p:nvSpPr>
        <p:spPr>
          <a:xfrm>
            <a:off x="1610015" y="5039849"/>
            <a:ext cx="136026" cy="14358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AC516E1A-2B28-37F2-0FCF-6439294ED17E}"/>
              </a:ext>
            </a:extLst>
          </p:cNvPr>
          <p:cNvSpPr txBox="1"/>
          <p:nvPr/>
        </p:nvSpPr>
        <p:spPr>
          <a:xfrm>
            <a:off x="2270877" y="3098097"/>
            <a:ext cx="6127845" cy="584775"/>
          </a:xfrm>
          <a:prstGeom prst="rect">
            <a:avLst/>
          </a:prstGeom>
          <a:noFill/>
        </p:spPr>
        <p:txBody>
          <a:bodyPr wrap="square" rtlCol="0">
            <a:spAutoFit/>
          </a:bodyPr>
          <a:lstStyle/>
          <a:p>
            <a:r>
              <a:rPr lang="zh-CN" altLang="en-US" sz="3200" b="1" dirty="0">
                <a:solidFill>
                  <a:srgbClr val="0048CE"/>
                </a:solidFill>
              </a:rPr>
              <a:t>主要亮点</a:t>
            </a:r>
          </a:p>
        </p:txBody>
      </p:sp>
      <p:sp>
        <p:nvSpPr>
          <p:cNvPr id="15" name="文本框 14">
            <a:extLst>
              <a:ext uri="{FF2B5EF4-FFF2-40B4-BE49-F238E27FC236}">
                <a16:creationId xmlns:a16="http://schemas.microsoft.com/office/drawing/2014/main" id="{13BE3C3F-BA9F-9506-BF48-8E4736934F2F}"/>
              </a:ext>
            </a:extLst>
          </p:cNvPr>
          <p:cNvSpPr txBox="1"/>
          <p:nvPr/>
        </p:nvSpPr>
        <p:spPr>
          <a:xfrm>
            <a:off x="2270876" y="3958675"/>
            <a:ext cx="6127845" cy="584775"/>
          </a:xfrm>
          <a:prstGeom prst="rect">
            <a:avLst/>
          </a:prstGeom>
          <a:noFill/>
        </p:spPr>
        <p:txBody>
          <a:bodyPr wrap="square" rtlCol="0">
            <a:spAutoFit/>
          </a:bodyPr>
          <a:lstStyle/>
          <a:p>
            <a:r>
              <a:rPr lang="zh-CN" altLang="en-US" sz="3200" b="1" dirty="0">
                <a:solidFill>
                  <a:srgbClr val="0048CE"/>
                </a:solidFill>
              </a:rPr>
              <a:t>主要参数声明</a:t>
            </a:r>
          </a:p>
        </p:txBody>
      </p:sp>
      <p:sp>
        <p:nvSpPr>
          <p:cNvPr id="16" name="文本框 15">
            <a:extLst>
              <a:ext uri="{FF2B5EF4-FFF2-40B4-BE49-F238E27FC236}">
                <a16:creationId xmlns:a16="http://schemas.microsoft.com/office/drawing/2014/main" id="{EA00FC14-B131-15EE-46CE-A39525270C23}"/>
              </a:ext>
            </a:extLst>
          </p:cNvPr>
          <p:cNvSpPr txBox="1"/>
          <p:nvPr/>
        </p:nvSpPr>
        <p:spPr>
          <a:xfrm>
            <a:off x="2270876" y="4819253"/>
            <a:ext cx="6127845" cy="584775"/>
          </a:xfrm>
          <a:prstGeom prst="rect">
            <a:avLst/>
          </a:prstGeom>
          <a:noFill/>
        </p:spPr>
        <p:txBody>
          <a:bodyPr wrap="square" rtlCol="0">
            <a:spAutoFit/>
          </a:bodyPr>
          <a:lstStyle/>
          <a:p>
            <a:r>
              <a:rPr lang="zh-CN" altLang="en-US" sz="3200" b="1" dirty="0">
                <a:solidFill>
                  <a:srgbClr val="0048CE"/>
                </a:solidFill>
              </a:rPr>
              <a:t>解决的问题</a:t>
            </a:r>
          </a:p>
        </p:txBody>
      </p:sp>
      <p:sp>
        <p:nvSpPr>
          <p:cNvPr id="11" name="文本框 10">
            <a:extLst>
              <a:ext uri="{FF2B5EF4-FFF2-40B4-BE49-F238E27FC236}">
                <a16:creationId xmlns:a16="http://schemas.microsoft.com/office/drawing/2014/main" id="{8B6C14CB-3497-B49B-C8D4-E0AFBC6FC128}"/>
              </a:ext>
            </a:extLst>
          </p:cNvPr>
          <p:cNvSpPr txBox="1"/>
          <p:nvPr/>
        </p:nvSpPr>
        <p:spPr>
          <a:xfrm>
            <a:off x="2270877" y="2237519"/>
            <a:ext cx="6127845" cy="584775"/>
          </a:xfrm>
          <a:prstGeom prst="rect">
            <a:avLst/>
          </a:prstGeom>
          <a:noFill/>
        </p:spPr>
        <p:txBody>
          <a:bodyPr wrap="square" rtlCol="0">
            <a:spAutoFit/>
          </a:bodyPr>
          <a:lstStyle/>
          <a:p>
            <a:r>
              <a:rPr lang="zh-CN" altLang="en-US" sz="3200" b="1" dirty="0">
                <a:solidFill>
                  <a:srgbClr val="0048CE"/>
                </a:solidFill>
              </a:rPr>
              <a:t>整体概览</a:t>
            </a:r>
          </a:p>
        </p:txBody>
      </p:sp>
    </p:spTree>
    <p:extLst>
      <p:ext uri="{BB962C8B-B14F-4D97-AF65-F5344CB8AC3E}">
        <p14:creationId xmlns:p14="http://schemas.microsoft.com/office/powerpoint/2010/main" val="36708355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951BD646-838B-2071-AE7E-E2EAD94A621C}"/>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2BB2B750-3E03-C0C8-67B9-192E4B9BCEAA}"/>
              </a:ext>
            </a:extLst>
          </p:cNvPr>
          <p:cNvSpPr/>
          <p:nvPr/>
        </p:nvSpPr>
        <p:spPr>
          <a:xfrm>
            <a:off x="0" y="4053249"/>
            <a:ext cx="12192000" cy="2709193"/>
          </a:xfrm>
          <a:prstGeom prst="rect">
            <a:avLst/>
          </a:prstGeom>
          <a:solidFill>
            <a:srgbClr val="177D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a:t>
            </a:r>
            <a:endParaRPr lang="zh-CN" altLang="en-US" dirty="0"/>
          </a:p>
        </p:txBody>
      </p:sp>
      <p:pic>
        <p:nvPicPr>
          <p:cNvPr id="11" name="图片 10">
            <a:extLst>
              <a:ext uri="{FF2B5EF4-FFF2-40B4-BE49-F238E27FC236}">
                <a16:creationId xmlns:a16="http://schemas.microsoft.com/office/drawing/2014/main" id="{8222DAA1-1BAE-0CE8-9C77-2C3E82A80B4A}"/>
              </a:ext>
            </a:extLst>
          </p:cNvPr>
          <p:cNvPicPr>
            <a:picLocks noChangeAspect="1"/>
          </p:cNvPicPr>
          <p:nvPr/>
        </p:nvPicPr>
        <p:blipFill>
          <a:blip r:embed="rId2"/>
          <a:stretch>
            <a:fillRect/>
          </a:stretch>
        </p:blipFill>
        <p:spPr>
          <a:xfrm>
            <a:off x="184195" y="197312"/>
            <a:ext cx="1741460" cy="586009"/>
          </a:xfrm>
          <a:prstGeom prst="rect">
            <a:avLst/>
          </a:prstGeom>
        </p:spPr>
      </p:pic>
      <p:sp>
        <p:nvSpPr>
          <p:cNvPr id="12" name="矩形 11">
            <a:extLst>
              <a:ext uri="{FF2B5EF4-FFF2-40B4-BE49-F238E27FC236}">
                <a16:creationId xmlns:a16="http://schemas.microsoft.com/office/drawing/2014/main" id="{CE414B79-C6DC-2DFE-D9CD-5C62B5D5D4B1}"/>
              </a:ext>
            </a:extLst>
          </p:cNvPr>
          <p:cNvSpPr/>
          <p:nvPr/>
        </p:nvSpPr>
        <p:spPr>
          <a:xfrm>
            <a:off x="0" y="4148805"/>
            <a:ext cx="12192000" cy="2709193"/>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副标题 2">
            <a:extLst>
              <a:ext uri="{FF2B5EF4-FFF2-40B4-BE49-F238E27FC236}">
                <a16:creationId xmlns:a16="http://schemas.microsoft.com/office/drawing/2014/main" id="{D1E3830A-65AA-9A7B-02C0-342521E19E51}"/>
              </a:ext>
            </a:extLst>
          </p:cNvPr>
          <p:cNvSpPr>
            <a:spLocks noGrp="1"/>
          </p:cNvSpPr>
          <p:nvPr>
            <p:ph type="subTitle" idx="1"/>
          </p:nvPr>
        </p:nvSpPr>
        <p:spPr>
          <a:xfrm>
            <a:off x="8227751" y="4900655"/>
            <a:ext cx="3517260" cy="1205494"/>
          </a:xfrm>
        </p:spPr>
        <p:txBody>
          <a:bodyPr>
            <a:normAutofit/>
          </a:bodyPr>
          <a:lstStyle/>
          <a:p>
            <a:r>
              <a:rPr lang="zh-CN" altLang="en-US" sz="3200" b="1" dirty="0">
                <a:solidFill>
                  <a:schemeClr val="bg1"/>
                </a:solidFill>
                <a:latin typeface="+mn-ea"/>
              </a:rPr>
              <a:t>介绍整体</a:t>
            </a:r>
            <a:endParaRPr lang="en-US" altLang="zh-CN" sz="3200" b="1" dirty="0">
              <a:solidFill>
                <a:schemeClr val="bg1"/>
              </a:solidFill>
              <a:latin typeface="+mn-ea"/>
            </a:endParaRPr>
          </a:p>
          <a:p>
            <a:r>
              <a:rPr lang="zh-CN" altLang="en-US" sz="3200" b="1" dirty="0">
                <a:solidFill>
                  <a:schemeClr val="bg1"/>
                </a:solidFill>
                <a:latin typeface="+mn-ea"/>
              </a:rPr>
              <a:t>的设计样貌</a:t>
            </a:r>
          </a:p>
        </p:txBody>
      </p:sp>
      <p:sp>
        <p:nvSpPr>
          <p:cNvPr id="14" name="Text Placeholder 1">
            <a:extLst>
              <a:ext uri="{FF2B5EF4-FFF2-40B4-BE49-F238E27FC236}">
                <a16:creationId xmlns:a16="http://schemas.microsoft.com/office/drawing/2014/main" id="{23D3ADBF-4AFC-CCC2-9583-4CB1F2DB95B9}"/>
              </a:ext>
            </a:extLst>
          </p:cNvPr>
          <p:cNvSpPr>
            <a:spLocks noChangeArrowheads="1"/>
          </p:cNvSpPr>
          <p:nvPr/>
        </p:nvSpPr>
        <p:spPr bwMode="auto">
          <a:xfrm>
            <a:off x="184195" y="6106149"/>
            <a:ext cx="5721796" cy="440494"/>
          </a:xfrm>
          <a:prstGeom prst="rect">
            <a:avLst/>
          </a:prstGeom>
          <a:noFill/>
          <a:ln w="9525">
            <a:noFill/>
            <a:bevel/>
          </a:ln>
        </p:spPr>
        <p:txBody>
          <a:bodyPr anchor="ctr"/>
          <a:lstStyle/>
          <a:p>
            <a:pPr eaLnBrk="1" hangingPunct="1">
              <a:defRPr/>
            </a:pPr>
            <a:r>
              <a:rPr lang="en-US" altLang="zh-CN" sz="1400" b="1" dirty="0">
                <a:solidFill>
                  <a:schemeClr val="accent4">
                    <a:lumMod val="95000"/>
                    <a:lumOff val="5000"/>
                  </a:schemeClr>
                </a:solidFill>
                <a:latin typeface="Arial" panose="020B0604020202020204" pitchFamily="34" charset="0"/>
                <a:cs typeface="Arial" panose="020B0604020202020204" pitchFamily="34" charset="0"/>
              </a:rPr>
              <a:t>Prepared by AIR-Tech@ </a:t>
            </a:r>
            <a:fld id="{5853BA87-C0A4-4D40-A7D0-264FBDFF6174}" type="datetime9">
              <a:rPr lang="en-US" altLang="zh-CN" sz="1400" b="1" dirty="0" smtClean="0">
                <a:solidFill>
                  <a:schemeClr val="accent4">
                    <a:lumMod val="95000"/>
                    <a:lumOff val="5000"/>
                  </a:schemeClr>
                </a:solidFill>
                <a:latin typeface="Arial" panose="020B0604020202020204" pitchFamily="34" charset="0"/>
                <a:cs typeface="Arial" panose="020B0604020202020204" pitchFamily="34" charset="0"/>
              </a:rPr>
              <a:t>5/8/2026 5:57:41 PM</a:t>
            </a:fld>
            <a:endParaRPr lang="zh-CN" altLang="en-US" sz="1400" b="1" dirty="0">
              <a:solidFill>
                <a:schemeClr val="accent4">
                  <a:lumMod val="95000"/>
                  <a:lumOff val="5000"/>
                </a:schemeClr>
              </a:solidFill>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989D0C88-12C8-B08E-1A88-2C340F798154}"/>
              </a:ext>
            </a:extLst>
          </p:cNvPr>
          <p:cNvSpPr txBox="1"/>
          <p:nvPr/>
        </p:nvSpPr>
        <p:spPr>
          <a:xfrm>
            <a:off x="3045093" y="2058914"/>
            <a:ext cx="6094902" cy="1015663"/>
          </a:xfrm>
          <a:prstGeom prst="rect">
            <a:avLst/>
          </a:prstGeom>
          <a:noFill/>
        </p:spPr>
        <p:txBody>
          <a:bodyPr wrap="square">
            <a:spAutoFit/>
          </a:bodyPr>
          <a:lstStyle/>
          <a:p>
            <a:pPr algn="ctr"/>
            <a:r>
              <a:rPr lang="zh-CN" altLang="en-US" sz="6000" b="1" dirty="0"/>
              <a:t>整体概览</a:t>
            </a:r>
          </a:p>
        </p:txBody>
      </p:sp>
    </p:spTree>
    <p:extLst>
      <p:ext uri="{BB962C8B-B14F-4D97-AF65-F5344CB8AC3E}">
        <p14:creationId xmlns:p14="http://schemas.microsoft.com/office/powerpoint/2010/main" val="25609638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27F1774C-0CD3-1641-D735-9A12059836E2}"/>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C80CDE7-6DC8-D5D2-BEDF-61D1E5129A2C}"/>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B9CFE02D-9F47-A25D-3E71-23F7E329B139}"/>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55ECF06D-7FBD-F09D-6F27-F53911B86E52}"/>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1923198F-A969-5B90-AC54-FB431321BFFF}"/>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整体概览</a:t>
            </a:r>
          </a:p>
        </p:txBody>
      </p:sp>
      <p:pic>
        <p:nvPicPr>
          <p:cNvPr id="9" name="图片 8" descr="图示&#10;&#10;AI 生成的内容可能不正确。">
            <a:extLst>
              <a:ext uri="{FF2B5EF4-FFF2-40B4-BE49-F238E27FC236}">
                <a16:creationId xmlns:a16="http://schemas.microsoft.com/office/drawing/2014/main" id="{A86D3F16-2489-A758-441E-F25CC54D23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5421" y="1554139"/>
            <a:ext cx="5021027" cy="4694347"/>
          </a:xfrm>
          <a:prstGeom prst="rect">
            <a:avLst/>
          </a:prstGeom>
        </p:spPr>
      </p:pic>
      <p:sp>
        <p:nvSpPr>
          <p:cNvPr id="10" name="文本框 9">
            <a:extLst>
              <a:ext uri="{FF2B5EF4-FFF2-40B4-BE49-F238E27FC236}">
                <a16:creationId xmlns:a16="http://schemas.microsoft.com/office/drawing/2014/main" id="{59516D41-906E-251E-468F-DD9B5AB58384}"/>
              </a:ext>
            </a:extLst>
          </p:cNvPr>
          <p:cNvSpPr txBox="1"/>
          <p:nvPr/>
        </p:nvSpPr>
        <p:spPr>
          <a:xfrm>
            <a:off x="2231406" y="1727108"/>
            <a:ext cx="5309174" cy="4154984"/>
          </a:xfrm>
          <a:prstGeom prst="rect">
            <a:avLst/>
          </a:prstGeom>
          <a:noFill/>
        </p:spPr>
        <p:txBody>
          <a:bodyPr wrap="square" rtlCol="0">
            <a:spAutoFit/>
          </a:bodyPr>
          <a:lstStyle/>
          <a:p>
            <a:r>
              <a:rPr lang="zh-CN" altLang="en-US" sz="2400" dirty="0"/>
              <a:t>根据圆周运动包含水平运动和竖直运动的原理将水平运动和竖直运动合成为摇臂的圆周运动实现小车的抬升平移</a:t>
            </a:r>
            <a:endParaRPr lang="en-US" altLang="zh-CN" sz="2400" dirty="0"/>
          </a:p>
          <a:p>
            <a:endParaRPr lang="en-US" altLang="zh-CN" sz="2400" dirty="0"/>
          </a:p>
          <a:p>
            <a:r>
              <a:rPr lang="zh-CN" altLang="en-US" sz="2400" dirty="0"/>
              <a:t>本设计的清洗带和毛刷使用不同速比</a:t>
            </a:r>
            <a:endParaRPr lang="en-US" altLang="zh-CN" sz="2400" dirty="0"/>
          </a:p>
          <a:p>
            <a:r>
              <a:rPr lang="zh-CN" altLang="en-US" sz="2400" dirty="0"/>
              <a:t>实现了清洗带的自清洁，实现长多次时间清洗</a:t>
            </a:r>
            <a:endParaRPr lang="en-US" altLang="zh-CN" sz="2400" dirty="0"/>
          </a:p>
          <a:p>
            <a:endParaRPr lang="en-US" altLang="zh-CN" sz="2400" dirty="0"/>
          </a:p>
          <a:p>
            <a:endParaRPr lang="en-US" altLang="zh-CN" sz="2400" dirty="0"/>
          </a:p>
          <a:p>
            <a:r>
              <a:rPr lang="zh-CN" altLang="en-US" sz="2400" dirty="0"/>
              <a:t>实现</a:t>
            </a:r>
            <a:r>
              <a:rPr lang="en-US" altLang="zh-CN" sz="2400" dirty="0" err="1"/>
              <a:t>agv</a:t>
            </a:r>
            <a:r>
              <a:rPr lang="zh-CN" altLang="en-US" sz="2400" dirty="0"/>
              <a:t>小车的底轮清洁</a:t>
            </a:r>
          </a:p>
        </p:txBody>
      </p:sp>
      <p:sp>
        <p:nvSpPr>
          <p:cNvPr id="11" name="文本框 10">
            <a:extLst>
              <a:ext uri="{FF2B5EF4-FFF2-40B4-BE49-F238E27FC236}">
                <a16:creationId xmlns:a16="http://schemas.microsoft.com/office/drawing/2014/main" id="{8F9709F9-CFF0-9161-8F7B-BE4CBFC25087}"/>
              </a:ext>
            </a:extLst>
          </p:cNvPr>
          <p:cNvSpPr txBox="1"/>
          <p:nvPr/>
        </p:nvSpPr>
        <p:spPr>
          <a:xfrm>
            <a:off x="950789" y="1727108"/>
            <a:ext cx="902811" cy="523220"/>
          </a:xfrm>
          <a:prstGeom prst="rect">
            <a:avLst/>
          </a:prstGeom>
          <a:noFill/>
        </p:spPr>
        <p:txBody>
          <a:bodyPr wrap="none" rtlCol="0">
            <a:spAutoFit/>
          </a:bodyPr>
          <a:lstStyle/>
          <a:p>
            <a:r>
              <a:rPr lang="zh-CN" altLang="en-US" sz="2800" b="1" dirty="0">
                <a:solidFill>
                  <a:schemeClr val="bg2"/>
                </a:solidFill>
              </a:rPr>
              <a:t>原理</a:t>
            </a:r>
          </a:p>
        </p:txBody>
      </p:sp>
      <p:sp>
        <p:nvSpPr>
          <p:cNvPr id="13" name="文本框 12">
            <a:extLst>
              <a:ext uri="{FF2B5EF4-FFF2-40B4-BE49-F238E27FC236}">
                <a16:creationId xmlns:a16="http://schemas.microsoft.com/office/drawing/2014/main" id="{4C9B3D33-23A5-B7C9-8D16-EF4A14C03B68}"/>
              </a:ext>
            </a:extLst>
          </p:cNvPr>
          <p:cNvSpPr txBox="1"/>
          <p:nvPr/>
        </p:nvSpPr>
        <p:spPr>
          <a:xfrm>
            <a:off x="950789" y="5358872"/>
            <a:ext cx="902811" cy="523220"/>
          </a:xfrm>
          <a:prstGeom prst="rect">
            <a:avLst/>
          </a:prstGeom>
          <a:noFill/>
        </p:spPr>
        <p:txBody>
          <a:bodyPr wrap="none" rtlCol="0">
            <a:spAutoFit/>
          </a:bodyPr>
          <a:lstStyle/>
          <a:p>
            <a:r>
              <a:rPr lang="zh-CN" altLang="en-US" sz="2800" b="1" dirty="0">
                <a:solidFill>
                  <a:schemeClr val="bg2"/>
                </a:solidFill>
              </a:rPr>
              <a:t>用途</a:t>
            </a:r>
          </a:p>
        </p:txBody>
      </p:sp>
    </p:spTree>
    <p:extLst>
      <p:ext uri="{BB962C8B-B14F-4D97-AF65-F5344CB8AC3E}">
        <p14:creationId xmlns:p14="http://schemas.microsoft.com/office/powerpoint/2010/main" val="20905249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AD6573E4-D300-EED1-30C5-7F7B8419F065}"/>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33867829-BB98-13E9-2014-66315B74AB83}"/>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56DB5A02-3C04-7E77-B593-6D4F0DE015F5}"/>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8E54885F-B243-A64A-DF62-8F31CD291154}"/>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378E34DB-6D2E-2F06-48EF-138ACD8573CF}"/>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整体概览</a:t>
            </a:r>
          </a:p>
        </p:txBody>
      </p:sp>
      <p:pic>
        <p:nvPicPr>
          <p:cNvPr id="9" name="图片 8" descr="图示&#10;&#10;AI 生成的内容可能不正确。">
            <a:extLst>
              <a:ext uri="{FF2B5EF4-FFF2-40B4-BE49-F238E27FC236}">
                <a16:creationId xmlns:a16="http://schemas.microsoft.com/office/drawing/2014/main" id="{C6DF3695-2BB9-2F4F-1F68-C662CE586F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0973" y="783321"/>
            <a:ext cx="5021027" cy="4694347"/>
          </a:xfrm>
          <a:prstGeom prst="rect">
            <a:avLst/>
          </a:prstGeom>
        </p:spPr>
      </p:pic>
      <p:sp>
        <p:nvSpPr>
          <p:cNvPr id="11" name="文本框 10">
            <a:extLst>
              <a:ext uri="{FF2B5EF4-FFF2-40B4-BE49-F238E27FC236}">
                <a16:creationId xmlns:a16="http://schemas.microsoft.com/office/drawing/2014/main" id="{9FC8270E-84A5-D453-3433-507CDA88D24A}"/>
              </a:ext>
            </a:extLst>
          </p:cNvPr>
          <p:cNvSpPr txBox="1"/>
          <p:nvPr/>
        </p:nvSpPr>
        <p:spPr>
          <a:xfrm>
            <a:off x="950788" y="3861083"/>
            <a:ext cx="902811" cy="523220"/>
          </a:xfrm>
          <a:prstGeom prst="rect">
            <a:avLst/>
          </a:prstGeom>
          <a:noFill/>
        </p:spPr>
        <p:txBody>
          <a:bodyPr wrap="none" rtlCol="0">
            <a:spAutoFit/>
          </a:bodyPr>
          <a:lstStyle/>
          <a:p>
            <a:r>
              <a:rPr lang="zh-CN" altLang="en-US" sz="2800" b="1" dirty="0">
                <a:solidFill>
                  <a:schemeClr val="bg2"/>
                </a:solidFill>
              </a:rPr>
              <a:t>过程</a:t>
            </a:r>
          </a:p>
        </p:txBody>
      </p:sp>
      <p:pic>
        <p:nvPicPr>
          <p:cNvPr id="3" name="图片 2" descr="图示, 工程绘图&#10;&#10;AI 生成的内容可能不正确。">
            <a:extLst>
              <a:ext uri="{FF2B5EF4-FFF2-40B4-BE49-F238E27FC236}">
                <a16:creationId xmlns:a16="http://schemas.microsoft.com/office/drawing/2014/main" id="{CBEA9C87-EA0B-BEF5-586E-3C00FDC2D4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2756" y="1672231"/>
            <a:ext cx="4906610" cy="3513538"/>
          </a:xfrm>
          <a:prstGeom prst="rect">
            <a:avLst/>
          </a:prstGeom>
        </p:spPr>
      </p:pic>
      <p:sp>
        <p:nvSpPr>
          <p:cNvPr id="8" name="文本框 7">
            <a:extLst>
              <a:ext uri="{FF2B5EF4-FFF2-40B4-BE49-F238E27FC236}">
                <a16:creationId xmlns:a16="http://schemas.microsoft.com/office/drawing/2014/main" id="{5275D88F-85F3-C717-7AED-E8A3D262E881}"/>
              </a:ext>
            </a:extLst>
          </p:cNvPr>
          <p:cNvSpPr txBox="1"/>
          <p:nvPr/>
        </p:nvSpPr>
        <p:spPr>
          <a:xfrm>
            <a:off x="3882220" y="5489904"/>
            <a:ext cx="6094902" cy="584775"/>
          </a:xfrm>
          <a:prstGeom prst="rect">
            <a:avLst/>
          </a:prstGeom>
          <a:noFill/>
        </p:spPr>
        <p:txBody>
          <a:bodyPr wrap="square">
            <a:spAutoFit/>
          </a:bodyPr>
          <a:lstStyle/>
          <a:p>
            <a:pPr algn="ctr"/>
            <a:r>
              <a:rPr lang="zh-CN" altLang="en-US" sz="3200" b="1" dirty="0"/>
              <a:t>初始状态</a:t>
            </a:r>
          </a:p>
        </p:txBody>
      </p:sp>
    </p:spTree>
    <p:extLst>
      <p:ext uri="{BB962C8B-B14F-4D97-AF65-F5344CB8AC3E}">
        <p14:creationId xmlns:p14="http://schemas.microsoft.com/office/powerpoint/2010/main" val="29389071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DF72CEAB-9E3E-268F-4B4E-C944605DF2E3}"/>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E47635F7-C872-53AA-4992-BD949B11D529}"/>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9A484BA0-B283-D4B0-27BB-00924B1E4704}"/>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65BA8026-D732-83F1-74CF-725E6212CFB1}"/>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5477C9F0-C27E-324F-25FD-BE7211BB189D}"/>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整体概览</a:t>
            </a:r>
          </a:p>
        </p:txBody>
      </p:sp>
      <p:sp>
        <p:nvSpPr>
          <p:cNvPr id="11" name="文本框 10">
            <a:extLst>
              <a:ext uri="{FF2B5EF4-FFF2-40B4-BE49-F238E27FC236}">
                <a16:creationId xmlns:a16="http://schemas.microsoft.com/office/drawing/2014/main" id="{B22E435F-5697-3AE0-6901-E83BC21D4AB5}"/>
              </a:ext>
            </a:extLst>
          </p:cNvPr>
          <p:cNvSpPr txBox="1"/>
          <p:nvPr/>
        </p:nvSpPr>
        <p:spPr>
          <a:xfrm>
            <a:off x="950788" y="3861083"/>
            <a:ext cx="902811" cy="523220"/>
          </a:xfrm>
          <a:prstGeom prst="rect">
            <a:avLst/>
          </a:prstGeom>
          <a:noFill/>
        </p:spPr>
        <p:txBody>
          <a:bodyPr wrap="none" rtlCol="0">
            <a:spAutoFit/>
          </a:bodyPr>
          <a:lstStyle/>
          <a:p>
            <a:r>
              <a:rPr lang="zh-CN" altLang="en-US" sz="2800" b="1" dirty="0">
                <a:solidFill>
                  <a:schemeClr val="bg2"/>
                </a:solidFill>
              </a:rPr>
              <a:t>过程</a:t>
            </a:r>
          </a:p>
        </p:txBody>
      </p:sp>
      <p:sp>
        <p:nvSpPr>
          <p:cNvPr id="8" name="文本框 7">
            <a:extLst>
              <a:ext uri="{FF2B5EF4-FFF2-40B4-BE49-F238E27FC236}">
                <a16:creationId xmlns:a16="http://schemas.microsoft.com/office/drawing/2014/main" id="{87FB4A8C-45AA-D9CE-EFE3-859D6936F17B}"/>
              </a:ext>
            </a:extLst>
          </p:cNvPr>
          <p:cNvSpPr txBox="1"/>
          <p:nvPr/>
        </p:nvSpPr>
        <p:spPr>
          <a:xfrm>
            <a:off x="3882220" y="5489904"/>
            <a:ext cx="6697774" cy="584775"/>
          </a:xfrm>
          <a:prstGeom prst="rect">
            <a:avLst/>
          </a:prstGeom>
          <a:noFill/>
        </p:spPr>
        <p:txBody>
          <a:bodyPr wrap="square">
            <a:spAutoFit/>
          </a:bodyPr>
          <a:lstStyle/>
          <a:p>
            <a:pPr algn="ctr"/>
            <a:r>
              <a:rPr lang="zh-CN" altLang="en-US" sz="3200" b="1" dirty="0"/>
              <a:t>小车进入以后，前后的传感器响应</a:t>
            </a:r>
          </a:p>
        </p:txBody>
      </p:sp>
      <p:pic>
        <p:nvPicPr>
          <p:cNvPr id="10" name="图片 9">
            <a:extLst>
              <a:ext uri="{FF2B5EF4-FFF2-40B4-BE49-F238E27FC236}">
                <a16:creationId xmlns:a16="http://schemas.microsoft.com/office/drawing/2014/main" id="{78CB341B-0058-60A2-DA36-F8576E89F6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2575" y="1232038"/>
            <a:ext cx="4904152" cy="4016103"/>
          </a:xfrm>
          <a:prstGeom prst="rect">
            <a:avLst/>
          </a:prstGeom>
        </p:spPr>
      </p:pic>
      <p:sp>
        <p:nvSpPr>
          <p:cNvPr id="12" name="箭头: 下 11">
            <a:extLst>
              <a:ext uri="{FF2B5EF4-FFF2-40B4-BE49-F238E27FC236}">
                <a16:creationId xmlns:a16="http://schemas.microsoft.com/office/drawing/2014/main" id="{59C2D887-3C18-9E49-7F35-2923F105C383}"/>
              </a:ext>
            </a:extLst>
          </p:cNvPr>
          <p:cNvSpPr/>
          <p:nvPr/>
        </p:nvSpPr>
        <p:spPr>
          <a:xfrm>
            <a:off x="4559121" y="3193961"/>
            <a:ext cx="315532" cy="1043188"/>
          </a:xfrm>
          <a:prstGeom prst="downArrow">
            <a:avLst>
              <a:gd name="adj1" fmla="val 45918"/>
              <a:gd name="adj2" fmla="val 50000"/>
            </a:avLst>
          </a:prstGeom>
          <a:solidFill>
            <a:srgbClr val="0048CE"/>
          </a:solidFill>
          <a:ln>
            <a:solidFill>
              <a:srgbClr val="197D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下 12">
            <a:extLst>
              <a:ext uri="{FF2B5EF4-FFF2-40B4-BE49-F238E27FC236}">
                <a16:creationId xmlns:a16="http://schemas.microsoft.com/office/drawing/2014/main" id="{C50BCD9F-F5D1-A20B-D6FE-F19E9B43CE89}"/>
              </a:ext>
            </a:extLst>
          </p:cNvPr>
          <p:cNvSpPr/>
          <p:nvPr/>
        </p:nvSpPr>
        <p:spPr>
          <a:xfrm>
            <a:off x="5780468" y="3193959"/>
            <a:ext cx="315532" cy="1043189"/>
          </a:xfrm>
          <a:prstGeom prst="downArrow">
            <a:avLst>
              <a:gd name="adj1" fmla="val 45918"/>
              <a:gd name="adj2" fmla="val 50000"/>
            </a:avLst>
          </a:prstGeom>
          <a:solidFill>
            <a:srgbClr val="0048CE"/>
          </a:solidFill>
          <a:ln>
            <a:solidFill>
              <a:srgbClr val="197D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标题 1">
            <a:extLst>
              <a:ext uri="{FF2B5EF4-FFF2-40B4-BE49-F238E27FC236}">
                <a16:creationId xmlns:a16="http://schemas.microsoft.com/office/drawing/2014/main" id="{41CE49D5-FD6E-40FA-F6B2-8A54EEB8A1D5}"/>
              </a:ext>
            </a:extLst>
          </p:cNvPr>
          <p:cNvSpPr txBox="1">
            <a:spLocks/>
          </p:cNvSpPr>
          <p:nvPr/>
        </p:nvSpPr>
        <p:spPr>
          <a:xfrm>
            <a:off x="4437659" y="2546182"/>
            <a:ext cx="2402847"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0048CE"/>
                </a:solidFill>
                <a:latin typeface="+mn-ea"/>
                <a:ea typeface="+mn-ea"/>
              </a:rPr>
              <a:t>  </a:t>
            </a:r>
            <a:r>
              <a:rPr lang="zh-CN" altLang="en-US" sz="2800" b="1" dirty="0">
                <a:solidFill>
                  <a:srgbClr val="0048CE"/>
                </a:solidFill>
                <a:latin typeface="+mn-ea"/>
                <a:ea typeface="+mn-ea"/>
              </a:rPr>
              <a:t>传感器</a:t>
            </a:r>
          </a:p>
        </p:txBody>
      </p:sp>
    </p:spTree>
    <p:extLst>
      <p:ext uri="{BB962C8B-B14F-4D97-AF65-F5344CB8AC3E}">
        <p14:creationId xmlns:p14="http://schemas.microsoft.com/office/powerpoint/2010/main" val="15658476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5B7AFDBD-D16A-9B7A-B6BB-180DB037B7D7}"/>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E1FD62E3-3210-0CBA-6AB9-8B2CE0057FC0}"/>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61B5CD0F-EBAD-E170-1486-37EEA3112184}"/>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87FE8B79-092D-3037-63FC-65E281193B90}"/>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26F1F32F-EB7A-2671-CFAB-2D189556E3CE}"/>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整体概览</a:t>
            </a:r>
          </a:p>
        </p:txBody>
      </p:sp>
      <p:sp>
        <p:nvSpPr>
          <p:cNvPr id="11" name="文本框 10">
            <a:extLst>
              <a:ext uri="{FF2B5EF4-FFF2-40B4-BE49-F238E27FC236}">
                <a16:creationId xmlns:a16="http://schemas.microsoft.com/office/drawing/2014/main" id="{5E28B58E-1EDA-D967-78E1-8C71C976E5E1}"/>
              </a:ext>
            </a:extLst>
          </p:cNvPr>
          <p:cNvSpPr txBox="1"/>
          <p:nvPr/>
        </p:nvSpPr>
        <p:spPr>
          <a:xfrm>
            <a:off x="950788" y="3861083"/>
            <a:ext cx="902811" cy="523220"/>
          </a:xfrm>
          <a:prstGeom prst="rect">
            <a:avLst/>
          </a:prstGeom>
          <a:noFill/>
        </p:spPr>
        <p:txBody>
          <a:bodyPr wrap="none" rtlCol="0">
            <a:spAutoFit/>
          </a:bodyPr>
          <a:lstStyle/>
          <a:p>
            <a:r>
              <a:rPr lang="zh-CN" altLang="en-US" sz="2800" b="1" dirty="0">
                <a:solidFill>
                  <a:schemeClr val="bg2"/>
                </a:solidFill>
              </a:rPr>
              <a:t>过程</a:t>
            </a:r>
          </a:p>
        </p:txBody>
      </p:sp>
      <p:sp>
        <p:nvSpPr>
          <p:cNvPr id="8" name="文本框 7">
            <a:extLst>
              <a:ext uri="{FF2B5EF4-FFF2-40B4-BE49-F238E27FC236}">
                <a16:creationId xmlns:a16="http://schemas.microsoft.com/office/drawing/2014/main" id="{72377026-36C3-57DB-F5A1-2EB8280D7BF7}"/>
              </a:ext>
            </a:extLst>
          </p:cNvPr>
          <p:cNvSpPr txBox="1"/>
          <p:nvPr/>
        </p:nvSpPr>
        <p:spPr>
          <a:xfrm>
            <a:off x="3882220" y="5489904"/>
            <a:ext cx="6697774" cy="584775"/>
          </a:xfrm>
          <a:prstGeom prst="rect">
            <a:avLst/>
          </a:prstGeom>
          <a:noFill/>
        </p:spPr>
        <p:txBody>
          <a:bodyPr wrap="square">
            <a:spAutoFit/>
          </a:bodyPr>
          <a:lstStyle/>
          <a:p>
            <a:pPr algn="ctr"/>
            <a:r>
              <a:rPr lang="zh-CN" altLang="en-US" sz="3200" b="1" dirty="0"/>
              <a:t>小车进入以后，前后的传感器响应</a:t>
            </a:r>
          </a:p>
        </p:txBody>
      </p:sp>
      <p:pic>
        <p:nvPicPr>
          <p:cNvPr id="10" name="图片 9">
            <a:extLst>
              <a:ext uri="{FF2B5EF4-FFF2-40B4-BE49-F238E27FC236}">
                <a16:creationId xmlns:a16="http://schemas.microsoft.com/office/drawing/2014/main" id="{D7BE446F-DFAB-10D6-4009-3F4465D106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2575" y="1232038"/>
            <a:ext cx="4904152" cy="4016103"/>
          </a:xfrm>
          <a:prstGeom prst="rect">
            <a:avLst/>
          </a:prstGeom>
        </p:spPr>
      </p:pic>
      <p:sp>
        <p:nvSpPr>
          <p:cNvPr id="12" name="箭头: 下 11">
            <a:extLst>
              <a:ext uri="{FF2B5EF4-FFF2-40B4-BE49-F238E27FC236}">
                <a16:creationId xmlns:a16="http://schemas.microsoft.com/office/drawing/2014/main" id="{3E006F9A-FC9E-ADC6-35A6-27D83F018B79}"/>
              </a:ext>
            </a:extLst>
          </p:cNvPr>
          <p:cNvSpPr/>
          <p:nvPr/>
        </p:nvSpPr>
        <p:spPr>
          <a:xfrm>
            <a:off x="4559121" y="3193961"/>
            <a:ext cx="315532" cy="1043188"/>
          </a:xfrm>
          <a:prstGeom prst="downArrow">
            <a:avLst>
              <a:gd name="adj1" fmla="val 45918"/>
              <a:gd name="adj2" fmla="val 50000"/>
            </a:avLst>
          </a:prstGeom>
          <a:solidFill>
            <a:srgbClr val="0048CE"/>
          </a:solidFill>
          <a:ln>
            <a:solidFill>
              <a:srgbClr val="197D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下 12">
            <a:extLst>
              <a:ext uri="{FF2B5EF4-FFF2-40B4-BE49-F238E27FC236}">
                <a16:creationId xmlns:a16="http://schemas.microsoft.com/office/drawing/2014/main" id="{EE08E967-571D-E99E-1ACE-BFB45E1EA54D}"/>
              </a:ext>
            </a:extLst>
          </p:cNvPr>
          <p:cNvSpPr/>
          <p:nvPr/>
        </p:nvSpPr>
        <p:spPr>
          <a:xfrm>
            <a:off x="5780468" y="3193959"/>
            <a:ext cx="315532" cy="1043189"/>
          </a:xfrm>
          <a:prstGeom prst="downArrow">
            <a:avLst>
              <a:gd name="adj1" fmla="val 45918"/>
              <a:gd name="adj2" fmla="val 50000"/>
            </a:avLst>
          </a:prstGeom>
          <a:solidFill>
            <a:srgbClr val="0048CE"/>
          </a:solidFill>
          <a:ln>
            <a:solidFill>
              <a:srgbClr val="197D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标题 1">
            <a:extLst>
              <a:ext uri="{FF2B5EF4-FFF2-40B4-BE49-F238E27FC236}">
                <a16:creationId xmlns:a16="http://schemas.microsoft.com/office/drawing/2014/main" id="{51E12872-C587-91C3-A0AD-857F90B4C1AF}"/>
              </a:ext>
            </a:extLst>
          </p:cNvPr>
          <p:cNvSpPr txBox="1">
            <a:spLocks/>
          </p:cNvSpPr>
          <p:nvPr/>
        </p:nvSpPr>
        <p:spPr>
          <a:xfrm>
            <a:off x="4437659" y="2546182"/>
            <a:ext cx="2402847"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0048CE"/>
                </a:solidFill>
                <a:latin typeface="+mn-ea"/>
                <a:ea typeface="+mn-ea"/>
              </a:rPr>
              <a:t>  </a:t>
            </a:r>
            <a:r>
              <a:rPr lang="zh-CN" altLang="en-US" sz="2800" b="1" dirty="0">
                <a:solidFill>
                  <a:srgbClr val="0048CE"/>
                </a:solidFill>
                <a:latin typeface="+mn-ea"/>
                <a:ea typeface="+mn-ea"/>
              </a:rPr>
              <a:t>传感器</a:t>
            </a:r>
          </a:p>
        </p:txBody>
      </p:sp>
    </p:spTree>
    <p:extLst>
      <p:ext uri="{BB962C8B-B14F-4D97-AF65-F5344CB8AC3E}">
        <p14:creationId xmlns:p14="http://schemas.microsoft.com/office/powerpoint/2010/main" val="469043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E5F317E7-133B-1772-57D1-08155FE8C3AC}"/>
            </a:ext>
          </a:extLst>
        </p:cNvPr>
        <p:cNvGrpSpPr/>
        <p:nvPr/>
      </p:nvGrpSpPr>
      <p:grpSpPr>
        <a:xfrm>
          <a:off x="0" y="0"/>
          <a:ext cx="0" cy="0"/>
          <a:chOff x="0" y="0"/>
          <a:chExt cx="0" cy="0"/>
        </a:xfrm>
      </p:grpSpPr>
      <p:pic>
        <p:nvPicPr>
          <p:cNvPr id="10" name="图片 9" descr="图示, 工程绘图&#10;&#10;AI 生成的内容可能不正确。">
            <a:extLst>
              <a:ext uri="{FF2B5EF4-FFF2-40B4-BE49-F238E27FC236}">
                <a16:creationId xmlns:a16="http://schemas.microsoft.com/office/drawing/2014/main" id="{1347F903-D8E7-6C31-5107-854338EFFA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1" y="-1510518"/>
            <a:ext cx="12189390" cy="6858000"/>
          </a:xfrm>
          <a:prstGeom prst="rect">
            <a:avLst/>
          </a:prstGeom>
        </p:spPr>
      </p:pic>
      <p:sp>
        <p:nvSpPr>
          <p:cNvPr id="2" name="矩形 1">
            <a:extLst>
              <a:ext uri="{FF2B5EF4-FFF2-40B4-BE49-F238E27FC236}">
                <a16:creationId xmlns:a16="http://schemas.microsoft.com/office/drawing/2014/main" id="{77E90ACF-FDA9-E2C0-B778-0B0DFA86A8AD}"/>
              </a:ext>
            </a:extLst>
          </p:cNvPr>
          <p:cNvSpPr/>
          <p:nvPr/>
        </p:nvSpPr>
        <p:spPr>
          <a:xfrm>
            <a:off x="-1" y="0"/>
            <a:ext cx="12192001" cy="6858000"/>
          </a:xfrm>
          <a:prstGeom prst="rect">
            <a:avLst/>
          </a:prstGeom>
          <a:solidFill>
            <a:srgbClr val="FFFC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F6F5F1FF-6849-2FF7-011D-472285D0D5EB}"/>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D575944E-B32E-1FF9-979A-CACA70F660BC}"/>
              </a:ext>
            </a:extLst>
          </p:cNvPr>
          <p:cNvPicPr>
            <a:picLocks noChangeAspect="1"/>
          </p:cNvPicPr>
          <p:nvPr/>
        </p:nvPicPr>
        <p:blipFill>
          <a:blip r:embed="rId3"/>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2F6F9689-7342-993C-0DBD-9D4871B4912D}"/>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73D9B20F-3C82-A0B2-A484-3CC7520BA8F6}"/>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整体概览</a:t>
            </a:r>
          </a:p>
        </p:txBody>
      </p:sp>
      <p:sp>
        <p:nvSpPr>
          <p:cNvPr id="11" name="文本框 10">
            <a:extLst>
              <a:ext uri="{FF2B5EF4-FFF2-40B4-BE49-F238E27FC236}">
                <a16:creationId xmlns:a16="http://schemas.microsoft.com/office/drawing/2014/main" id="{D9FAC8A3-6D8A-CC69-A9A9-94E689BC8894}"/>
              </a:ext>
            </a:extLst>
          </p:cNvPr>
          <p:cNvSpPr txBox="1"/>
          <p:nvPr/>
        </p:nvSpPr>
        <p:spPr>
          <a:xfrm>
            <a:off x="950788" y="3861083"/>
            <a:ext cx="902811" cy="523220"/>
          </a:xfrm>
          <a:prstGeom prst="rect">
            <a:avLst/>
          </a:prstGeom>
          <a:noFill/>
        </p:spPr>
        <p:txBody>
          <a:bodyPr wrap="none" rtlCol="0">
            <a:spAutoFit/>
          </a:bodyPr>
          <a:lstStyle/>
          <a:p>
            <a:r>
              <a:rPr lang="zh-CN" altLang="en-US" sz="2800" b="1" dirty="0">
                <a:solidFill>
                  <a:schemeClr val="bg2"/>
                </a:solidFill>
              </a:rPr>
              <a:t>过程</a:t>
            </a:r>
          </a:p>
        </p:txBody>
      </p:sp>
      <p:sp>
        <p:nvSpPr>
          <p:cNvPr id="8" name="文本框 7">
            <a:extLst>
              <a:ext uri="{FF2B5EF4-FFF2-40B4-BE49-F238E27FC236}">
                <a16:creationId xmlns:a16="http://schemas.microsoft.com/office/drawing/2014/main" id="{CDE2ECC4-45DD-A48B-41C7-AC0A95851C35}"/>
              </a:ext>
            </a:extLst>
          </p:cNvPr>
          <p:cNvSpPr txBox="1"/>
          <p:nvPr/>
        </p:nvSpPr>
        <p:spPr>
          <a:xfrm>
            <a:off x="3334868" y="5428135"/>
            <a:ext cx="8050056" cy="584775"/>
          </a:xfrm>
          <a:prstGeom prst="rect">
            <a:avLst/>
          </a:prstGeom>
          <a:noFill/>
        </p:spPr>
        <p:txBody>
          <a:bodyPr wrap="square">
            <a:spAutoFit/>
          </a:bodyPr>
          <a:lstStyle/>
          <a:p>
            <a:pPr algn="ctr"/>
            <a:r>
              <a:rPr lang="zh-CN" altLang="en-US" sz="3200" b="1" dirty="0"/>
              <a:t>响应以后，摇臂驱动小车移动到清洗位置上</a:t>
            </a:r>
          </a:p>
        </p:txBody>
      </p:sp>
      <p:pic>
        <p:nvPicPr>
          <p:cNvPr id="3" name="图片 2" descr="图示&#10;&#10;AI 生成的内容可能不正确。">
            <a:extLst>
              <a:ext uri="{FF2B5EF4-FFF2-40B4-BE49-F238E27FC236}">
                <a16:creationId xmlns:a16="http://schemas.microsoft.com/office/drawing/2014/main" id="{680E9B3E-B494-5CD7-35AE-45DBCF9EE0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31406" y="2233524"/>
            <a:ext cx="2919644" cy="2390952"/>
          </a:xfrm>
          <a:prstGeom prst="rect">
            <a:avLst/>
          </a:prstGeom>
        </p:spPr>
      </p:pic>
      <p:pic>
        <p:nvPicPr>
          <p:cNvPr id="15" name="图片 14" descr="图示&#10;&#10;AI 生成的内容可能不正确。">
            <a:extLst>
              <a:ext uri="{FF2B5EF4-FFF2-40B4-BE49-F238E27FC236}">
                <a16:creationId xmlns:a16="http://schemas.microsoft.com/office/drawing/2014/main" id="{DC269ADC-647C-913B-1FF5-4471E2DBB3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84590" y="2130664"/>
            <a:ext cx="2407898" cy="2596671"/>
          </a:xfrm>
          <a:prstGeom prst="rect">
            <a:avLst/>
          </a:prstGeom>
        </p:spPr>
      </p:pic>
      <p:pic>
        <p:nvPicPr>
          <p:cNvPr id="17" name="图片 16" descr="图示, 工程绘图&#10;&#10;AI 生成的内容可能不正确。">
            <a:extLst>
              <a:ext uri="{FF2B5EF4-FFF2-40B4-BE49-F238E27FC236}">
                <a16:creationId xmlns:a16="http://schemas.microsoft.com/office/drawing/2014/main" id="{89C1AFA3-4FE3-5C4A-F920-E2043F0996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47436" y="1910168"/>
            <a:ext cx="2785451" cy="3037663"/>
          </a:xfrm>
          <a:prstGeom prst="rect">
            <a:avLst/>
          </a:prstGeom>
        </p:spPr>
      </p:pic>
      <p:sp>
        <p:nvSpPr>
          <p:cNvPr id="18" name="箭头: 下 17">
            <a:extLst>
              <a:ext uri="{FF2B5EF4-FFF2-40B4-BE49-F238E27FC236}">
                <a16:creationId xmlns:a16="http://schemas.microsoft.com/office/drawing/2014/main" id="{8A15E1CB-22DB-C410-3EC8-69583ABBB1C6}"/>
              </a:ext>
            </a:extLst>
          </p:cNvPr>
          <p:cNvSpPr/>
          <p:nvPr/>
        </p:nvSpPr>
        <p:spPr>
          <a:xfrm rot="16200000">
            <a:off x="5410054" y="3443333"/>
            <a:ext cx="315532" cy="1043188"/>
          </a:xfrm>
          <a:prstGeom prst="downArrow">
            <a:avLst>
              <a:gd name="adj1" fmla="val 45918"/>
              <a:gd name="adj2" fmla="val 50000"/>
            </a:avLst>
          </a:prstGeom>
          <a:solidFill>
            <a:srgbClr val="0048CE"/>
          </a:solidFill>
          <a:ln>
            <a:solidFill>
              <a:srgbClr val="197D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下 18">
            <a:extLst>
              <a:ext uri="{FF2B5EF4-FFF2-40B4-BE49-F238E27FC236}">
                <a16:creationId xmlns:a16="http://schemas.microsoft.com/office/drawing/2014/main" id="{05A9D0C8-0AA2-8D16-87A1-AA4DC05CBAE4}"/>
              </a:ext>
            </a:extLst>
          </p:cNvPr>
          <p:cNvSpPr/>
          <p:nvPr/>
        </p:nvSpPr>
        <p:spPr>
          <a:xfrm rot="16200000">
            <a:off x="8562196" y="3339489"/>
            <a:ext cx="315532" cy="1043188"/>
          </a:xfrm>
          <a:prstGeom prst="downArrow">
            <a:avLst>
              <a:gd name="adj1" fmla="val 45918"/>
              <a:gd name="adj2" fmla="val 50000"/>
            </a:avLst>
          </a:prstGeom>
          <a:solidFill>
            <a:srgbClr val="0048CE"/>
          </a:solidFill>
          <a:ln>
            <a:solidFill>
              <a:srgbClr val="197D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09588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DED7D8DA-A0F5-9BC6-1FCB-83C949D70263}"/>
            </a:ext>
          </a:extLst>
        </p:cNvPr>
        <p:cNvGrpSpPr/>
        <p:nvPr/>
      </p:nvGrpSpPr>
      <p:grpSpPr>
        <a:xfrm>
          <a:off x="0" y="0"/>
          <a:ext cx="0" cy="0"/>
          <a:chOff x="0" y="0"/>
          <a:chExt cx="0" cy="0"/>
        </a:xfrm>
      </p:grpSpPr>
      <p:pic>
        <p:nvPicPr>
          <p:cNvPr id="21" name="图片 20" descr="图示, 工程绘图&#10;&#10;AI 生成的内容可能不正确。">
            <a:extLst>
              <a:ext uri="{FF2B5EF4-FFF2-40B4-BE49-F238E27FC236}">
                <a16:creationId xmlns:a16="http://schemas.microsoft.com/office/drawing/2014/main" id="{9CA7A26A-3A4E-4201-337D-88F0EC9912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1" y="-1510518"/>
            <a:ext cx="12189390" cy="6858000"/>
          </a:xfrm>
          <a:prstGeom prst="rect">
            <a:avLst/>
          </a:prstGeom>
        </p:spPr>
      </p:pic>
      <p:sp>
        <p:nvSpPr>
          <p:cNvPr id="4" name="矩形 3">
            <a:extLst>
              <a:ext uri="{FF2B5EF4-FFF2-40B4-BE49-F238E27FC236}">
                <a16:creationId xmlns:a16="http://schemas.microsoft.com/office/drawing/2014/main" id="{3CE83565-D911-6764-B775-032A03572E39}"/>
              </a:ext>
            </a:extLst>
          </p:cNvPr>
          <p:cNvSpPr/>
          <p:nvPr/>
        </p:nvSpPr>
        <p:spPr>
          <a:xfrm>
            <a:off x="0" y="5085806"/>
            <a:ext cx="12184109" cy="1772193"/>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389AE6A1-B1C8-26CE-A465-E2C54D57BD3B}"/>
              </a:ext>
            </a:extLst>
          </p:cNvPr>
          <p:cNvPicPr>
            <a:picLocks noChangeAspect="1"/>
          </p:cNvPicPr>
          <p:nvPr/>
        </p:nvPicPr>
        <p:blipFill>
          <a:blip r:embed="rId3"/>
          <a:stretch>
            <a:fillRect/>
          </a:stretch>
        </p:blipFill>
        <p:spPr>
          <a:xfrm>
            <a:off x="184195" y="197312"/>
            <a:ext cx="1741460" cy="58600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矩形 5">
            <a:extLst>
              <a:ext uri="{FF2B5EF4-FFF2-40B4-BE49-F238E27FC236}">
                <a16:creationId xmlns:a16="http://schemas.microsoft.com/office/drawing/2014/main" id="{6AD1CA7B-C83B-E6EB-90FA-8F7747178E4F}"/>
              </a:ext>
            </a:extLst>
          </p:cNvPr>
          <p:cNvSpPr/>
          <p:nvPr/>
        </p:nvSpPr>
        <p:spPr>
          <a:xfrm>
            <a:off x="0" y="5347482"/>
            <a:ext cx="2025284" cy="1510518"/>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60D2EA1D-436A-7262-3DBC-83E8F7AAC1B1}"/>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整体概览</a:t>
            </a:r>
          </a:p>
        </p:txBody>
      </p:sp>
      <p:sp>
        <p:nvSpPr>
          <p:cNvPr id="11" name="文本框 10">
            <a:extLst>
              <a:ext uri="{FF2B5EF4-FFF2-40B4-BE49-F238E27FC236}">
                <a16:creationId xmlns:a16="http://schemas.microsoft.com/office/drawing/2014/main" id="{8FCD808D-19B2-C5D0-B682-EBE3263D6CF0}"/>
              </a:ext>
            </a:extLst>
          </p:cNvPr>
          <p:cNvSpPr txBox="1"/>
          <p:nvPr/>
        </p:nvSpPr>
        <p:spPr>
          <a:xfrm>
            <a:off x="603519" y="5508789"/>
            <a:ext cx="902811" cy="523220"/>
          </a:xfrm>
          <a:prstGeom prst="rect">
            <a:avLst/>
          </a:prstGeom>
          <a:noFill/>
        </p:spPr>
        <p:txBody>
          <a:bodyPr wrap="none" rtlCol="0">
            <a:spAutoFit/>
          </a:bodyPr>
          <a:lstStyle/>
          <a:p>
            <a:r>
              <a:rPr lang="zh-CN" altLang="en-US" sz="2800" b="1" dirty="0">
                <a:solidFill>
                  <a:schemeClr val="bg2"/>
                </a:solidFill>
              </a:rPr>
              <a:t>过程</a:t>
            </a:r>
          </a:p>
        </p:txBody>
      </p:sp>
      <p:sp>
        <p:nvSpPr>
          <p:cNvPr id="8" name="文本框 7">
            <a:extLst>
              <a:ext uri="{FF2B5EF4-FFF2-40B4-BE49-F238E27FC236}">
                <a16:creationId xmlns:a16="http://schemas.microsoft.com/office/drawing/2014/main" id="{7C47B468-514E-78AB-023E-84F2F7FBDF85}"/>
              </a:ext>
            </a:extLst>
          </p:cNvPr>
          <p:cNvSpPr txBox="1"/>
          <p:nvPr/>
        </p:nvSpPr>
        <p:spPr>
          <a:xfrm>
            <a:off x="3334868" y="5428135"/>
            <a:ext cx="8050056" cy="584775"/>
          </a:xfrm>
          <a:prstGeom prst="rect">
            <a:avLst/>
          </a:prstGeom>
          <a:noFill/>
        </p:spPr>
        <p:txBody>
          <a:bodyPr wrap="square">
            <a:spAutoFit/>
          </a:bodyPr>
          <a:lstStyle/>
          <a:p>
            <a:pPr algn="ctr"/>
            <a:r>
              <a:rPr lang="zh-CN" altLang="en-US" sz="3200" b="1" dirty="0"/>
              <a:t>由电机驱动毛刷轮对底轮进行清洗</a:t>
            </a:r>
          </a:p>
        </p:txBody>
      </p:sp>
      <p:sp>
        <p:nvSpPr>
          <p:cNvPr id="18" name="箭头: 下 17">
            <a:extLst>
              <a:ext uri="{FF2B5EF4-FFF2-40B4-BE49-F238E27FC236}">
                <a16:creationId xmlns:a16="http://schemas.microsoft.com/office/drawing/2014/main" id="{163667FD-7AD2-9D56-E83E-ACED351DCE2F}"/>
              </a:ext>
            </a:extLst>
          </p:cNvPr>
          <p:cNvSpPr/>
          <p:nvPr/>
        </p:nvSpPr>
        <p:spPr>
          <a:xfrm rot="16200000">
            <a:off x="6212298" y="3015006"/>
            <a:ext cx="315532" cy="3074641"/>
          </a:xfrm>
          <a:prstGeom prst="downArrow">
            <a:avLst>
              <a:gd name="adj1" fmla="val 45918"/>
              <a:gd name="adj2" fmla="val 50000"/>
            </a:avLst>
          </a:prstGeom>
          <a:solidFill>
            <a:srgbClr val="0048CE"/>
          </a:solidFill>
          <a:ln>
            <a:solidFill>
              <a:srgbClr val="197D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65DC4459-CAA8-F977-153C-129D562F739E}"/>
              </a:ext>
            </a:extLst>
          </p:cNvPr>
          <p:cNvSpPr/>
          <p:nvPr/>
        </p:nvSpPr>
        <p:spPr>
          <a:xfrm>
            <a:off x="0" y="6858000"/>
            <a:ext cx="12192001" cy="6858000"/>
          </a:xfrm>
          <a:prstGeom prst="rect">
            <a:avLst/>
          </a:prstGeom>
          <a:solidFill>
            <a:srgbClr val="FFFC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078900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5D2EB337-777D-80FF-DC2A-3DC45D28A9A4}"/>
            </a:ext>
          </a:extLst>
        </p:cNvPr>
        <p:cNvGrpSpPr/>
        <p:nvPr/>
      </p:nvGrpSpPr>
      <p:grpSpPr>
        <a:xfrm>
          <a:off x="0" y="0"/>
          <a:ext cx="0" cy="0"/>
          <a:chOff x="0" y="0"/>
          <a:chExt cx="0" cy="0"/>
        </a:xfrm>
      </p:grpSpPr>
      <p:pic>
        <p:nvPicPr>
          <p:cNvPr id="21" name="图片 20" descr="图示, 工程绘图&#10;&#10;AI 生成的内容可能不正确。">
            <a:extLst>
              <a:ext uri="{FF2B5EF4-FFF2-40B4-BE49-F238E27FC236}">
                <a16:creationId xmlns:a16="http://schemas.microsoft.com/office/drawing/2014/main" id="{8BCCB8FD-08B3-88C8-1BE2-47BCBB1CCC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1" y="-1510518"/>
            <a:ext cx="12189390" cy="6858000"/>
          </a:xfrm>
          <a:prstGeom prst="rect">
            <a:avLst/>
          </a:prstGeom>
        </p:spPr>
      </p:pic>
      <p:sp>
        <p:nvSpPr>
          <p:cNvPr id="4" name="矩形 3">
            <a:extLst>
              <a:ext uri="{FF2B5EF4-FFF2-40B4-BE49-F238E27FC236}">
                <a16:creationId xmlns:a16="http://schemas.microsoft.com/office/drawing/2014/main" id="{E2FB2932-290F-83FE-077E-8ADDD2496850}"/>
              </a:ext>
            </a:extLst>
          </p:cNvPr>
          <p:cNvSpPr/>
          <p:nvPr/>
        </p:nvSpPr>
        <p:spPr>
          <a:xfrm>
            <a:off x="0" y="5085806"/>
            <a:ext cx="12184109" cy="1772193"/>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64E2BBCE-66F4-E8BF-1543-2D4E62349D67}"/>
              </a:ext>
            </a:extLst>
          </p:cNvPr>
          <p:cNvPicPr>
            <a:picLocks noChangeAspect="1"/>
          </p:cNvPicPr>
          <p:nvPr/>
        </p:nvPicPr>
        <p:blipFill>
          <a:blip r:embed="rId3"/>
          <a:stretch>
            <a:fillRect/>
          </a:stretch>
        </p:blipFill>
        <p:spPr>
          <a:xfrm>
            <a:off x="184195" y="197312"/>
            <a:ext cx="1741460" cy="58600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矩形 5">
            <a:extLst>
              <a:ext uri="{FF2B5EF4-FFF2-40B4-BE49-F238E27FC236}">
                <a16:creationId xmlns:a16="http://schemas.microsoft.com/office/drawing/2014/main" id="{565B0403-4036-83CE-CE39-D0B281B06F2C}"/>
              </a:ext>
            </a:extLst>
          </p:cNvPr>
          <p:cNvSpPr/>
          <p:nvPr/>
        </p:nvSpPr>
        <p:spPr>
          <a:xfrm>
            <a:off x="0" y="5347482"/>
            <a:ext cx="2025284" cy="1510518"/>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D495271E-A851-B533-9DD6-54BBC47AAE62}"/>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整体概览</a:t>
            </a:r>
          </a:p>
        </p:txBody>
      </p:sp>
      <p:sp>
        <p:nvSpPr>
          <p:cNvPr id="11" name="文本框 10">
            <a:extLst>
              <a:ext uri="{FF2B5EF4-FFF2-40B4-BE49-F238E27FC236}">
                <a16:creationId xmlns:a16="http://schemas.microsoft.com/office/drawing/2014/main" id="{8F62DE9F-2123-6621-B52C-4A2AB87925A1}"/>
              </a:ext>
            </a:extLst>
          </p:cNvPr>
          <p:cNvSpPr txBox="1"/>
          <p:nvPr/>
        </p:nvSpPr>
        <p:spPr>
          <a:xfrm>
            <a:off x="603519" y="5508789"/>
            <a:ext cx="902811" cy="523220"/>
          </a:xfrm>
          <a:prstGeom prst="rect">
            <a:avLst/>
          </a:prstGeom>
          <a:noFill/>
        </p:spPr>
        <p:txBody>
          <a:bodyPr wrap="none" rtlCol="0">
            <a:spAutoFit/>
          </a:bodyPr>
          <a:lstStyle/>
          <a:p>
            <a:r>
              <a:rPr lang="zh-CN" altLang="en-US" sz="2800" b="1" dirty="0">
                <a:solidFill>
                  <a:schemeClr val="bg2"/>
                </a:solidFill>
              </a:rPr>
              <a:t>过程</a:t>
            </a:r>
          </a:p>
        </p:txBody>
      </p:sp>
      <p:sp>
        <p:nvSpPr>
          <p:cNvPr id="8" name="文本框 7">
            <a:extLst>
              <a:ext uri="{FF2B5EF4-FFF2-40B4-BE49-F238E27FC236}">
                <a16:creationId xmlns:a16="http://schemas.microsoft.com/office/drawing/2014/main" id="{25DDFB9B-11C1-C327-615F-B9B6901E3953}"/>
              </a:ext>
            </a:extLst>
          </p:cNvPr>
          <p:cNvSpPr txBox="1"/>
          <p:nvPr/>
        </p:nvSpPr>
        <p:spPr>
          <a:xfrm>
            <a:off x="3334868" y="5428135"/>
            <a:ext cx="8050056" cy="584775"/>
          </a:xfrm>
          <a:prstGeom prst="rect">
            <a:avLst/>
          </a:prstGeom>
          <a:noFill/>
        </p:spPr>
        <p:txBody>
          <a:bodyPr wrap="square">
            <a:spAutoFit/>
          </a:bodyPr>
          <a:lstStyle/>
          <a:p>
            <a:pPr algn="ctr"/>
            <a:r>
              <a:rPr lang="zh-CN" altLang="en-US" sz="3200" b="1" dirty="0"/>
              <a:t>清洗完成后，由气口喷出高压气进行吹干</a:t>
            </a:r>
          </a:p>
        </p:txBody>
      </p:sp>
      <p:sp>
        <p:nvSpPr>
          <p:cNvPr id="18" name="箭头: 下 17">
            <a:extLst>
              <a:ext uri="{FF2B5EF4-FFF2-40B4-BE49-F238E27FC236}">
                <a16:creationId xmlns:a16="http://schemas.microsoft.com/office/drawing/2014/main" id="{DF261A7C-7DCA-5259-DB0A-2E38A74B08A9}"/>
              </a:ext>
            </a:extLst>
          </p:cNvPr>
          <p:cNvSpPr/>
          <p:nvPr/>
        </p:nvSpPr>
        <p:spPr>
          <a:xfrm rot="5400000">
            <a:off x="8977268" y="3044821"/>
            <a:ext cx="315532" cy="1376467"/>
          </a:xfrm>
          <a:prstGeom prst="downArrow">
            <a:avLst>
              <a:gd name="adj1" fmla="val 45918"/>
              <a:gd name="adj2" fmla="val 50000"/>
            </a:avLst>
          </a:prstGeom>
          <a:solidFill>
            <a:srgbClr val="0048CE"/>
          </a:solidFill>
          <a:ln>
            <a:solidFill>
              <a:srgbClr val="197D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9E5BD699-F743-2114-638E-C6EAFCC93D46}"/>
              </a:ext>
            </a:extLst>
          </p:cNvPr>
          <p:cNvSpPr/>
          <p:nvPr/>
        </p:nvSpPr>
        <p:spPr>
          <a:xfrm>
            <a:off x="0" y="6858000"/>
            <a:ext cx="12192001" cy="6858000"/>
          </a:xfrm>
          <a:prstGeom prst="rect">
            <a:avLst/>
          </a:prstGeom>
          <a:solidFill>
            <a:srgbClr val="FFFC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48C7ED32-4CC9-2DBA-5EAC-C532BE620BC6}"/>
              </a:ext>
            </a:extLst>
          </p:cNvPr>
          <p:cNvSpPr txBox="1">
            <a:spLocks/>
          </p:cNvSpPr>
          <p:nvPr/>
        </p:nvSpPr>
        <p:spPr>
          <a:xfrm>
            <a:off x="8938534" y="2999809"/>
            <a:ext cx="2402847"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0048CE"/>
                </a:solidFill>
                <a:latin typeface="+mn-ea"/>
                <a:ea typeface="+mn-ea"/>
              </a:rPr>
              <a:t>  </a:t>
            </a:r>
            <a:r>
              <a:rPr lang="zh-CN" altLang="en-US" sz="2800" b="1" dirty="0">
                <a:solidFill>
                  <a:srgbClr val="0048CE"/>
                </a:solidFill>
                <a:latin typeface="+mn-ea"/>
                <a:ea typeface="+mn-ea"/>
              </a:rPr>
              <a:t>吹干</a:t>
            </a:r>
          </a:p>
        </p:txBody>
      </p:sp>
    </p:spTree>
    <p:extLst>
      <p:ext uri="{BB962C8B-B14F-4D97-AF65-F5344CB8AC3E}">
        <p14:creationId xmlns:p14="http://schemas.microsoft.com/office/powerpoint/2010/main" val="2529009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36EF217E-DDCC-374C-54F2-D0599F1E3DC6}"/>
            </a:ext>
          </a:extLst>
        </p:cNvPr>
        <p:cNvGrpSpPr/>
        <p:nvPr/>
      </p:nvGrpSpPr>
      <p:grpSpPr>
        <a:xfrm>
          <a:off x="0" y="0"/>
          <a:ext cx="0" cy="0"/>
          <a:chOff x="0" y="0"/>
          <a:chExt cx="0" cy="0"/>
        </a:xfrm>
      </p:grpSpPr>
      <p:pic>
        <p:nvPicPr>
          <p:cNvPr id="10" name="图片 9" descr="图示, 工程绘图&#10;&#10;AI 生成的内容可能不正确。">
            <a:extLst>
              <a:ext uri="{FF2B5EF4-FFF2-40B4-BE49-F238E27FC236}">
                <a16:creationId xmlns:a16="http://schemas.microsoft.com/office/drawing/2014/main" id="{00C6CEAC-0334-757A-EFD5-CB256B1E08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1" y="-1510518"/>
            <a:ext cx="12189390" cy="6858000"/>
          </a:xfrm>
          <a:prstGeom prst="rect">
            <a:avLst/>
          </a:prstGeom>
        </p:spPr>
      </p:pic>
      <p:sp>
        <p:nvSpPr>
          <p:cNvPr id="2" name="矩形 1">
            <a:extLst>
              <a:ext uri="{FF2B5EF4-FFF2-40B4-BE49-F238E27FC236}">
                <a16:creationId xmlns:a16="http://schemas.microsoft.com/office/drawing/2014/main" id="{0E518278-11E2-A705-17C3-3EBFEBF9A051}"/>
              </a:ext>
            </a:extLst>
          </p:cNvPr>
          <p:cNvSpPr/>
          <p:nvPr/>
        </p:nvSpPr>
        <p:spPr>
          <a:xfrm>
            <a:off x="-1" y="0"/>
            <a:ext cx="12192001" cy="6858000"/>
          </a:xfrm>
          <a:prstGeom prst="rect">
            <a:avLst/>
          </a:prstGeom>
          <a:solidFill>
            <a:srgbClr val="FFFC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DE8E0704-1CE8-72FB-CF5C-0EE27784820D}"/>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FE504EB8-8630-BB5C-CC6E-6B7EDA855779}"/>
              </a:ext>
            </a:extLst>
          </p:cNvPr>
          <p:cNvPicPr>
            <a:picLocks noChangeAspect="1"/>
          </p:cNvPicPr>
          <p:nvPr/>
        </p:nvPicPr>
        <p:blipFill>
          <a:blip r:embed="rId3"/>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5741371C-2354-0B26-B6FA-CADCFA0B19DF}"/>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023C731F-6CFF-7F2B-FDF8-B039D40B9B83}"/>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整体概览</a:t>
            </a:r>
          </a:p>
        </p:txBody>
      </p:sp>
      <p:sp>
        <p:nvSpPr>
          <p:cNvPr id="11" name="文本框 10">
            <a:extLst>
              <a:ext uri="{FF2B5EF4-FFF2-40B4-BE49-F238E27FC236}">
                <a16:creationId xmlns:a16="http://schemas.microsoft.com/office/drawing/2014/main" id="{92AFF9E7-B9FA-C146-DC7D-75ACB0215B19}"/>
              </a:ext>
            </a:extLst>
          </p:cNvPr>
          <p:cNvSpPr txBox="1"/>
          <p:nvPr/>
        </p:nvSpPr>
        <p:spPr>
          <a:xfrm>
            <a:off x="950788" y="3861083"/>
            <a:ext cx="902811" cy="523220"/>
          </a:xfrm>
          <a:prstGeom prst="rect">
            <a:avLst/>
          </a:prstGeom>
          <a:noFill/>
        </p:spPr>
        <p:txBody>
          <a:bodyPr wrap="none" rtlCol="0">
            <a:spAutoFit/>
          </a:bodyPr>
          <a:lstStyle/>
          <a:p>
            <a:r>
              <a:rPr lang="zh-CN" altLang="en-US" sz="2800" b="1" dirty="0">
                <a:solidFill>
                  <a:schemeClr val="bg2"/>
                </a:solidFill>
              </a:rPr>
              <a:t>过程</a:t>
            </a:r>
          </a:p>
        </p:txBody>
      </p:sp>
      <p:sp>
        <p:nvSpPr>
          <p:cNvPr id="8" name="文本框 7">
            <a:extLst>
              <a:ext uri="{FF2B5EF4-FFF2-40B4-BE49-F238E27FC236}">
                <a16:creationId xmlns:a16="http://schemas.microsoft.com/office/drawing/2014/main" id="{B615A574-41D1-0894-8E47-A93C031D42E5}"/>
              </a:ext>
            </a:extLst>
          </p:cNvPr>
          <p:cNvSpPr txBox="1"/>
          <p:nvPr/>
        </p:nvSpPr>
        <p:spPr>
          <a:xfrm>
            <a:off x="3334868" y="5428135"/>
            <a:ext cx="8050056" cy="584775"/>
          </a:xfrm>
          <a:prstGeom prst="rect">
            <a:avLst/>
          </a:prstGeom>
          <a:noFill/>
        </p:spPr>
        <p:txBody>
          <a:bodyPr wrap="square">
            <a:spAutoFit/>
          </a:bodyPr>
          <a:lstStyle/>
          <a:p>
            <a:pPr algn="ctr"/>
            <a:r>
              <a:rPr lang="zh-CN" altLang="en-US" sz="3200" b="1" dirty="0"/>
              <a:t>吹干以后，摇臂驱动小车返回</a:t>
            </a:r>
          </a:p>
        </p:txBody>
      </p:sp>
      <p:pic>
        <p:nvPicPr>
          <p:cNvPr id="3" name="图片 2" descr="图示&#10;&#10;AI 生成的内容可能不正确。">
            <a:extLst>
              <a:ext uri="{FF2B5EF4-FFF2-40B4-BE49-F238E27FC236}">
                <a16:creationId xmlns:a16="http://schemas.microsoft.com/office/drawing/2014/main" id="{3DCEBE08-64A4-FD49-F5A8-00806A3A85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31406" y="2233524"/>
            <a:ext cx="2919644" cy="2390952"/>
          </a:xfrm>
          <a:prstGeom prst="rect">
            <a:avLst/>
          </a:prstGeom>
        </p:spPr>
      </p:pic>
      <p:pic>
        <p:nvPicPr>
          <p:cNvPr id="15" name="图片 14" descr="图示&#10;&#10;AI 生成的内容可能不正确。">
            <a:extLst>
              <a:ext uri="{FF2B5EF4-FFF2-40B4-BE49-F238E27FC236}">
                <a16:creationId xmlns:a16="http://schemas.microsoft.com/office/drawing/2014/main" id="{0017074D-0950-3A9F-9743-04030E1095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84590" y="2130664"/>
            <a:ext cx="2407898" cy="2596671"/>
          </a:xfrm>
          <a:prstGeom prst="rect">
            <a:avLst/>
          </a:prstGeom>
        </p:spPr>
      </p:pic>
      <p:pic>
        <p:nvPicPr>
          <p:cNvPr id="17" name="图片 16" descr="图示, 工程绘图&#10;&#10;AI 生成的内容可能不正确。">
            <a:extLst>
              <a:ext uri="{FF2B5EF4-FFF2-40B4-BE49-F238E27FC236}">
                <a16:creationId xmlns:a16="http://schemas.microsoft.com/office/drawing/2014/main" id="{87AB9A7A-C535-1747-B25A-46FCC1EA1E8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47436" y="1910168"/>
            <a:ext cx="2785451" cy="3037663"/>
          </a:xfrm>
          <a:prstGeom prst="rect">
            <a:avLst/>
          </a:prstGeom>
        </p:spPr>
      </p:pic>
      <p:sp>
        <p:nvSpPr>
          <p:cNvPr id="18" name="箭头: 下 17">
            <a:extLst>
              <a:ext uri="{FF2B5EF4-FFF2-40B4-BE49-F238E27FC236}">
                <a16:creationId xmlns:a16="http://schemas.microsoft.com/office/drawing/2014/main" id="{A61AFB60-5ACA-DC7D-B5B6-55E7DA159686}"/>
              </a:ext>
            </a:extLst>
          </p:cNvPr>
          <p:cNvSpPr/>
          <p:nvPr/>
        </p:nvSpPr>
        <p:spPr>
          <a:xfrm rot="16200000" flipV="1">
            <a:off x="5334782" y="3472886"/>
            <a:ext cx="315532" cy="984082"/>
          </a:xfrm>
          <a:prstGeom prst="downArrow">
            <a:avLst>
              <a:gd name="adj1" fmla="val 45918"/>
              <a:gd name="adj2" fmla="val 50000"/>
            </a:avLst>
          </a:prstGeom>
          <a:solidFill>
            <a:srgbClr val="0048CE"/>
          </a:solidFill>
          <a:ln>
            <a:solidFill>
              <a:srgbClr val="197D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下 18">
            <a:extLst>
              <a:ext uri="{FF2B5EF4-FFF2-40B4-BE49-F238E27FC236}">
                <a16:creationId xmlns:a16="http://schemas.microsoft.com/office/drawing/2014/main" id="{7CCB1AB2-CA26-042D-3AF3-DE5035015706}"/>
              </a:ext>
            </a:extLst>
          </p:cNvPr>
          <p:cNvSpPr/>
          <p:nvPr/>
        </p:nvSpPr>
        <p:spPr>
          <a:xfrm rot="16200000" flipV="1">
            <a:off x="8551520" y="3339280"/>
            <a:ext cx="315532" cy="1043605"/>
          </a:xfrm>
          <a:prstGeom prst="downArrow">
            <a:avLst>
              <a:gd name="adj1" fmla="val 45918"/>
              <a:gd name="adj2" fmla="val 50000"/>
            </a:avLst>
          </a:prstGeom>
          <a:solidFill>
            <a:srgbClr val="0048CE"/>
          </a:solidFill>
          <a:ln>
            <a:solidFill>
              <a:srgbClr val="197D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449668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6DE69538-B868-22DF-27CD-DC484F3AE0B5}"/>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A03C155C-6040-1698-0FFE-BEE55EE7CA4A}"/>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D3B18F2A-E31F-A989-68DD-918DB296C0FD}"/>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8A82C209-6E85-7499-8A6C-4A9D12B43768}"/>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AB73B37E-6534-69BF-8DED-2A73D416C822}"/>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整体概览</a:t>
            </a:r>
          </a:p>
        </p:txBody>
      </p:sp>
      <p:sp>
        <p:nvSpPr>
          <p:cNvPr id="11" name="文本框 10">
            <a:extLst>
              <a:ext uri="{FF2B5EF4-FFF2-40B4-BE49-F238E27FC236}">
                <a16:creationId xmlns:a16="http://schemas.microsoft.com/office/drawing/2014/main" id="{5695FA5A-03C2-45E8-27A6-DC2751C45765}"/>
              </a:ext>
            </a:extLst>
          </p:cNvPr>
          <p:cNvSpPr txBox="1"/>
          <p:nvPr/>
        </p:nvSpPr>
        <p:spPr>
          <a:xfrm>
            <a:off x="950788" y="3861083"/>
            <a:ext cx="902811" cy="523220"/>
          </a:xfrm>
          <a:prstGeom prst="rect">
            <a:avLst/>
          </a:prstGeom>
          <a:noFill/>
        </p:spPr>
        <p:txBody>
          <a:bodyPr wrap="none" rtlCol="0">
            <a:spAutoFit/>
          </a:bodyPr>
          <a:lstStyle/>
          <a:p>
            <a:r>
              <a:rPr lang="zh-CN" altLang="en-US" sz="2800" b="1" dirty="0">
                <a:solidFill>
                  <a:schemeClr val="bg2"/>
                </a:solidFill>
              </a:rPr>
              <a:t>过程</a:t>
            </a:r>
          </a:p>
        </p:txBody>
      </p:sp>
      <p:pic>
        <p:nvPicPr>
          <p:cNvPr id="3" name="图片 2" descr="图示, 工程绘图&#10;&#10;AI 生成的内容可能不正确。">
            <a:extLst>
              <a:ext uri="{FF2B5EF4-FFF2-40B4-BE49-F238E27FC236}">
                <a16:creationId xmlns:a16="http://schemas.microsoft.com/office/drawing/2014/main" id="{F7868AD9-B1AA-1E5A-DA62-93F34FA376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8220" y="876255"/>
            <a:ext cx="6442901" cy="4613649"/>
          </a:xfrm>
          <a:prstGeom prst="rect">
            <a:avLst/>
          </a:prstGeom>
        </p:spPr>
      </p:pic>
      <p:sp>
        <p:nvSpPr>
          <p:cNvPr id="8" name="文本框 7">
            <a:extLst>
              <a:ext uri="{FF2B5EF4-FFF2-40B4-BE49-F238E27FC236}">
                <a16:creationId xmlns:a16="http://schemas.microsoft.com/office/drawing/2014/main" id="{DBD8A954-321C-1FDF-DA00-9C0AA9594D5E}"/>
              </a:ext>
            </a:extLst>
          </p:cNvPr>
          <p:cNvSpPr txBox="1"/>
          <p:nvPr/>
        </p:nvSpPr>
        <p:spPr>
          <a:xfrm>
            <a:off x="3882220" y="5489904"/>
            <a:ext cx="6094902" cy="584775"/>
          </a:xfrm>
          <a:prstGeom prst="rect">
            <a:avLst/>
          </a:prstGeom>
          <a:noFill/>
        </p:spPr>
        <p:txBody>
          <a:bodyPr wrap="square">
            <a:spAutoFit/>
          </a:bodyPr>
          <a:lstStyle/>
          <a:p>
            <a:pPr algn="ctr"/>
            <a:r>
              <a:rPr lang="zh-CN" altLang="en-US" sz="3200" b="1" dirty="0"/>
              <a:t>小车平移离开</a:t>
            </a:r>
          </a:p>
        </p:txBody>
      </p:sp>
    </p:spTree>
    <p:extLst>
      <p:ext uri="{BB962C8B-B14F-4D97-AF65-F5344CB8AC3E}">
        <p14:creationId xmlns:p14="http://schemas.microsoft.com/office/powerpoint/2010/main" val="3707538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0310225D-3F2D-B929-89C3-FA6883211DA8}"/>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758F66D8-9C85-0B6E-86F2-EF89B0FD9A30}"/>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7F5C1BFD-5B9B-CC07-B205-F26AF16842FD}"/>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BF46D18A-D547-88A1-DF73-23FE03A6E744}"/>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27BC13CC-BC92-B8A4-C971-AD9CD4444083}"/>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整体概览</a:t>
            </a:r>
          </a:p>
        </p:txBody>
      </p:sp>
      <p:pic>
        <p:nvPicPr>
          <p:cNvPr id="9" name="图片 8" descr="图示&#10;&#10;AI 生成的内容可能不正确。">
            <a:extLst>
              <a:ext uri="{FF2B5EF4-FFF2-40B4-BE49-F238E27FC236}">
                <a16:creationId xmlns:a16="http://schemas.microsoft.com/office/drawing/2014/main" id="{9DCBEBB3-A10B-C839-9D51-FCF5D9D69F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5421" y="1554139"/>
            <a:ext cx="5021027" cy="4694347"/>
          </a:xfrm>
          <a:prstGeom prst="rect">
            <a:avLst/>
          </a:prstGeom>
        </p:spPr>
      </p:pic>
      <p:sp>
        <p:nvSpPr>
          <p:cNvPr id="10" name="文本框 9">
            <a:extLst>
              <a:ext uri="{FF2B5EF4-FFF2-40B4-BE49-F238E27FC236}">
                <a16:creationId xmlns:a16="http://schemas.microsoft.com/office/drawing/2014/main" id="{ABCB4D60-FD42-0DBB-2B14-D326F99A2863}"/>
              </a:ext>
            </a:extLst>
          </p:cNvPr>
          <p:cNvSpPr txBox="1"/>
          <p:nvPr/>
        </p:nvSpPr>
        <p:spPr>
          <a:xfrm>
            <a:off x="2231406" y="1727108"/>
            <a:ext cx="4652236" cy="3970318"/>
          </a:xfrm>
          <a:prstGeom prst="rect">
            <a:avLst/>
          </a:prstGeom>
          <a:noFill/>
        </p:spPr>
        <p:txBody>
          <a:bodyPr wrap="none" rtlCol="0">
            <a:spAutoFit/>
          </a:bodyPr>
          <a:lstStyle/>
          <a:p>
            <a:r>
              <a:rPr lang="zh-CN" altLang="en-US" dirty="0"/>
              <a:t>本设计</a:t>
            </a:r>
            <a:r>
              <a:rPr lang="zh-CN" altLang="zh-CN" dirty="0"/>
              <a:t>洗轮机</a:t>
            </a:r>
            <a:endParaRPr lang="en-US" altLang="zh-CN" dirty="0"/>
          </a:p>
          <a:p>
            <a:r>
              <a:rPr lang="zh-CN" altLang="en-US" dirty="0"/>
              <a:t>包含</a:t>
            </a:r>
            <a:r>
              <a:rPr lang="zh-CN" altLang="zh-CN" dirty="0"/>
              <a:t>基架</a:t>
            </a:r>
            <a:r>
              <a:rPr lang="en-US" altLang="zh-CN" dirty="0"/>
              <a:t>  </a:t>
            </a:r>
            <a:r>
              <a:rPr lang="zh-CN" altLang="zh-CN" dirty="0"/>
              <a:t>搬运机构</a:t>
            </a:r>
            <a:r>
              <a:rPr lang="en-US" altLang="zh-CN" dirty="0"/>
              <a:t>  </a:t>
            </a:r>
            <a:r>
              <a:rPr lang="zh-CN" altLang="zh-CN" dirty="0"/>
              <a:t>清洗机构</a:t>
            </a:r>
            <a:r>
              <a:rPr lang="en-US" altLang="zh-CN" dirty="0"/>
              <a:t>  </a:t>
            </a:r>
            <a:r>
              <a:rPr lang="zh-CN" altLang="en-US" dirty="0"/>
              <a:t>外壳</a:t>
            </a:r>
            <a:endParaRPr lang="en-US" altLang="zh-CN" dirty="0"/>
          </a:p>
          <a:p>
            <a:endParaRPr lang="en-US" altLang="zh-CN" dirty="0"/>
          </a:p>
          <a:p>
            <a:endParaRPr lang="en-US" altLang="zh-CN" dirty="0"/>
          </a:p>
          <a:p>
            <a:r>
              <a:rPr lang="zh-CN" altLang="zh-CN" dirty="0"/>
              <a:t>搬运机构</a:t>
            </a:r>
            <a:r>
              <a:rPr lang="en-US" altLang="zh-CN" dirty="0"/>
              <a:t>  </a:t>
            </a:r>
            <a:r>
              <a:rPr lang="zh-CN" altLang="zh-CN" dirty="0"/>
              <a:t>包括抬升驱动</a:t>
            </a:r>
            <a:r>
              <a:rPr lang="zh-CN" altLang="en-US" dirty="0"/>
              <a:t>装置</a:t>
            </a:r>
            <a:r>
              <a:rPr lang="en-US" altLang="zh-CN" dirty="0"/>
              <a:t>  </a:t>
            </a:r>
            <a:r>
              <a:rPr lang="zh-CN" altLang="zh-CN" dirty="0"/>
              <a:t>抬升组件</a:t>
            </a:r>
            <a:r>
              <a:rPr lang="en-US" altLang="zh-CN" dirty="0"/>
              <a:t> </a:t>
            </a:r>
            <a:r>
              <a:rPr lang="zh-CN" altLang="zh-CN" dirty="0"/>
              <a:t>连杆</a:t>
            </a:r>
            <a:endParaRPr lang="en-US" altLang="zh-CN" dirty="0"/>
          </a:p>
          <a:p>
            <a:r>
              <a:rPr lang="zh-CN" altLang="zh-CN" dirty="0"/>
              <a:t>两组抬升组件的承托结构共同承托</a:t>
            </a:r>
            <a:r>
              <a:rPr lang="en-US" altLang="zh-CN" dirty="0"/>
              <a:t>AGV</a:t>
            </a:r>
            <a:r>
              <a:rPr lang="zh-CN" altLang="zh-CN" dirty="0"/>
              <a:t>小车</a:t>
            </a:r>
            <a:endParaRPr lang="en-US" altLang="zh-CN" dirty="0"/>
          </a:p>
          <a:p>
            <a:r>
              <a:rPr lang="zh-CN" altLang="zh-CN" dirty="0"/>
              <a:t>驱动单元的输出端与任一所述摇臂连接</a:t>
            </a:r>
            <a:endParaRPr lang="en-US" altLang="zh-CN" dirty="0"/>
          </a:p>
          <a:p>
            <a:r>
              <a:rPr lang="zh-CN" altLang="zh-CN" dirty="0"/>
              <a:t>用于驱动摇臂转动。</a:t>
            </a:r>
            <a:endParaRPr lang="en-US" altLang="zh-CN" dirty="0"/>
          </a:p>
          <a:p>
            <a:endParaRPr lang="en-US" altLang="zh-CN" dirty="0"/>
          </a:p>
          <a:p>
            <a:endParaRPr lang="en-US" altLang="zh-CN" dirty="0"/>
          </a:p>
          <a:p>
            <a:r>
              <a:rPr lang="zh-CN" altLang="zh-CN" dirty="0"/>
              <a:t>与现有技术相比，</a:t>
            </a:r>
            <a:endParaRPr lang="en-US" altLang="zh-CN" dirty="0"/>
          </a:p>
          <a:p>
            <a:r>
              <a:rPr lang="zh-CN" altLang="zh-CN" dirty="0"/>
              <a:t>简化了机械结构，</a:t>
            </a:r>
            <a:endParaRPr lang="en-US" altLang="zh-CN" dirty="0"/>
          </a:p>
          <a:p>
            <a:r>
              <a:rPr lang="zh-CN" altLang="zh-CN" dirty="0"/>
              <a:t>降低了制造成本与维护难度。</a:t>
            </a:r>
          </a:p>
          <a:p>
            <a:endParaRPr lang="zh-CN" altLang="en-US" dirty="0"/>
          </a:p>
        </p:txBody>
      </p:sp>
      <p:sp>
        <p:nvSpPr>
          <p:cNvPr id="11" name="文本框 10">
            <a:extLst>
              <a:ext uri="{FF2B5EF4-FFF2-40B4-BE49-F238E27FC236}">
                <a16:creationId xmlns:a16="http://schemas.microsoft.com/office/drawing/2014/main" id="{7CDBFA73-C180-BA00-3763-5A630F0B23EC}"/>
              </a:ext>
            </a:extLst>
          </p:cNvPr>
          <p:cNvSpPr txBox="1"/>
          <p:nvPr/>
        </p:nvSpPr>
        <p:spPr>
          <a:xfrm>
            <a:off x="950789" y="1727108"/>
            <a:ext cx="902811" cy="523220"/>
          </a:xfrm>
          <a:prstGeom prst="rect">
            <a:avLst/>
          </a:prstGeom>
          <a:noFill/>
        </p:spPr>
        <p:txBody>
          <a:bodyPr wrap="none" rtlCol="0">
            <a:spAutoFit/>
          </a:bodyPr>
          <a:lstStyle/>
          <a:p>
            <a:r>
              <a:rPr lang="zh-CN" altLang="en-US" sz="2800" b="1" dirty="0">
                <a:solidFill>
                  <a:schemeClr val="bg2"/>
                </a:solidFill>
              </a:rPr>
              <a:t>组成</a:t>
            </a:r>
          </a:p>
        </p:txBody>
      </p:sp>
      <p:sp>
        <p:nvSpPr>
          <p:cNvPr id="12" name="文本框 11">
            <a:extLst>
              <a:ext uri="{FF2B5EF4-FFF2-40B4-BE49-F238E27FC236}">
                <a16:creationId xmlns:a16="http://schemas.microsoft.com/office/drawing/2014/main" id="{E2C8C7BD-35D0-1D7A-BE3E-E01B8970E1CA}"/>
              </a:ext>
            </a:extLst>
          </p:cNvPr>
          <p:cNvSpPr txBox="1"/>
          <p:nvPr/>
        </p:nvSpPr>
        <p:spPr>
          <a:xfrm>
            <a:off x="950789" y="2896781"/>
            <a:ext cx="902811" cy="523220"/>
          </a:xfrm>
          <a:prstGeom prst="rect">
            <a:avLst/>
          </a:prstGeom>
          <a:noFill/>
        </p:spPr>
        <p:txBody>
          <a:bodyPr wrap="none" rtlCol="0">
            <a:spAutoFit/>
          </a:bodyPr>
          <a:lstStyle/>
          <a:p>
            <a:r>
              <a:rPr lang="zh-CN" altLang="en-US" sz="2800" b="1" dirty="0">
                <a:solidFill>
                  <a:schemeClr val="bg2"/>
                </a:solidFill>
              </a:rPr>
              <a:t>细则</a:t>
            </a:r>
          </a:p>
        </p:txBody>
      </p:sp>
      <p:sp>
        <p:nvSpPr>
          <p:cNvPr id="13" name="文本框 12">
            <a:extLst>
              <a:ext uri="{FF2B5EF4-FFF2-40B4-BE49-F238E27FC236}">
                <a16:creationId xmlns:a16="http://schemas.microsoft.com/office/drawing/2014/main" id="{33BD3DFD-5C98-8FFF-A5C1-6DC969010604}"/>
              </a:ext>
            </a:extLst>
          </p:cNvPr>
          <p:cNvSpPr txBox="1"/>
          <p:nvPr/>
        </p:nvSpPr>
        <p:spPr>
          <a:xfrm>
            <a:off x="950790" y="4456327"/>
            <a:ext cx="902811" cy="523220"/>
          </a:xfrm>
          <a:prstGeom prst="rect">
            <a:avLst/>
          </a:prstGeom>
          <a:noFill/>
        </p:spPr>
        <p:txBody>
          <a:bodyPr wrap="none" rtlCol="0">
            <a:spAutoFit/>
          </a:bodyPr>
          <a:lstStyle/>
          <a:p>
            <a:r>
              <a:rPr lang="zh-CN" altLang="en-US" sz="2800" b="1" dirty="0">
                <a:solidFill>
                  <a:schemeClr val="bg2"/>
                </a:solidFill>
              </a:rPr>
              <a:t>要点</a:t>
            </a:r>
          </a:p>
        </p:txBody>
      </p:sp>
    </p:spTree>
    <p:extLst>
      <p:ext uri="{BB962C8B-B14F-4D97-AF65-F5344CB8AC3E}">
        <p14:creationId xmlns:p14="http://schemas.microsoft.com/office/powerpoint/2010/main" val="16773048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9D684B31-ED15-B55C-7160-E7212092E9ED}"/>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B1A5990-195A-A2F7-78A6-55E997C6D1A7}"/>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CBDE9690-F27F-A801-06C9-26B6B22246C3}"/>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D1F80DD2-07CE-CDFF-53A2-5540DC0A964F}"/>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C3712CC9-C771-4BB3-4D74-C13AF679A243}"/>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整体概览</a:t>
            </a:r>
          </a:p>
        </p:txBody>
      </p:sp>
      <p:pic>
        <p:nvPicPr>
          <p:cNvPr id="3" name="图片 2" descr="图示, 工程绘图&#10;&#10;AI 生成的内容可能不正确。">
            <a:extLst>
              <a:ext uri="{FF2B5EF4-FFF2-40B4-BE49-F238E27FC236}">
                <a16:creationId xmlns:a16="http://schemas.microsoft.com/office/drawing/2014/main" id="{4781662B-4DB1-4E8D-7751-0A84899BD2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10458" y="944628"/>
            <a:ext cx="3481542" cy="3177784"/>
          </a:xfrm>
          <a:prstGeom prst="rect">
            <a:avLst/>
          </a:prstGeom>
        </p:spPr>
      </p:pic>
      <p:pic>
        <p:nvPicPr>
          <p:cNvPr id="9" name="图片 8" descr="图片包含 文本&#10;&#10;AI 生成的内容可能不正确。">
            <a:extLst>
              <a:ext uri="{FF2B5EF4-FFF2-40B4-BE49-F238E27FC236}">
                <a16:creationId xmlns:a16="http://schemas.microsoft.com/office/drawing/2014/main" id="{E50E04ED-F6FE-07F7-9208-EBA30416E4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5415" y="893928"/>
            <a:ext cx="2480000" cy="3092480"/>
          </a:xfrm>
          <a:prstGeom prst="rect">
            <a:avLst/>
          </a:prstGeom>
        </p:spPr>
      </p:pic>
      <p:pic>
        <p:nvPicPr>
          <p:cNvPr id="11" name="图片 10" descr="图片包含 游戏机, 冰箱&#10;&#10;AI 生成的内容可能不正确。">
            <a:extLst>
              <a:ext uri="{FF2B5EF4-FFF2-40B4-BE49-F238E27FC236}">
                <a16:creationId xmlns:a16="http://schemas.microsoft.com/office/drawing/2014/main" id="{FD8856F2-33C5-0464-E347-F32563C396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10325" y="1160060"/>
            <a:ext cx="3174282" cy="2903273"/>
          </a:xfrm>
          <a:prstGeom prst="rect">
            <a:avLst/>
          </a:prstGeom>
        </p:spPr>
      </p:pic>
      <p:pic>
        <p:nvPicPr>
          <p:cNvPr id="13" name="图片 12" descr="打开门的冰箱&#10;&#10;AI 生成的内容可能不正确。">
            <a:extLst>
              <a:ext uri="{FF2B5EF4-FFF2-40B4-BE49-F238E27FC236}">
                <a16:creationId xmlns:a16="http://schemas.microsoft.com/office/drawing/2014/main" id="{9AD17AA6-7D70-D169-93B0-FF0F151415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72578" y="3901314"/>
            <a:ext cx="2197071" cy="2903273"/>
          </a:xfrm>
          <a:prstGeom prst="rect">
            <a:avLst/>
          </a:prstGeom>
        </p:spPr>
      </p:pic>
      <p:pic>
        <p:nvPicPr>
          <p:cNvPr id="15" name="图片 14" descr="文本, 白板&#10;&#10;AI 生成的内容可能不正确。">
            <a:extLst>
              <a:ext uri="{FF2B5EF4-FFF2-40B4-BE49-F238E27FC236}">
                <a16:creationId xmlns:a16="http://schemas.microsoft.com/office/drawing/2014/main" id="{EFF3DA51-D7B8-08D4-0347-23D1121B3B1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55290" y="4329649"/>
            <a:ext cx="2908520" cy="2267700"/>
          </a:xfrm>
          <a:prstGeom prst="rect">
            <a:avLst/>
          </a:prstGeom>
        </p:spPr>
      </p:pic>
      <p:sp>
        <p:nvSpPr>
          <p:cNvPr id="16" name="文本框 15">
            <a:extLst>
              <a:ext uri="{FF2B5EF4-FFF2-40B4-BE49-F238E27FC236}">
                <a16:creationId xmlns:a16="http://schemas.microsoft.com/office/drawing/2014/main" id="{4D870A16-E2C0-40C2-8AB4-FBF85C65951A}"/>
              </a:ext>
            </a:extLst>
          </p:cNvPr>
          <p:cNvSpPr txBox="1"/>
          <p:nvPr/>
        </p:nvSpPr>
        <p:spPr>
          <a:xfrm>
            <a:off x="2272445" y="5865022"/>
            <a:ext cx="2667718" cy="507831"/>
          </a:xfrm>
          <a:prstGeom prst="rect">
            <a:avLst/>
          </a:prstGeom>
          <a:noFill/>
        </p:spPr>
        <p:txBody>
          <a:bodyPr wrap="none" rtlCol="0">
            <a:spAutoFit/>
          </a:bodyPr>
          <a:lstStyle/>
          <a:p>
            <a:r>
              <a:rPr lang="zh-CN" altLang="en-US" dirty="0"/>
              <a:t>提供多角度展示</a:t>
            </a:r>
            <a:endParaRPr lang="en-US" altLang="zh-CN" dirty="0"/>
          </a:p>
          <a:p>
            <a:r>
              <a:rPr lang="zh-CN" altLang="en-US" sz="900" dirty="0"/>
              <a:t>注意侧板为展示需要设计为透明，实际为非透明</a:t>
            </a:r>
          </a:p>
        </p:txBody>
      </p:sp>
    </p:spTree>
    <p:extLst>
      <p:ext uri="{BB962C8B-B14F-4D97-AF65-F5344CB8AC3E}">
        <p14:creationId xmlns:p14="http://schemas.microsoft.com/office/powerpoint/2010/main" val="24150247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3BB2EC7C-6960-7EFD-2B46-25A8837E5DC9}"/>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0BA7EE98-90E2-1FD3-65E1-7902690D96A1}"/>
              </a:ext>
            </a:extLst>
          </p:cNvPr>
          <p:cNvSpPr/>
          <p:nvPr/>
        </p:nvSpPr>
        <p:spPr>
          <a:xfrm>
            <a:off x="0" y="4053249"/>
            <a:ext cx="12192000" cy="2709193"/>
          </a:xfrm>
          <a:prstGeom prst="rect">
            <a:avLst/>
          </a:prstGeom>
          <a:solidFill>
            <a:srgbClr val="177D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a:t>
            </a:r>
            <a:endParaRPr lang="zh-CN" altLang="en-US" dirty="0"/>
          </a:p>
        </p:txBody>
      </p:sp>
      <p:pic>
        <p:nvPicPr>
          <p:cNvPr id="11" name="图片 10">
            <a:extLst>
              <a:ext uri="{FF2B5EF4-FFF2-40B4-BE49-F238E27FC236}">
                <a16:creationId xmlns:a16="http://schemas.microsoft.com/office/drawing/2014/main" id="{7FA38026-B17F-CD37-BAFB-C535E9A81A98}"/>
              </a:ext>
            </a:extLst>
          </p:cNvPr>
          <p:cNvPicPr>
            <a:picLocks noChangeAspect="1"/>
          </p:cNvPicPr>
          <p:nvPr/>
        </p:nvPicPr>
        <p:blipFill>
          <a:blip r:embed="rId2"/>
          <a:stretch>
            <a:fillRect/>
          </a:stretch>
        </p:blipFill>
        <p:spPr>
          <a:xfrm>
            <a:off x="184195" y="197312"/>
            <a:ext cx="1741460" cy="586009"/>
          </a:xfrm>
          <a:prstGeom prst="rect">
            <a:avLst/>
          </a:prstGeom>
        </p:spPr>
      </p:pic>
      <p:sp>
        <p:nvSpPr>
          <p:cNvPr id="12" name="矩形 11">
            <a:extLst>
              <a:ext uri="{FF2B5EF4-FFF2-40B4-BE49-F238E27FC236}">
                <a16:creationId xmlns:a16="http://schemas.microsoft.com/office/drawing/2014/main" id="{2E6D4E67-2C1E-AA7E-53DC-639F3FE8E002}"/>
              </a:ext>
            </a:extLst>
          </p:cNvPr>
          <p:cNvSpPr/>
          <p:nvPr/>
        </p:nvSpPr>
        <p:spPr>
          <a:xfrm>
            <a:off x="0" y="4148805"/>
            <a:ext cx="12192000" cy="2709193"/>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副标题 2">
            <a:extLst>
              <a:ext uri="{FF2B5EF4-FFF2-40B4-BE49-F238E27FC236}">
                <a16:creationId xmlns:a16="http://schemas.microsoft.com/office/drawing/2014/main" id="{EA7ECD4E-B21F-EB65-5CC5-50F894D9EA83}"/>
              </a:ext>
            </a:extLst>
          </p:cNvPr>
          <p:cNvSpPr>
            <a:spLocks noGrp="1"/>
          </p:cNvSpPr>
          <p:nvPr>
            <p:ph type="subTitle" idx="1"/>
          </p:nvPr>
        </p:nvSpPr>
        <p:spPr>
          <a:xfrm>
            <a:off x="8227751" y="4900655"/>
            <a:ext cx="3517260" cy="1205494"/>
          </a:xfrm>
        </p:spPr>
        <p:txBody>
          <a:bodyPr>
            <a:normAutofit/>
          </a:bodyPr>
          <a:lstStyle/>
          <a:p>
            <a:r>
              <a:rPr lang="zh-CN" altLang="en-US" sz="3200" b="1" dirty="0">
                <a:solidFill>
                  <a:schemeClr val="bg1"/>
                </a:solidFill>
                <a:latin typeface="+mn-ea"/>
              </a:rPr>
              <a:t>介绍设计</a:t>
            </a:r>
            <a:endParaRPr lang="en-US" altLang="zh-CN" sz="3200" b="1" dirty="0">
              <a:solidFill>
                <a:schemeClr val="bg1"/>
              </a:solidFill>
              <a:latin typeface="+mn-ea"/>
            </a:endParaRPr>
          </a:p>
          <a:p>
            <a:r>
              <a:rPr lang="zh-CN" altLang="en-US" sz="3200" b="1" dirty="0">
                <a:solidFill>
                  <a:schemeClr val="bg1"/>
                </a:solidFill>
                <a:latin typeface="+mn-ea"/>
              </a:rPr>
              <a:t>的创新点</a:t>
            </a:r>
          </a:p>
        </p:txBody>
      </p:sp>
      <p:sp>
        <p:nvSpPr>
          <p:cNvPr id="14" name="Text Placeholder 1">
            <a:extLst>
              <a:ext uri="{FF2B5EF4-FFF2-40B4-BE49-F238E27FC236}">
                <a16:creationId xmlns:a16="http://schemas.microsoft.com/office/drawing/2014/main" id="{290565C4-084A-EEF0-FDE0-2EB5E689ECC8}"/>
              </a:ext>
            </a:extLst>
          </p:cNvPr>
          <p:cNvSpPr>
            <a:spLocks noChangeArrowheads="1"/>
          </p:cNvSpPr>
          <p:nvPr/>
        </p:nvSpPr>
        <p:spPr bwMode="auto">
          <a:xfrm>
            <a:off x="184195" y="6106149"/>
            <a:ext cx="5721796" cy="440494"/>
          </a:xfrm>
          <a:prstGeom prst="rect">
            <a:avLst/>
          </a:prstGeom>
          <a:noFill/>
          <a:ln w="9525">
            <a:noFill/>
            <a:bevel/>
          </a:ln>
        </p:spPr>
        <p:txBody>
          <a:bodyPr anchor="ctr"/>
          <a:lstStyle/>
          <a:p>
            <a:pPr eaLnBrk="1" hangingPunct="1">
              <a:defRPr/>
            </a:pPr>
            <a:r>
              <a:rPr lang="en-US" altLang="zh-CN" sz="1400" b="1" dirty="0">
                <a:solidFill>
                  <a:schemeClr val="accent4">
                    <a:lumMod val="95000"/>
                    <a:lumOff val="5000"/>
                  </a:schemeClr>
                </a:solidFill>
                <a:latin typeface="Arial" panose="020B0604020202020204" pitchFamily="34" charset="0"/>
                <a:cs typeface="Arial" panose="020B0604020202020204" pitchFamily="34" charset="0"/>
              </a:rPr>
              <a:t>Prepared by AIR-Tech@ </a:t>
            </a:r>
            <a:fld id="{5853BA87-C0A4-4D40-A7D0-264FBDFF6174}" type="datetime9">
              <a:rPr lang="en-US" altLang="zh-CN" sz="1400" b="1" dirty="0" smtClean="0">
                <a:solidFill>
                  <a:schemeClr val="accent4">
                    <a:lumMod val="95000"/>
                    <a:lumOff val="5000"/>
                  </a:schemeClr>
                </a:solidFill>
                <a:latin typeface="Arial" panose="020B0604020202020204" pitchFamily="34" charset="0"/>
                <a:cs typeface="Arial" panose="020B0604020202020204" pitchFamily="34" charset="0"/>
              </a:rPr>
              <a:t>5/8/2026 5:57:41 PM</a:t>
            </a:fld>
            <a:endParaRPr lang="zh-CN" altLang="en-US" sz="1400" b="1" dirty="0">
              <a:solidFill>
                <a:schemeClr val="accent4">
                  <a:lumMod val="95000"/>
                  <a:lumOff val="5000"/>
                </a:schemeClr>
              </a:solidFill>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AC30A862-A58D-793A-2404-8EE0017FC568}"/>
              </a:ext>
            </a:extLst>
          </p:cNvPr>
          <p:cNvSpPr txBox="1"/>
          <p:nvPr/>
        </p:nvSpPr>
        <p:spPr>
          <a:xfrm>
            <a:off x="3045093" y="2249386"/>
            <a:ext cx="6094902" cy="1015663"/>
          </a:xfrm>
          <a:prstGeom prst="rect">
            <a:avLst/>
          </a:prstGeom>
          <a:noFill/>
        </p:spPr>
        <p:txBody>
          <a:bodyPr wrap="square">
            <a:spAutoFit/>
          </a:bodyPr>
          <a:lstStyle/>
          <a:p>
            <a:pPr algn="ctr"/>
            <a:r>
              <a:rPr lang="zh-CN" altLang="en-US" sz="6000" b="1" dirty="0"/>
              <a:t>主要亮点</a:t>
            </a:r>
          </a:p>
        </p:txBody>
      </p:sp>
    </p:spTree>
    <p:extLst>
      <p:ext uri="{BB962C8B-B14F-4D97-AF65-F5344CB8AC3E}">
        <p14:creationId xmlns:p14="http://schemas.microsoft.com/office/powerpoint/2010/main" val="3488419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82A03F8C-C045-90F0-A222-070B35787551}"/>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0C1B2792-69C3-C466-E7EA-417A80EC82BB}"/>
              </a:ext>
            </a:extLst>
          </p:cNvPr>
          <p:cNvSpPr/>
          <p:nvPr/>
        </p:nvSpPr>
        <p:spPr>
          <a:xfrm>
            <a:off x="1" y="944628"/>
            <a:ext cx="8236423" cy="5913372"/>
          </a:xfrm>
          <a:prstGeom prst="rect">
            <a:avLst/>
          </a:prstGeom>
          <a:solidFill>
            <a:srgbClr val="187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85C7ACAF-8F2B-8C90-6AD1-DE98EC3207A8}"/>
              </a:ext>
            </a:extLst>
          </p:cNvPr>
          <p:cNvPicPr>
            <a:picLocks noChangeAspect="1"/>
          </p:cNvPicPr>
          <p:nvPr/>
        </p:nvPicPr>
        <p:blipFill>
          <a:blip r:embed="rId2"/>
          <a:stretch>
            <a:fillRect/>
          </a:stretch>
        </p:blipFill>
        <p:spPr>
          <a:xfrm>
            <a:off x="184195" y="197312"/>
            <a:ext cx="1741460" cy="586009"/>
          </a:xfrm>
          <a:prstGeom prst="rect">
            <a:avLst/>
          </a:prstGeom>
        </p:spPr>
      </p:pic>
      <p:sp>
        <p:nvSpPr>
          <p:cNvPr id="7" name="标题 1">
            <a:extLst>
              <a:ext uri="{FF2B5EF4-FFF2-40B4-BE49-F238E27FC236}">
                <a16:creationId xmlns:a16="http://schemas.microsoft.com/office/drawing/2014/main" id="{3A80A810-8913-F220-68A6-39FB751BF7F0}"/>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主要亮点</a:t>
            </a:r>
          </a:p>
        </p:txBody>
      </p:sp>
      <p:pic>
        <p:nvPicPr>
          <p:cNvPr id="9" name="图片 8" descr="图示&#10;&#10;AI 生成的内容可能不正确。">
            <a:extLst>
              <a:ext uri="{FF2B5EF4-FFF2-40B4-BE49-F238E27FC236}">
                <a16:creationId xmlns:a16="http://schemas.microsoft.com/office/drawing/2014/main" id="{55B70D0C-B4D7-9E35-9989-9C6CC49FE6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4895" y="1201004"/>
            <a:ext cx="5113171" cy="5102338"/>
          </a:xfrm>
          <a:prstGeom prst="rect">
            <a:avLst/>
          </a:prstGeom>
        </p:spPr>
      </p:pic>
      <p:sp>
        <p:nvSpPr>
          <p:cNvPr id="6" name="矩形 5">
            <a:extLst>
              <a:ext uri="{FF2B5EF4-FFF2-40B4-BE49-F238E27FC236}">
                <a16:creationId xmlns:a16="http://schemas.microsoft.com/office/drawing/2014/main" id="{3841BCEB-F417-F8EE-344B-EB83CCF99B93}"/>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F980EB18-B7E2-1EF6-5BA4-D4D1752D0F0F}"/>
              </a:ext>
            </a:extLst>
          </p:cNvPr>
          <p:cNvSpPr txBox="1"/>
          <p:nvPr/>
        </p:nvSpPr>
        <p:spPr>
          <a:xfrm>
            <a:off x="7044514" y="5270253"/>
            <a:ext cx="383438" cy="523220"/>
          </a:xfrm>
          <a:prstGeom prst="rect">
            <a:avLst/>
          </a:prstGeom>
          <a:noFill/>
        </p:spPr>
        <p:txBody>
          <a:bodyPr wrap="none" rtlCol="0">
            <a:spAutoFit/>
          </a:bodyPr>
          <a:lstStyle/>
          <a:p>
            <a:r>
              <a:rPr lang="en-US" altLang="zh-CN" sz="2800" b="1" dirty="0">
                <a:solidFill>
                  <a:schemeClr val="bg2"/>
                </a:solidFill>
              </a:rPr>
              <a:t>1</a:t>
            </a:r>
            <a:endParaRPr lang="zh-CN" altLang="en-US" sz="2800" b="1" dirty="0">
              <a:solidFill>
                <a:schemeClr val="bg2"/>
              </a:solidFill>
            </a:endParaRPr>
          </a:p>
        </p:txBody>
      </p:sp>
      <p:sp>
        <p:nvSpPr>
          <p:cNvPr id="11" name="文本框 10">
            <a:extLst>
              <a:ext uri="{FF2B5EF4-FFF2-40B4-BE49-F238E27FC236}">
                <a16:creationId xmlns:a16="http://schemas.microsoft.com/office/drawing/2014/main" id="{7CDBFA73-C180-BA00-3763-5A630F0B23EC}"/>
              </a:ext>
            </a:extLst>
          </p:cNvPr>
          <p:cNvSpPr txBox="1"/>
          <p:nvPr/>
        </p:nvSpPr>
        <p:spPr>
          <a:xfrm>
            <a:off x="2564895" y="4388864"/>
            <a:ext cx="383438" cy="52322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dirty="0">
                <a:solidFill>
                  <a:schemeClr val="bg2"/>
                </a:solidFill>
              </a:rPr>
              <a:t>2</a:t>
            </a:r>
            <a:endParaRPr lang="zh-CN" altLang="en-US" sz="2800" b="1" dirty="0">
              <a:solidFill>
                <a:schemeClr val="bg2"/>
              </a:solidFill>
            </a:endParaRPr>
          </a:p>
        </p:txBody>
      </p:sp>
      <p:sp>
        <p:nvSpPr>
          <p:cNvPr id="13" name="文本框 12">
            <a:extLst>
              <a:ext uri="{FF2B5EF4-FFF2-40B4-BE49-F238E27FC236}">
                <a16:creationId xmlns:a16="http://schemas.microsoft.com/office/drawing/2014/main" id="{C3056FBB-6EF9-4AE5-1D9A-7DEB6EE0801C}"/>
              </a:ext>
            </a:extLst>
          </p:cNvPr>
          <p:cNvSpPr txBox="1"/>
          <p:nvPr/>
        </p:nvSpPr>
        <p:spPr>
          <a:xfrm>
            <a:off x="8447965" y="1495764"/>
            <a:ext cx="3185487" cy="4247317"/>
          </a:xfrm>
          <a:prstGeom prst="rect">
            <a:avLst/>
          </a:prstGeom>
          <a:noFill/>
        </p:spPr>
        <p:txBody>
          <a:bodyPr wrap="none" rtlCol="0">
            <a:spAutoFit/>
          </a:bodyPr>
          <a:lstStyle/>
          <a:p>
            <a:r>
              <a:rPr lang="zh-CN" altLang="en-US" dirty="0"/>
              <a:t>水循环系统：</a:t>
            </a:r>
            <a:endParaRPr lang="en-US" altLang="zh-CN" dirty="0"/>
          </a:p>
          <a:p>
            <a:endParaRPr lang="en-US" altLang="zh-CN" dirty="0"/>
          </a:p>
          <a:p>
            <a:r>
              <a:rPr lang="zh-CN" altLang="zh-CN" dirty="0"/>
              <a:t>可以采用内循环</a:t>
            </a:r>
            <a:r>
              <a:rPr lang="en-US" altLang="zh-CN" dirty="0"/>
              <a:t>2</a:t>
            </a:r>
          </a:p>
          <a:p>
            <a:r>
              <a:rPr lang="zh-CN" altLang="zh-CN" dirty="0"/>
              <a:t>或外循环</a:t>
            </a:r>
            <a:r>
              <a:rPr lang="en-US" altLang="zh-CN" dirty="0"/>
              <a:t>1</a:t>
            </a:r>
            <a:r>
              <a:rPr lang="zh-CN" altLang="zh-CN" dirty="0"/>
              <a:t>方案</a:t>
            </a:r>
            <a:endParaRPr lang="en-US" altLang="zh-CN" dirty="0"/>
          </a:p>
          <a:p>
            <a:endParaRPr lang="en-US" altLang="zh-CN" dirty="0"/>
          </a:p>
          <a:p>
            <a:r>
              <a:rPr lang="zh-CN" altLang="zh-CN" dirty="0"/>
              <a:t>内循环方案设计如下：</a:t>
            </a:r>
            <a:endParaRPr lang="en-US" altLang="zh-CN" dirty="0"/>
          </a:p>
          <a:p>
            <a:r>
              <a:rPr lang="zh-CN" altLang="zh-CN" dirty="0"/>
              <a:t>在基架上安装净水箱，</a:t>
            </a:r>
            <a:endParaRPr lang="en-US" altLang="zh-CN" dirty="0"/>
          </a:p>
          <a:p>
            <a:r>
              <a:rPr lang="zh-CN" altLang="zh-CN" dirty="0"/>
              <a:t>喷水管和集水槽连接净水箱</a:t>
            </a:r>
            <a:endParaRPr lang="en-US" altLang="zh-CN" dirty="0"/>
          </a:p>
          <a:p>
            <a:r>
              <a:rPr lang="zh-CN" altLang="zh-CN" dirty="0"/>
              <a:t>喷管从净水箱抽水进行清洗</a:t>
            </a:r>
            <a:endParaRPr lang="en-US" altLang="zh-CN" dirty="0"/>
          </a:p>
          <a:p>
            <a:r>
              <a:rPr lang="zh-CN" altLang="zh-CN" dirty="0"/>
              <a:t>清洗过程中产生的废水回到</a:t>
            </a:r>
            <a:endParaRPr lang="en-US" altLang="zh-CN" dirty="0"/>
          </a:p>
          <a:p>
            <a:r>
              <a:rPr lang="zh-CN" altLang="zh-CN" dirty="0"/>
              <a:t>净水箱进行过滤。</a:t>
            </a:r>
            <a:endParaRPr lang="en-US" altLang="zh-CN" dirty="0"/>
          </a:p>
          <a:p>
            <a:endParaRPr lang="en-US" altLang="zh-CN" dirty="0"/>
          </a:p>
          <a:p>
            <a:r>
              <a:rPr lang="zh-CN" altLang="zh-CN" dirty="0"/>
              <a:t>外循环方案设计如下：</a:t>
            </a:r>
            <a:endParaRPr lang="en-US" altLang="zh-CN" dirty="0"/>
          </a:p>
          <a:p>
            <a:r>
              <a:rPr lang="zh-CN" altLang="zh-CN" dirty="0"/>
              <a:t>则可以将喷水管和集水槽外接</a:t>
            </a:r>
            <a:endParaRPr lang="en-US" altLang="zh-CN" dirty="0"/>
          </a:p>
          <a:p>
            <a:r>
              <a:rPr lang="zh-CN" altLang="zh-CN" dirty="0"/>
              <a:t>用水以及排水系统</a:t>
            </a:r>
            <a:r>
              <a:rPr lang="en-US" altLang="zh-CN" dirty="0"/>
              <a:t>.</a:t>
            </a:r>
            <a:endParaRPr lang="zh-CN" altLang="en-US" dirty="0"/>
          </a:p>
        </p:txBody>
      </p:sp>
    </p:spTree>
    <p:extLst>
      <p:ext uri="{BB962C8B-B14F-4D97-AF65-F5344CB8AC3E}">
        <p14:creationId xmlns:p14="http://schemas.microsoft.com/office/powerpoint/2010/main" val="3679176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E7A20043-3752-6B5B-403D-9898552D5545}"/>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4EEE11CF-B9E3-D618-141A-C144E680BC7B}"/>
              </a:ext>
            </a:extLst>
          </p:cNvPr>
          <p:cNvSpPr/>
          <p:nvPr/>
        </p:nvSpPr>
        <p:spPr>
          <a:xfrm>
            <a:off x="2" y="944628"/>
            <a:ext cx="6994476"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9FC4C69D-A9D3-394E-B0FB-D701950D385F}"/>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959AC269-712C-6EEF-0FE7-E187850D887E}"/>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3B7F3FC7-2E4E-ACF0-84FE-AA2201F7F80A}"/>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主要亮点</a:t>
            </a:r>
          </a:p>
        </p:txBody>
      </p:sp>
      <p:sp>
        <p:nvSpPr>
          <p:cNvPr id="11" name="文本框 10">
            <a:extLst>
              <a:ext uri="{FF2B5EF4-FFF2-40B4-BE49-F238E27FC236}">
                <a16:creationId xmlns:a16="http://schemas.microsoft.com/office/drawing/2014/main" id="{2662079A-286A-FF6F-26F5-A880FE4E76EF}"/>
              </a:ext>
            </a:extLst>
          </p:cNvPr>
          <p:cNvSpPr txBox="1"/>
          <p:nvPr/>
        </p:nvSpPr>
        <p:spPr>
          <a:xfrm>
            <a:off x="7568884" y="1888614"/>
            <a:ext cx="4070718" cy="3693319"/>
          </a:xfrm>
          <a:prstGeom prst="rect">
            <a:avLst/>
          </a:prstGeom>
          <a:noFill/>
        </p:spPr>
        <p:txBody>
          <a:bodyPr wrap="square" rtlCol="0">
            <a:spAutoFit/>
          </a:bodyPr>
          <a:lstStyle/>
          <a:p>
            <a:r>
              <a:rPr lang="zh-CN" altLang="zh-CN" dirty="0"/>
              <a:t>清</a:t>
            </a:r>
            <a:r>
              <a:rPr lang="zh-CN" altLang="en-US" dirty="0"/>
              <a:t>洗</a:t>
            </a:r>
            <a:r>
              <a:rPr lang="zh-CN" altLang="zh-CN" dirty="0"/>
              <a:t>组件</a:t>
            </a:r>
            <a:r>
              <a:rPr lang="zh-CN" altLang="en-US" dirty="0"/>
              <a:t>：</a:t>
            </a:r>
            <a:endParaRPr lang="en-US" altLang="zh-CN" dirty="0"/>
          </a:p>
          <a:p>
            <a:r>
              <a:rPr lang="zh-CN" altLang="zh-CN" dirty="0"/>
              <a:t>包括毛刷辊，毛刷辊的外周表面分布有刷毛，毛刷辊的刷毛与毛刷带的刷毛接触；清洗电机的速比不同，使得毛刷辊能够对毛刷带进行清洁。</a:t>
            </a:r>
            <a:endParaRPr lang="en-US" altLang="zh-CN" dirty="0"/>
          </a:p>
          <a:p>
            <a:endParaRPr lang="en-US" altLang="zh-CN" dirty="0"/>
          </a:p>
          <a:p>
            <a:r>
              <a:rPr lang="zh-CN" altLang="zh-CN" dirty="0"/>
              <a:t>通过设置与毛刷带接触并具有不同速比的毛刷辊，在清洗</a:t>
            </a:r>
            <a:r>
              <a:rPr lang="en-US" altLang="zh-CN" dirty="0"/>
              <a:t>AGV</a:t>
            </a:r>
            <a:r>
              <a:rPr lang="zh-CN" altLang="zh-CN" dirty="0"/>
              <a:t>车轮的同时，能有效地将附着在毛刷带上的污物刷除，实现毛刷带的自清洁。这不仅能保持毛刷带的持续清洁和高效清洗能力，也避免了因毛刷带藏污纳垢而对后续</a:t>
            </a:r>
            <a:r>
              <a:rPr lang="en-US" altLang="zh-CN" dirty="0"/>
              <a:t>AGV</a:t>
            </a:r>
            <a:r>
              <a:rPr lang="zh-CN" altLang="zh-CN" dirty="0"/>
              <a:t>车轮造成的二次污染。</a:t>
            </a:r>
            <a:endParaRPr lang="zh-CN" altLang="en-US" dirty="0"/>
          </a:p>
        </p:txBody>
      </p:sp>
      <p:pic>
        <p:nvPicPr>
          <p:cNvPr id="13" name="图片 12" descr="图示&#10;&#10;AI 生成的内容可能不正确。">
            <a:extLst>
              <a:ext uri="{FF2B5EF4-FFF2-40B4-BE49-F238E27FC236}">
                <a16:creationId xmlns:a16="http://schemas.microsoft.com/office/drawing/2014/main" id="{F299C757-6D1F-ACDC-D43A-82DD7ECA7A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2119642" y="1984872"/>
            <a:ext cx="4636034" cy="4173764"/>
          </a:xfrm>
          <a:prstGeom prst="rect">
            <a:avLst/>
          </a:prstGeom>
          <a:solidFill>
            <a:srgbClr val="FFFCF7"/>
          </a:solidFill>
        </p:spPr>
      </p:pic>
    </p:spTree>
    <p:extLst>
      <p:ext uri="{BB962C8B-B14F-4D97-AF65-F5344CB8AC3E}">
        <p14:creationId xmlns:p14="http://schemas.microsoft.com/office/powerpoint/2010/main" val="3984811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8C3E3B45-CCB9-4C47-4066-6CF2606ED64A}"/>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B7770353-D84D-1ECA-D72B-2B275BC24BB3}"/>
              </a:ext>
            </a:extLst>
          </p:cNvPr>
          <p:cNvSpPr/>
          <p:nvPr/>
        </p:nvSpPr>
        <p:spPr>
          <a:xfrm>
            <a:off x="0" y="944628"/>
            <a:ext cx="7322024"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4763D687-E012-6FBD-F753-CFEA6233DE7F}"/>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D1BA7F92-D9CE-8A0C-B511-4C88D3ECEE48}"/>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74994BDE-B49A-4893-F7BA-7407B6E46B0F}"/>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主要亮点</a:t>
            </a:r>
          </a:p>
        </p:txBody>
      </p:sp>
      <p:sp>
        <p:nvSpPr>
          <p:cNvPr id="3" name="文本框 2">
            <a:extLst>
              <a:ext uri="{FF2B5EF4-FFF2-40B4-BE49-F238E27FC236}">
                <a16:creationId xmlns:a16="http://schemas.microsoft.com/office/drawing/2014/main" id="{315855EC-FC06-7734-04D3-0D94FA33B676}"/>
              </a:ext>
            </a:extLst>
          </p:cNvPr>
          <p:cNvSpPr txBox="1"/>
          <p:nvPr/>
        </p:nvSpPr>
        <p:spPr>
          <a:xfrm>
            <a:off x="7610596" y="1172218"/>
            <a:ext cx="4070718" cy="4801314"/>
          </a:xfrm>
          <a:prstGeom prst="rect">
            <a:avLst/>
          </a:prstGeom>
          <a:noFill/>
        </p:spPr>
        <p:txBody>
          <a:bodyPr wrap="square" rtlCol="0">
            <a:spAutoFit/>
          </a:bodyPr>
          <a:lstStyle/>
          <a:p>
            <a:r>
              <a:rPr lang="zh-CN" altLang="zh-CN" dirty="0"/>
              <a:t>抬升组件</a:t>
            </a:r>
            <a:r>
              <a:rPr lang="zh-CN" altLang="en-US" dirty="0"/>
              <a:t>：</a:t>
            </a:r>
            <a:endParaRPr lang="en-US" altLang="zh-CN" dirty="0"/>
          </a:p>
          <a:p>
            <a:endParaRPr lang="en-US" altLang="zh-CN" dirty="0"/>
          </a:p>
          <a:p>
            <a:r>
              <a:rPr lang="zh-CN" altLang="zh-CN" dirty="0"/>
              <a:t>横臂的两端分别铰接于两组摇臂的相同位置处，以使横臂在摇臂转动过程中保持水平；所述横臂上设有承托结构，两组抬升组件的承托结构相对设置以共同承托</a:t>
            </a:r>
            <a:r>
              <a:rPr lang="en-US" altLang="zh-CN" dirty="0"/>
              <a:t>AGV</a:t>
            </a:r>
            <a:r>
              <a:rPr lang="zh-CN" altLang="zh-CN" dirty="0"/>
              <a:t>小车。</a:t>
            </a:r>
            <a:endParaRPr lang="en-US" altLang="zh-CN" dirty="0"/>
          </a:p>
          <a:p>
            <a:endParaRPr lang="en-US" altLang="zh-CN" dirty="0"/>
          </a:p>
          <a:p>
            <a:r>
              <a:rPr lang="zh-CN" altLang="zh-CN" dirty="0"/>
              <a:t>抬升驱动单元的输出端与任一摇臂连接，用于驱动摇臂转动。通过一套抬升驱动单元配合连杆驱动对称的抬升组件，</a:t>
            </a:r>
            <a:endParaRPr lang="en-US" altLang="zh-CN" dirty="0"/>
          </a:p>
          <a:p>
            <a:endParaRPr lang="en-US" altLang="zh-CN" dirty="0"/>
          </a:p>
          <a:p>
            <a:r>
              <a:rPr lang="zh-CN" altLang="zh-CN" b="1" dirty="0">
                <a:solidFill>
                  <a:srgbClr val="0048CE"/>
                </a:solidFill>
              </a:rPr>
              <a:t>将复杂的水平与竖直分离运动集成为摇臂的单一旋转运动</a:t>
            </a:r>
            <a:r>
              <a:rPr lang="zh-CN" altLang="zh-CN" dirty="0"/>
              <a:t>，简化了机械结构，减少了电机数量和控制系统复杂度，从而降低了制造成本和维护成本，并提高了系统整体可靠性。</a:t>
            </a:r>
          </a:p>
        </p:txBody>
      </p:sp>
      <p:pic>
        <p:nvPicPr>
          <p:cNvPr id="9" name="图片 8" descr="图片包含 游戏机, 起重机&#10;&#10;AI 生成的内容可能不正确。">
            <a:extLst>
              <a:ext uri="{FF2B5EF4-FFF2-40B4-BE49-F238E27FC236}">
                <a16:creationId xmlns:a16="http://schemas.microsoft.com/office/drawing/2014/main" id="{4594A546-C52D-EB14-DE24-13674DCCDD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5282" y="1376478"/>
            <a:ext cx="5112568" cy="5049671"/>
          </a:xfrm>
          <a:prstGeom prst="rect">
            <a:avLst/>
          </a:prstGeom>
        </p:spPr>
      </p:pic>
    </p:spTree>
    <p:extLst>
      <p:ext uri="{BB962C8B-B14F-4D97-AF65-F5344CB8AC3E}">
        <p14:creationId xmlns:p14="http://schemas.microsoft.com/office/powerpoint/2010/main" val="3502447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B1ED2D43-DEE3-B75E-637B-B0F4B7AC9999}"/>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30C7F41B-A665-5E04-71D6-3E29222DA6F3}"/>
              </a:ext>
            </a:extLst>
          </p:cNvPr>
          <p:cNvSpPr/>
          <p:nvPr/>
        </p:nvSpPr>
        <p:spPr>
          <a:xfrm>
            <a:off x="0" y="944628"/>
            <a:ext cx="7085624"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ED719459-33EF-30D8-A966-CE1F1D1892BD}"/>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BD5B362D-720E-5B69-5579-842BC1C1A454}"/>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83919EFB-0644-0201-2D45-1EE1B31057C9}"/>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主要亮点</a:t>
            </a:r>
          </a:p>
        </p:txBody>
      </p:sp>
      <p:pic>
        <p:nvPicPr>
          <p:cNvPr id="8" name="图片 7" descr="图形用户界面&#10;&#10;AI 生成的内容可能不正确。">
            <a:extLst>
              <a:ext uri="{FF2B5EF4-FFF2-40B4-BE49-F238E27FC236}">
                <a16:creationId xmlns:a16="http://schemas.microsoft.com/office/drawing/2014/main" id="{388AFB56-76ED-1648-CD93-C20D4C6C59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8344" y="2004445"/>
            <a:ext cx="4854217" cy="4038629"/>
          </a:xfrm>
          <a:prstGeom prst="rect">
            <a:avLst/>
          </a:prstGeom>
        </p:spPr>
      </p:pic>
      <p:sp>
        <p:nvSpPr>
          <p:cNvPr id="9" name="文本框 8">
            <a:extLst>
              <a:ext uri="{FF2B5EF4-FFF2-40B4-BE49-F238E27FC236}">
                <a16:creationId xmlns:a16="http://schemas.microsoft.com/office/drawing/2014/main" id="{252B1C99-DBFD-098C-F4A7-0EF006116A85}"/>
              </a:ext>
            </a:extLst>
          </p:cNvPr>
          <p:cNvSpPr txBox="1"/>
          <p:nvPr/>
        </p:nvSpPr>
        <p:spPr>
          <a:xfrm>
            <a:off x="7257245" y="1085158"/>
            <a:ext cx="4707228" cy="4524315"/>
          </a:xfrm>
          <a:prstGeom prst="rect">
            <a:avLst/>
          </a:prstGeom>
          <a:noFill/>
        </p:spPr>
        <p:txBody>
          <a:bodyPr wrap="square" rtlCol="0">
            <a:spAutoFit/>
          </a:bodyPr>
          <a:lstStyle/>
          <a:p>
            <a:r>
              <a:rPr lang="zh-CN" altLang="en-US" dirty="0"/>
              <a:t>高度调定组件：</a:t>
            </a:r>
            <a:endParaRPr lang="en-US" altLang="zh-CN" dirty="0"/>
          </a:p>
          <a:p>
            <a:endParaRPr lang="en-US" altLang="zh-CN" dirty="0"/>
          </a:p>
          <a:p>
            <a:r>
              <a:rPr lang="zh-CN" altLang="zh-CN" dirty="0"/>
              <a:t>横臂和托板之间通过若干竖向设置的螺杆连接，所述螺杆用于调节托板相对于横臂的竖直高度。</a:t>
            </a:r>
            <a:r>
              <a:rPr lang="zh-CN" altLang="zh-CN" b="1" dirty="0">
                <a:solidFill>
                  <a:srgbClr val="0048CE"/>
                </a:solidFill>
              </a:rPr>
              <a:t>通过调节螺杆可以精细地调节托板的竖直高度，使同一台洗轮机能够适配不同型号、不同底盘高度的</a:t>
            </a:r>
            <a:r>
              <a:rPr lang="en-US" altLang="zh-CN" b="1" dirty="0">
                <a:solidFill>
                  <a:srgbClr val="0048CE"/>
                </a:solidFill>
              </a:rPr>
              <a:t>AGV</a:t>
            </a:r>
            <a:r>
              <a:rPr lang="zh-CN" altLang="zh-CN" b="1" dirty="0">
                <a:solidFill>
                  <a:srgbClr val="0048CE"/>
                </a:solidFill>
              </a:rPr>
              <a:t>小车</a:t>
            </a:r>
            <a:r>
              <a:rPr lang="zh-CN" altLang="en-US" b="1" dirty="0">
                <a:solidFill>
                  <a:srgbClr val="0048CE"/>
                </a:solidFill>
              </a:rPr>
              <a:t>。</a:t>
            </a:r>
            <a:endParaRPr lang="en-US" altLang="zh-CN" b="1" dirty="0">
              <a:solidFill>
                <a:srgbClr val="0048CE"/>
              </a:solidFill>
            </a:endParaRPr>
          </a:p>
          <a:p>
            <a:endParaRPr lang="en-US" altLang="zh-CN" dirty="0"/>
          </a:p>
          <a:p>
            <a:r>
              <a:rPr lang="zh-CN" altLang="zh-CN" dirty="0"/>
              <a:t>横臂上装配有定位螺栓，托板上设有定位槽，所述定位螺栓和定位槽配合以保持托板稳定。</a:t>
            </a:r>
            <a:endParaRPr lang="en-US" altLang="zh-CN" dirty="0"/>
          </a:p>
          <a:p>
            <a:endParaRPr lang="en-US" altLang="zh-CN" dirty="0"/>
          </a:p>
          <a:p>
            <a:r>
              <a:rPr lang="zh-CN" altLang="zh-CN" dirty="0"/>
              <a:t>托板对应承托空间上壁的表面设有摩擦垫。所述摩擦垫一方面增大了与</a:t>
            </a:r>
            <a:r>
              <a:rPr lang="en-US" altLang="zh-CN" dirty="0"/>
              <a:t>AGV</a:t>
            </a:r>
            <a:r>
              <a:rPr lang="zh-CN" altLang="zh-CN" dirty="0"/>
              <a:t>小车车身的摩擦力，防止在抬升和清洗过程中发生相对滑动，确保安全另一方面起到了缓冲和保护作用</a:t>
            </a:r>
            <a:r>
              <a:rPr lang="zh-CN" altLang="en-US" dirty="0"/>
              <a:t>。</a:t>
            </a:r>
            <a:endParaRPr lang="en-US" altLang="zh-CN" dirty="0"/>
          </a:p>
        </p:txBody>
      </p:sp>
    </p:spTree>
    <p:extLst>
      <p:ext uri="{BB962C8B-B14F-4D97-AF65-F5344CB8AC3E}">
        <p14:creationId xmlns:p14="http://schemas.microsoft.com/office/powerpoint/2010/main" val="10710507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F2212CDC-6204-2167-858B-BE9AB5D2775A}"/>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11DFAD0F-58E6-923B-51CC-1D847709F38E}"/>
              </a:ext>
            </a:extLst>
          </p:cNvPr>
          <p:cNvSpPr/>
          <p:nvPr/>
        </p:nvSpPr>
        <p:spPr>
          <a:xfrm>
            <a:off x="-1" y="944628"/>
            <a:ext cx="735614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BA4A06B3-A4D0-614F-A482-21AFF1731A23}"/>
              </a:ext>
            </a:extLst>
          </p:cNvPr>
          <p:cNvPicPr>
            <a:picLocks noChangeAspect="1"/>
          </p:cNvPicPr>
          <p:nvPr/>
        </p:nvPicPr>
        <p:blipFill>
          <a:blip r:embed="rId2"/>
          <a:stretch>
            <a:fillRect/>
          </a:stretch>
        </p:blipFill>
        <p:spPr>
          <a:xfrm>
            <a:off x="184195" y="197312"/>
            <a:ext cx="1741460" cy="586009"/>
          </a:xfrm>
          <a:prstGeom prst="rect">
            <a:avLst/>
          </a:prstGeom>
        </p:spPr>
      </p:pic>
      <p:sp>
        <p:nvSpPr>
          <p:cNvPr id="2" name="标题 1">
            <a:extLst>
              <a:ext uri="{FF2B5EF4-FFF2-40B4-BE49-F238E27FC236}">
                <a16:creationId xmlns:a16="http://schemas.microsoft.com/office/drawing/2014/main" id="{0011E4A4-28FA-7EB6-224A-57371271E5E7}"/>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主要亮点</a:t>
            </a:r>
          </a:p>
        </p:txBody>
      </p:sp>
      <p:sp>
        <p:nvSpPr>
          <p:cNvPr id="9" name="文本框 8">
            <a:extLst>
              <a:ext uri="{FF2B5EF4-FFF2-40B4-BE49-F238E27FC236}">
                <a16:creationId xmlns:a16="http://schemas.microsoft.com/office/drawing/2014/main" id="{74C69682-1733-DC3C-4CF9-30F0D9E694E9}"/>
              </a:ext>
            </a:extLst>
          </p:cNvPr>
          <p:cNvSpPr txBox="1"/>
          <p:nvPr/>
        </p:nvSpPr>
        <p:spPr>
          <a:xfrm>
            <a:off x="7623475" y="1326765"/>
            <a:ext cx="4070718" cy="4247317"/>
          </a:xfrm>
          <a:prstGeom prst="rect">
            <a:avLst/>
          </a:prstGeom>
          <a:noFill/>
        </p:spPr>
        <p:txBody>
          <a:bodyPr wrap="square" rtlCol="0">
            <a:spAutoFit/>
          </a:bodyPr>
          <a:lstStyle/>
          <a:p>
            <a:r>
              <a:rPr lang="zh-CN" altLang="en-US" dirty="0"/>
              <a:t>吹干组件：</a:t>
            </a:r>
            <a:endParaRPr lang="en-US" altLang="zh-CN" dirty="0"/>
          </a:p>
          <a:p>
            <a:r>
              <a:rPr lang="zh-CN" altLang="zh-CN" dirty="0"/>
              <a:t>在清刷组件完成清洗后，吹气组件对</a:t>
            </a:r>
            <a:r>
              <a:rPr lang="en-US" altLang="zh-CN" dirty="0"/>
              <a:t>AGV</a:t>
            </a:r>
            <a:r>
              <a:rPr lang="zh-CN" altLang="zh-CN" dirty="0"/>
              <a:t>小车的车轮进行吹干操作。</a:t>
            </a:r>
            <a:endParaRPr lang="en-US" altLang="zh-CN" dirty="0"/>
          </a:p>
          <a:p>
            <a:endParaRPr lang="en-US" altLang="zh-CN" dirty="0"/>
          </a:p>
          <a:p>
            <a:r>
              <a:rPr lang="zh-CN" altLang="zh-CN" dirty="0"/>
              <a:t>通过“清洗后抬升再吹干”的特定流程，使车轮与湿漉的毛刷带分离形成气流通道，吹气组件的气流得以无障碍地吹到车轮的整个表面，包括原本与毛刷带</a:t>
            </a:r>
            <a:r>
              <a:rPr lang="en-US" altLang="zh-CN" dirty="0"/>
              <a:t>4</a:t>
            </a:r>
            <a:r>
              <a:rPr lang="zh-CN" altLang="zh-CN" dirty="0"/>
              <a:t>接触的底部区域，从而</a:t>
            </a:r>
            <a:r>
              <a:rPr lang="zh-CN" altLang="zh-CN" b="1" dirty="0">
                <a:solidFill>
                  <a:srgbClr val="0048CE"/>
                </a:solidFill>
              </a:rPr>
              <a:t>实现了车轮的有效干燥，避免采用直接对位于毛刷带</a:t>
            </a:r>
            <a:r>
              <a:rPr lang="en-US" altLang="zh-CN" b="1" dirty="0">
                <a:solidFill>
                  <a:srgbClr val="0048CE"/>
                </a:solidFill>
              </a:rPr>
              <a:t>4</a:t>
            </a:r>
            <a:r>
              <a:rPr lang="zh-CN" altLang="zh-CN" b="1" dirty="0">
                <a:solidFill>
                  <a:srgbClr val="0048CE"/>
                </a:solidFill>
              </a:rPr>
              <a:t>上的</a:t>
            </a:r>
            <a:r>
              <a:rPr lang="en-US" altLang="zh-CN" b="1" dirty="0">
                <a:solidFill>
                  <a:srgbClr val="0048CE"/>
                </a:solidFill>
              </a:rPr>
              <a:t>AGV</a:t>
            </a:r>
            <a:r>
              <a:rPr lang="zh-CN" altLang="zh-CN" b="1" dirty="0">
                <a:solidFill>
                  <a:srgbClr val="0048CE"/>
                </a:solidFill>
              </a:rPr>
              <a:t>车轮进行吹干导致车轮干燥不彻底的问题</a:t>
            </a:r>
            <a:r>
              <a:rPr lang="zh-CN" altLang="en-US" dirty="0"/>
              <a:t>。</a:t>
            </a:r>
            <a:endParaRPr lang="en-US" altLang="zh-CN" dirty="0"/>
          </a:p>
          <a:p>
            <a:endParaRPr lang="en-US" altLang="zh-CN" dirty="0"/>
          </a:p>
          <a:p>
            <a:r>
              <a:rPr lang="zh-CN" altLang="zh-CN" dirty="0"/>
              <a:t>以及进一步导致车轮二次污染的问题。</a:t>
            </a:r>
            <a:endParaRPr lang="en-US" altLang="zh-CN" dirty="0"/>
          </a:p>
          <a:p>
            <a:endParaRPr lang="en-US" altLang="zh-CN" dirty="0"/>
          </a:p>
        </p:txBody>
      </p:sp>
      <p:pic>
        <p:nvPicPr>
          <p:cNvPr id="7" name="图片 6" descr="图示&#10;&#10;AI 生成的内容可能不正确。">
            <a:extLst>
              <a:ext uri="{FF2B5EF4-FFF2-40B4-BE49-F238E27FC236}">
                <a16:creationId xmlns:a16="http://schemas.microsoft.com/office/drawing/2014/main" id="{9BFD18A8-A503-6004-D5F5-74C6747487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807" y="944627"/>
            <a:ext cx="6579736" cy="5655796"/>
          </a:xfrm>
          <a:prstGeom prst="rect">
            <a:avLst/>
          </a:prstGeom>
        </p:spPr>
      </p:pic>
      <p:sp>
        <p:nvSpPr>
          <p:cNvPr id="6" name="矩形 5">
            <a:extLst>
              <a:ext uri="{FF2B5EF4-FFF2-40B4-BE49-F238E27FC236}">
                <a16:creationId xmlns:a16="http://schemas.microsoft.com/office/drawing/2014/main" id="{24CEF5F8-DE53-B99B-C197-28B7344E4506}"/>
              </a:ext>
            </a:extLst>
          </p:cNvPr>
          <p:cNvSpPr/>
          <p:nvPr/>
        </p:nvSpPr>
        <p:spPr>
          <a:xfrm>
            <a:off x="-1" y="944629"/>
            <a:ext cx="2025283" cy="5913372"/>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1992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97A26B1D-7843-97BF-B79A-6A37D7E4B481}"/>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A712658-6470-1301-EDE5-E61F4B6ECD30}"/>
              </a:ext>
            </a:extLst>
          </p:cNvPr>
          <p:cNvSpPr/>
          <p:nvPr/>
        </p:nvSpPr>
        <p:spPr>
          <a:xfrm>
            <a:off x="-1" y="944628"/>
            <a:ext cx="7856114"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E7D1578D-5DE8-9904-080A-ABECEAA10428}"/>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66737273-663A-190C-7988-7842830DEF3B}"/>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C4E452B6-3EAC-6A1D-2E3E-A0453D23058E}"/>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主要亮点</a:t>
            </a:r>
          </a:p>
        </p:txBody>
      </p:sp>
      <p:sp>
        <p:nvSpPr>
          <p:cNvPr id="9" name="文本框 8">
            <a:extLst>
              <a:ext uri="{FF2B5EF4-FFF2-40B4-BE49-F238E27FC236}">
                <a16:creationId xmlns:a16="http://schemas.microsoft.com/office/drawing/2014/main" id="{22BCF090-3586-15E8-9210-8D238B9519CA}"/>
              </a:ext>
            </a:extLst>
          </p:cNvPr>
          <p:cNvSpPr txBox="1"/>
          <p:nvPr/>
        </p:nvSpPr>
        <p:spPr>
          <a:xfrm>
            <a:off x="8180976" y="2330910"/>
            <a:ext cx="3400840" cy="2308324"/>
          </a:xfrm>
          <a:prstGeom prst="rect">
            <a:avLst/>
          </a:prstGeom>
          <a:noFill/>
        </p:spPr>
        <p:txBody>
          <a:bodyPr wrap="square" rtlCol="0">
            <a:spAutoFit/>
          </a:bodyPr>
          <a:lstStyle/>
          <a:p>
            <a:r>
              <a:rPr lang="zh-CN" altLang="en-US" dirty="0"/>
              <a:t>控制与电器部分：</a:t>
            </a:r>
            <a:endParaRPr lang="en-US" altLang="zh-CN" dirty="0"/>
          </a:p>
          <a:p>
            <a:endParaRPr lang="en-US" altLang="zh-CN" dirty="0"/>
          </a:p>
          <a:p>
            <a:r>
              <a:rPr lang="zh-CN" altLang="en-US" dirty="0"/>
              <a:t>控制盒子和电箱直接相连，</a:t>
            </a:r>
            <a:endParaRPr lang="en-US" altLang="zh-CN" dirty="0"/>
          </a:p>
          <a:p>
            <a:r>
              <a:rPr lang="zh-CN" altLang="en-US" dirty="0"/>
              <a:t>三色灯安插在铝型材上下方铝型材升上来变成控制盒骨架</a:t>
            </a:r>
            <a:endParaRPr lang="en-US" altLang="zh-CN" dirty="0"/>
          </a:p>
          <a:p>
            <a:r>
              <a:rPr lang="zh-CN" altLang="en-US" dirty="0"/>
              <a:t>整个设计精巧简易同时电箱与控制盒子的连接通过铝型材之间的缝隙，</a:t>
            </a:r>
            <a:r>
              <a:rPr lang="zh-CN" altLang="en-US" b="1" dirty="0">
                <a:solidFill>
                  <a:srgbClr val="0048CE"/>
                </a:solidFill>
              </a:rPr>
              <a:t>无外露电线，外表美观</a:t>
            </a:r>
            <a:r>
              <a:rPr lang="zh-CN" altLang="en-US" dirty="0"/>
              <a:t>。</a:t>
            </a:r>
            <a:endParaRPr lang="en-US" altLang="zh-CN" dirty="0"/>
          </a:p>
        </p:txBody>
      </p:sp>
      <p:pic>
        <p:nvPicPr>
          <p:cNvPr id="7" name="图片 6" descr="图形用户界面&#10;&#10;AI 生成的内容可能不正确。">
            <a:extLst>
              <a:ext uri="{FF2B5EF4-FFF2-40B4-BE49-F238E27FC236}">
                <a16:creationId xmlns:a16="http://schemas.microsoft.com/office/drawing/2014/main" id="{27EE78A5-FCED-C47E-F792-8D4DC7D837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5282" y="1983346"/>
            <a:ext cx="5252168" cy="4874654"/>
          </a:xfrm>
          <a:prstGeom prst="rect">
            <a:avLst/>
          </a:prstGeom>
        </p:spPr>
      </p:pic>
    </p:spTree>
    <p:extLst>
      <p:ext uri="{BB962C8B-B14F-4D97-AF65-F5344CB8AC3E}">
        <p14:creationId xmlns:p14="http://schemas.microsoft.com/office/powerpoint/2010/main" val="37909897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7F34EEF8-E53A-CBA5-4B01-A20EF970E7B1}"/>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03D6390-9AFB-A005-EB37-03579CF1FAD5}"/>
              </a:ext>
            </a:extLst>
          </p:cNvPr>
          <p:cNvSpPr/>
          <p:nvPr/>
        </p:nvSpPr>
        <p:spPr>
          <a:xfrm>
            <a:off x="-1" y="944628"/>
            <a:ext cx="12192001"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20DA905C-328F-3D37-6BEB-0AAE2344A947}"/>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217CAE52-5BB1-F739-4015-B78472B0AF69}"/>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8987CB68-488C-28CF-90BF-1DDCC4FF594D}"/>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主要亮点</a:t>
            </a:r>
          </a:p>
        </p:txBody>
      </p:sp>
      <p:pic>
        <p:nvPicPr>
          <p:cNvPr id="7" name="图片 6" descr="图形用户界面&#10;&#10;AI 生成的内容可能不正确。">
            <a:extLst>
              <a:ext uri="{FF2B5EF4-FFF2-40B4-BE49-F238E27FC236}">
                <a16:creationId xmlns:a16="http://schemas.microsoft.com/office/drawing/2014/main" id="{5E846F9C-09E1-4F4D-959E-426606EDD1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7747" y="943980"/>
            <a:ext cx="9294254" cy="5914020"/>
          </a:xfrm>
          <a:prstGeom prst="rect">
            <a:avLst/>
          </a:prstGeom>
        </p:spPr>
      </p:pic>
      <p:sp>
        <p:nvSpPr>
          <p:cNvPr id="9" name="文本框 8">
            <a:extLst>
              <a:ext uri="{FF2B5EF4-FFF2-40B4-BE49-F238E27FC236}">
                <a16:creationId xmlns:a16="http://schemas.microsoft.com/office/drawing/2014/main" id="{98EF9708-B5BD-D30B-A8E9-D1349A2996F5}"/>
              </a:ext>
            </a:extLst>
          </p:cNvPr>
          <p:cNvSpPr txBox="1"/>
          <p:nvPr/>
        </p:nvSpPr>
        <p:spPr>
          <a:xfrm>
            <a:off x="2431029" y="2142192"/>
            <a:ext cx="3061811" cy="2800767"/>
          </a:xfrm>
          <a:prstGeom prst="rect">
            <a:avLst/>
          </a:prstGeom>
          <a:noFill/>
        </p:spPr>
        <p:txBody>
          <a:bodyPr wrap="square" rtlCol="0">
            <a:spAutoFit/>
          </a:bodyPr>
          <a:lstStyle/>
          <a:p>
            <a:r>
              <a:rPr lang="zh-CN" altLang="en-US" sz="2000" b="1" dirty="0"/>
              <a:t>统一接口位置：</a:t>
            </a:r>
            <a:endParaRPr lang="en-US" altLang="zh-CN" sz="2000" b="1" dirty="0"/>
          </a:p>
          <a:p>
            <a:endParaRPr lang="en-US" altLang="zh-CN" sz="2000" b="1" dirty="0"/>
          </a:p>
          <a:p>
            <a:r>
              <a:rPr lang="zh-CN" altLang="en-US" sz="2000" b="1" dirty="0"/>
              <a:t>洗轮机整体水电气的接口全部放在前方左下角</a:t>
            </a:r>
            <a:endParaRPr lang="en-US" altLang="zh-CN" sz="2000" b="1" dirty="0"/>
          </a:p>
          <a:p>
            <a:r>
              <a:rPr lang="zh-CN" altLang="en-US" sz="2000" b="1" dirty="0"/>
              <a:t>在保证外观简洁美观的同时</a:t>
            </a:r>
            <a:r>
              <a:rPr lang="zh-CN" altLang="en-US" sz="2000" b="1" dirty="0">
                <a:solidFill>
                  <a:schemeClr val="bg2"/>
                </a:solidFill>
              </a:rPr>
              <a:t>易于统一管理和寻找对外连接</a:t>
            </a:r>
            <a:endParaRPr lang="en-US" altLang="zh-CN" sz="2000" b="1" dirty="0">
              <a:solidFill>
                <a:schemeClr val="bg2"/>
              </a:solidFill>
            </a:endParaRPr>
          </a:p>
          <a:p>
            <a:endParaRPr lang="en-US" altLang="zh-CN" dirty="0"/>
          </a:p>
          <a:p>
            <a:endParaRPr lang="en-US" altLang="zh-CN" dirty="0"/>
          </a:p>
        </p:txBody>
      </p:sp>
    </p:spTree>
    <p:extLst>
      <p:ext uri="{BB962C8B-B14F-4D97-AF65-F5344CB8AC3E}">
        <p14:creationId xmlns:p14="http://schemas.microsoft.com/office/powerpoint/2010/main" val="38243904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5393E230-D23D-B963-D27F-CE6D0C2B79A5}"/>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9288221B-A446-666D-92CB-0F0BF1CDDC89}"/>
              </a:ext>
            </a:extLst>
          </p:cNvPr>
          <p:cNvSpPr/>
          <p:nvPr/>
        </p:nvSpPr>
        <p:spPr>
          <a:xfrm>
            <a:off x="0" y="4053249"/>
            <a:ext cx="12192000" cy="2709193"/>
          </a:xfrm>
          <a:prstGeom prst="rect">
            <a:avLst/>
          </a:prstGeom>
          <a:solidFill>
            <a:srgbClr val="177D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a:t>
            </a:r>
            <a:endParaRPr lang="zh-CN" altLang="en-US" dirty="0"/>
          </a:p>
        </p:txBody>
      </p:sp>
      <p:pic>
        <p:nvPicPr>
          <p:cNvPr id="11" name="图片 10">
            <a:extLst>
              <a:ext uri="{FF2B5EF4-FFF2-40B4-BE49-F238E27FC236}">
                <a16:creationId xmlns:a16="http://schemas.microsoft.com/office/drawing/2014/main" id="{10E42A88-06D6-00B5-9DD2-3BF1F26DD770}"/>
              </a:ext>
            </a:extLst>
          </p:cNvPr>
          <p:cNvPicPr>
            <a:picLocks noChangeAspect="1"/>
          </p:cNvPicPr>
          <p:nvPr/>
        </p:nvPicPr>
        <p:blipFill>
          <a:blip r:embed="rId2"/>
          <a:stretch>
            <a:fillRect/>
          </a:stretch>
        </p:blipFill>
        <p:spPr>
          <a:xfrm>
            <a:off x="184195" y="197312"/>
            <a:ext cx="1741460" cy="586009"/>
          </a:xfrm>
          <a:prstGeom prst="rect">
            <a:avLst/>
          </a:prstGeom>
        </p:spPr>
      </p:pic>
      <p:sp>
        <p:nvSpPr>
          <p:cNvPr id="12" name="矩形 11">
            <a:extLst>
              <a:ext uri="{FF2B5EF4-FFF2-40B4-BE49-F238E27FC236}">
                <a16:creationId xmlns:a16="http://schemas.microsoft.com/office/drawing/2014/main" id="{AA7A354F-AF57-7422-DDE5-81A1986399EE}"/>
              </a:ext>
            </a:extLst>
          </p:cNvPr>
          <p:cNvSpPr/>
          <p:nvPr/>
        </p:nvSpPr>
        <p:spPr>
          <a:xfrm>
            <a:off x="0" y="4148805"/>
            <a:ext cx="12192000" cy="2709193"/>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副标题 2">
            <a:extLst>
              <a:ext uri="{FF2B5EF4-FFF2-40B4-BE49-F238E27FC236}">
                <a16:creationId xmlns:a16="http://schemas.microsoft.com/office/drawing/2014/main" id="{DD31E354-877F-B5F2-73B4-AA7F720A7A9D}"/>
              </a:ext>
            </a:extLst>
          </p:cNvPr>
          <p:cNvSpPr>
            <a:spLocks noGrp="1"/>
          </p:cNvSpPr>
          <p:nvPr>
            <p:ph type="subTitle" idx="1"/>
          </p:nvPr>
        </p:nvSpPr>
        <p:spPr>
          <a:xfrm>
            <a:off x="8227751" y="4900655"/>
            <a:ext cx="3517260" cy="1205494"/>
          </a:xfrm>
        </p:spPr>
        <p:txBody>
          <a:bodyPr>
            <a:normAutofit/>
          </a:bodyPr>
          <a:lstStyle/>
          <a:p>
            <a:r>
              <a:rPr lang="zh-CN" altLang="en-US" sz="3200" b="1" dirty="0">
                <a:solidFill>
                  <a:schemeClr val="bg1"/>
                </a:solidFill>
                <a:latin typeface="+mn-ea"/>
              </a:rPr>
              <a:t>主要参数</a:t>
            </a:r>
            <a:endParaRPr lang="en-US" altLang="zh-CN" sz="3200" b="1" dirty="0">
              <a:solidFill>
                <a:schemeClr val="bg1"/>
              </a:solidFill>
              <a:latin typeface="+mn-ea"/>
            </a:endParaRPr>
          </a:p>
          <a:p>
            <a:r>
              <a:rPr lang="zh-CN" altLang="en-US" sz="3200" b="1" dirty="0">
                <a:solidFill>
                  <a:schemeClr val="bg1"/>
                </a:solidFill>
                <a:latin typeface="+mn-ea"/>
              </a:rPr>
              <a:t>的声明与对比</a:t>
            </a:r>
          </a:p>
        </p:txBody>
      </p:sp>
      <p:sp>
        <p:nvSpPr>
          <p:cNvPr id="14" name="Text Placeholder 1">
            <a:extLst>
              <a:ext uri="{FF2B5EF4-FFF2-40B4-BE49-F238E27FC236}">
                <a16:creationId xmlns:a16="http://schemas.microsoft.com/office/drawing/2014/main" id="{478FBE7A-40FE-3C72-D9B7-5F238B238B35}"/>
              </a:ext>
            </a:extLst>
          </p:cNvPr>
          <p:cNvSpPr>
            <a:spLocks noChangeArrowheads="1"/>
          </p:cNvSpPr>
          <p:nvPr/>
        </p:nvSpPr>
        <p:spPr bwMode="auto">
          <a:xfrm>
            <a:off x="184195" y="6106149"/>
            <a:ext cx="5721796" cy="440494"/>
          </a:xfrm>
          <a:prstGeom prst="rect">
            <a:avLst/>
          </a:prstGeom>
          <a:noFill/>
          <a:ln w="9525">
            <a:noFill/>
            <a:bevel/>
          </a:ln>
        </p:spPr>
        <p:txBody>
          <a:bodyPr anchor="ctr"/>
          <a:lstStyle/>
          <a:p>
            <a:pPr eaLnBrk="1" hangingPunct="1">
              <a:defRPr/>
            </a:pPr>
            <a:r>
              <a:rPr lang="en-US" altLang="zh-CN" sz="1400" b="1" dirty="0">
                <a:solidFill>
                  <a:schemeClr val="accent4">
                    <a:lumMod val="95000"/>
                    <a:lumOff val="5000"/>
                  </a:schemeClr>
                </a:solidFill>
                <a:latin typeface="Arial" panose="020B0604020202020204" pitchFamily="34" charset="0"/>
                <a:cs typeface="Arial" panose="020B0604020202020204" pitchFamily="34" charset="0"/>
              </a:rPr>
              <a:t>Prepared by AIR-Tech@ </a:t>
            </a:r>
            <a:fld id="{5853BA87-C0A4-4D40-A7D0-264FBDFF6174}" type="datetime9">
              <a:rPr lang="en-US" altLang="zh-CN" sz="1400" b="1" dirty="0" smtClean="0">
                <a:solidFill>
                  <a:schemeClr val="accent4">
                    <a:lumMod val="95000"/>
                    <a:lumOff val="5000"/>
                  </a:schemeClr>
                </a:solidFill>
                <a:latin typeface="Arial" panose="020B0604020202020204" pitchFamily="34" charset="0"/>
                <a:cs typeface="Arial" panose="020B0604020202020204" pitchFamily="34" charset="0"/>
              </a:rPr>
              <a:t>5/8/2026 5:57:41 PM</a:t>
            </a:fld>
            <a:endParaRPr lang="zh-CN" altLang="en-US" sz="1400" b="1" dirty="0">
              <a:solidFill>
                <a:schemeClr val="accent4">
                  <a:lumMod val="95000"/>
                  <a:lumOff val="5000"/>
                </a:schemeClr>
              </a:solidFill>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2F87A3EB-05B5-DA0C-754A-2BACB7C60432}"/>
              </a:ext>
            </a:extLst>
          </p:cNvPr>
          <p:cNvSpPr txBox="1"/>
          <p:nvPr/>
        </p:nvSpPr>
        <p:spPr>
          <a:xfrm>
            <a:off x="3045093" y="2249386"/>
            <a:ext cx="6094902" cy="1015663"/>
          </a:xfrm>
          <a:prstGeom prst="rect">
            <a:avLst/>
          </a:prstGeom>
          <a:noFill/>
        </p:spPr>
        <p:txBody>
          <a:bodyPr wrap="square">
            <a:spAutoFit/>
          </a:bodyPr>
          <a:lstStyle/>
          <a:p>
            <a:pPr algn="ctr"/>
            <a:r>
              <a:rPr lang="zh-CN" altLang="en-US" sz="6000" b="1" dirty="0"/>
              <a:t>主要参数声明</a:t>
            </a:r>
          </a:p>
        </p:txBody>
      </p:sp>
    </p:spTree>
    <p:extLst>
      <p:ext uri="{BB962C8B-B14F-4D97-AF65-F5344CB8AC3E}">
        <p14:creationId xmlns:p14="http://schemas.microsoft.com/office/powerpoint/2010/main" val="30474169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FFADB015-7DC2-4F08-710E-193AC6B81F24}"/>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4B1F38C-5B59-6582-F138-A9D5667D8250}"/>
              </a:ext>
            </a:extLst>
          </p:cNvPr>
          <p:cNvSpPr/>
          <p:nvPr/>
        </p:nvSpPr>
        <p:spPr>
          <a:xfrm>
            <a:off x="0" y="3590925"/>
            <a:ext cx="6007994" cy="3267074"/>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AEE9DF26-9375-36B1-CF45-4E30B26548C6}"/>
              </a:ext>
            </a:extLst>
          </p:cNvPr>
          <p:cNvPicPr>
            <a:picLocks noChangeAspect="1"/>
          </p:cNvPicPr>
          <p:nvPr/>
        </p:nvPicPr>
        <p:blipFill>
          <a:blip r:embed="rId2"/>
          <a:stretch>
            <a:fillRect/>
          </a:stretch>
        </p:blipFill>
        <p:spPr>
          <a:xfrm>
            <a:off x="184195" y="197312"/>
            <a:ext cx="1741460" cy="586009"/>
          </a:xfrm>
          <a:prstGeom prst="rect">
            <a:avLst/>
          </a:prstGeom>
        </p:spPr>
      </p:pic>
      <p:pic>
        <p:nvPicPr>
          <p:cNvPr id="3" name="图片 2" descr="图示, 工程绘图&#10;&#10;AI 生成的内容可能不正确。">
            <a:extLst>
              <a:ext uri="{FF2B5EF4-FFF2-40B4-BE49-F238E27FC236}">
                <a16:creationId xmlns:a16="http://schemas.microsoft.com/office/drawing/2014/main" id="{90006497-12BD-5A05-656B-3613E50DA804}"/>
              </a:ext>
            </a:extLst>
          </p:cNvPr>
          <p:cNvPicPr>
            <a:picLocks/>
          </p:cNvPicPr>
          <p:nvPr/>
        </p:nvPicPr>
        <p:blipFill>
          <a:blip r:embed="rId3">
            <a:extLst>
              <a:ext uri="{28A0092B-C50C-407E-A947-70E740481C1C}">
                <a14:useLocalDpi xmlns:a14="http://schemas.microsoft.com/office/drawing/2010/main" val="0"/>
              </a:ext>
            </a:extLst>
          </a:blip>
          <a:srcRect t="1499" r="754"/>
          <a:stretch>
            <a:fillRect/>
          </a:stretch>
        </p:blipFill>
        <p:spPr>
          <a:xfrm>
            <a:off x="7111284" y="0"/>
            <a:ext cx="5080716" cy="4867364"/>
          </a:xfrm>
          <a:prstGeom prst="rect">
            <a:avLst/>
          </a:prstGeom>
        </p:spPr>
      </p:pic>
      <p:sp>
        <p:nvSpPr>
          <p:cNvPr id="6" name="矩形 5">
            <a:extLst>
              <a:ext uri="{FF2B5EF4-FFF2-40B4-BE49-F238E27FC236}">
                <a16:creationId xmlns:a16="http://schemas.microsoft.com/office/drawing/2014/main" id="{14B2C2D2-DA16-5F2D-B086-7531318C0D89}"/>
              </a:ext>
            </a:extLst>
          </p:cNvPr>
          <p:cNvSpPr/>
          <p:nvPr/>
        </p:nvSpPr>
        <p:spPr>
          <a:xfrm>
            <a:off x="-2" y="4823139"/>
            <a:ext cx="12192001" cy="2034862"/>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D64B9A6A-1F5A-CA42-95E8-90BF5132E32D}"/>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主要参数声明</a:t>
            </a:r>
          </a:p>
        </p:txBody>
      </p:sp>
      <p:sp>
        <p:nvSpPr>
          <p:cNvPr id="9" name="文本框 8">
            <a:extLst>
              <a:ext uri="{FF2B5EF4-FFF2-40B4-BE49-F238E27FC236}">
                <a16:creationId xmlns:a16="http://schemas.microsoft.com/office/drawing/2014/main" id="{F9C26160-48E2-6AA3-0737-F5B0291C9458}"/>
              </a:ext>
            </a:extLst>
          </p:cNvPr>
          <p:cNvSpPr txBox="1"/>
          <p:nvPr/>
        </p:nvSpPr>
        <p:spPr>
          <a:xfrm>
            <a:off x="460184" y="1549228"/>
            <a:ext cx="5259076" cy="2800767"/>
          </a:xfrm>
          <a:prstGeom prst="rect">
            <a:avLst/>
          </a:prstGeom>
          <a:noFill/>
        </p:spPr>
        <p:txBody>
          <a:bodyPr wrap="square" rtlCol="0">
            <a:spAutoFit/>
          </a:bodyPr>
          <a:lstStyle/>
          <a:p>
            <a:r>
              <a:rPr lang="zh-CN" altLang="en-US" sz="2000" b="1" dirty="0"/>
              <a:t>整机大小：</a:t>
            </a:r>
            <a:endParaRPr lang="en-US" altLang="zh-CN" sz="2000" b="1" dirty="0"/>
          </a:p>
          <a:p>
            <a:r>
              <a:rPr lang="zh-CN" altLang="en-US" sz="2000" b="1" dirty="0"/>
              <a:t>经过设计，大幅减小了机械的三维尺寸</a:t>
            </a:r>
            <a:endParaRPr lang="en-US" altLang="zh-CN" sz="2000" b="1" dirty="0"/>
          </a:p>
          <a:p>
            <a:r>
              <a:rPr lang="zh-CN" altLang="en-US" sz="2000" b="1" dirty="0"/>
              <a:t>目前已经达到</a:t>
            </a:r>
            <a:endParaRPr lang="en-US" altLang="zh-CN" sz="2000" b="1" dirty="0"/>
          </a:p>
          <a:p>
            <a:r>
              <a:rPr lang="zh-CN" altLang="en-US" sz="2000" b="1" dirty="0"/>
              <a:t>高</a:t>
            </a:r>
            <a:r>
              <a:rPr lang="en-US" altLang="zh-CN" sz="2000" b="1" dirty="0"/>
              <a:t>1140mm  </a:t>
            </a:r>
            <a:r>
              <a:rPr lang="zh-CN" altLang="en-US" sz="2000" b="1" dirty="0"/>
              <a:t>宽</a:t>
            </a:r>
            <a:r>
              <a:rPr lang="en-US" altLang="zh-CN" sz="2000" b="1" dirty="0"/>
              <a:t>1114mm</a:t>
            </a:r>
            <a:r>
              <a:rPr lang="zh-CN" altLang="en-US" sz="2000" b="1" dirty="0"/>
              <a:t>，长</a:t>
            </a:r>
            <a:r>
              <a:rPr lang="en-US" altLang="zh-CN" sz="2000" b="1" dirty="0"/>
              <a:t>1675mm</a:t>
            </a:r>
          </a:p>
          <a:p>
            <a:endParaRPr lang="en-US" altLang="zh-CN" sz="2000" dirty="0"/>
          </a:p>
          <a:p>
            <a:endParaRPr lang="en-US" altLang="zh-CN" sz="2000" dirty="0"/>
          </a:p>
          <a:p>
            <a:endParaRPr lang="en-US" altLang="zh-CN" sz="2000" dirty="0"/>
          </a:p>
          <a:p>
            <a:endParaRPr lang="en-US" altLang="zh-CN" dirty="0"/>
          </a:p>
          <a:p>
            <a:endParaRPr lang="en-US" altLang="zh-CN" dirty="0"/>
          </a:p>
        </p:txBody>
      </p:sp>
      <p:sp>
        <p:nvSpPr>
          <p:cNvPr id="10" name="文本框 9">
            <a:extLst>
              <a:ext uri="{FF2B5EF4-FFF2-40B4-BE49-F238E27FC236}">
                <a16:creationId xmlns:a16="http://schemas.microsoft.com/office/drawing/2014/main" id="{7C9AE957-1422-34D3-8BAF-79201F1E26BC}"/>
              </a:ext>
            </a:extLst>
          </p:cNvPr>
          <p:cNvSpPr txBox="1"/>
          <p:nvPr/>
        </p:nvSpPr>
        <p:spPr>
          <a:xfrm>
            <a:off x="374459" y="5028671"/>
            <a:ext cx="10965389" cy="1877437"/>
          </a:xfrm>
          <a:prstGeom prst="rect">
            <a:avLst/>
          </a:prstGeom>
          <a:noFill/>
        </p:spPr>
        <p:txBody>
          <a:bodyPr wrap="square" rtlCol="0">
            <a:spAutoFit/>
          </a:bodyPr>
          <a:lstStyle/>
          <a:p>
            <a:r>
              <a:rPr lang="zh-CN" altLang="en-US" sz="2000" b="1" dirty="0">
                <a:solidFill>
                  <a:schemeClr val="bg1"/>
                </a:solidFill>
              </a:rPr>
              <a:t>优势：经过设计，大幅减小了机械的三维尺寸。减少占地面积，提高集成度。</a:t>
            </a:r>
            <a:endParaRPr lang="en-US" altLang="zh-CN" sz="2000" b="1" dirty="0">
              <a:solidFill>
                <a:schemeClr val="bg1"/>
              </a:solidFill>
            </a:endParaRPr>
          </a:p>
          <a:p>
            <a:endParaRPr lang="en-US" altLang="zh-CN" sz="2000" dirty="0"/>
          </a:p>
          <a:p>
            <a:endParaRPr lang="en-US" altLang="zh-CN" sz="2000" dirty="0"/>
          </a:p>
          <a:p>
            <a:endParaRPr lang="en-US" altLang="zh-CN" sz="2000" dirty="0"/>
          </a:p>
          <a:p>
            <a:endParaRPr lang="en-US" altLang="zh-CN" dirty="0"/>
          </a:p>
          <a:p>
            <a:endParaRPr lang="en-US" altLang="zh-CN" dirty="0"/>
          </a:p>
        </p:txBody>
      </p:sp>
    </p:spTree>
    <p:extLst>
      <p:ext uri="{BB962C8B-B14F-4D97-AF65-F5344CB8AC3E}">
        <p14:creationId xmlns:p14="http://schemas.microsoft.com/office/powerpoint/2010/main" val="240580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05C4C00F-8887-D131-E19F-062507C39D7A}"/>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5D838823-4074-60FD-918B-DE20F96E103C}"/>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867DDDE5-88D1-ED94-75DA-6EE20BFB31E4}"/>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EC14F729-D65E-9381-2DF8-4FE946E3DAA0}"/>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33449E27-EBA1-C798-6CD9-43E4E2403183}"/>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主要参数声明</a:t>
            </a:r>
          </a:p>
        </p:txBody>
      </p:sp>
      <p:pic>
        <p:nvPicPr>
          <p:cNvPr id="7" name="图片 6" descr="图示&#10;&#10;AI 生成的内容可能不正确。">
            <a:extLst>
              <a:ext uri="{FF2B5EF4-FFF2-40B4-BE49-F238E27FC236}">
                <a16:creationId xmlns:a16="http://schemas.microsoft.com/office/drawing/2014/main" id="{928D33D2-42E6-97FB-F485-8F74CB7B7D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637504"/>
            <a:ext cx="5831601" cy="5814812"/>
          </a:xfrm>
          <a:prstGeom prst="rect">
            <a:avLst/>
          </a:prstGeom>
        </p:spPr>
      </p:pic>
      <p:sp>
        <p:nvSpPr>
          <p:cNvPr id="8" name="文本框 7">
            <a:extLst>
              <a:ext uri="{FF2B5EF4-FFF2-40B4-BE49-F238E27FC236}">
                <a16:creationId xmlns:a16="http://schemas.microsoft.com/office/drawing/2014/main" id="{A60FA5A6-7662-9D83-5778-AA27A4968FE4}"/>
              </a:ext>
            </a:extLst>
          </p:cNvPr>
          <p:cNvSpPr txBox="1"/>
          <p:nvPr/>
        </p:nvSpPr>
        <p:spPr>
          <a:xfrm>
            <a:off x="2360220" y="2747152"/>
            <a:ext cx="2971634" cy="2031325"/>
          </a:xfrm>
          <a:prstGeom prst="rect">
            <a:avLst/>
          </a:prstGeom>
          <a:noFill/>
        </p:spPr>
        <p:txBody>
          <a:bodyPr wrap="square" rtlCol="0">
            <a:spAutoFit/>
          </a:bodyPr>
          <a:lstStyle/>
          <a:p>
            <a:r>
              <a:rPr lang="zh-CN" altLang="en-US" dirty="0"/>
              <a:t>载荷设计目标：</a:t>
            </a:r>
            <a:endParaRPr lang="en-US" altLang="zh-CN" dirty="0"/>
          </a:p>
          <a:p>
            <a:endParaRPr lang="en-US" altLang="zh-CN" dirty="0"/>
          </a:p>
          <a:p>
            <a:r>
              <a:rPr lang="zh-CN" altLang="en-US" dirty="0"/>
              <a:t>本抬升机械设计目标为能够抬升</a:t>
            </a:r>
            <a:r>
              <a:rPr lang="en-US" altLang="zh-CN" dirty="0"/>
              <a:t>100kg</a:t>
            </a:r>
            <a:r>
              <a:rPr lang="zh-CN" altLang="en-US" dirty="0"/>
              <a:t>重量的</a:t>
            </a:r>
            <a:r>
              <a:rPr lang="en-US" altLang="zh-CN" dirty="0" err="1"/>
              <a:t>agv</a:t>
            </a:r>
            <a:r>
              <a:rPr lang="zh-CN" altLang="en-US" dirty="0"/>
              <a:t>小车。</a:t>
            </a:r>
            <a:endParaRPr lang="en-US" altLang="zh-CN" dirty="0"/>
          </a:p>
          <a:p>
            <a:r>
              <a:rPr lang="zh-CN" altLang="en-US" dirty="0"/>
              <a:t>只要小于</a:t>
            </a:r>
            <a:r>
              <a:rPr lang="en-US" altLang="zh-CN" dirty="0"/>
              <a:t>100kg</a:t>
            </a:r>
            <a:r>
              <a:rPr lang="zh-CN" altLang="en-US" dirty="0"/>
              <a:t>重量的小车均可以使用本机械进行抬升清洗</a:t>
            </a:r>
            <a:endParaRPr lang="en-US" altLang="zh-CN" dirty="0"/>
          </a:p>
        </p:txBody>
      </p:sp>
      <p:sp>
        <p:nvSpPr>
          <p:cNvPr id="9" name="箭头: 下 8">
            <a:extLst>
              <a:ext uri="{FF2B5EF4-FFF2-40B4-BE49-F238E27FC236}">
                <a16:creationId xmlns:a16="http://schemas.microsoft.com/office/drawing/2014/main" id="{D616E214-CBA4-280A-FEC7-5C440BE1EB98}"/>
              </a:ext>
            </a:extLst>
          </p:cNvPr>
          <p:cNvSpPr/>
          <p:nvPr/>
        </p:nvSpPr>
        <p:spPr>
          <a:xfrm>
            <a:off x="8203842" y="2131455"/>
            <a:ext cx="315532" cy="2453424"/>
          </a:xfrm>
          <a:prstGeom prst="downArrow">
            <a:avLst>
              <a:gd name="adj1" fmla="val 45918"/>
              <a:gd name="adj2" fmla="val 50000"/>
            </a:avLst>
          </a:prstGeom>
          <a:solidFill>
            <a:srgbClr val="0048CE"/>
          </a:solidFill>
          <a:ln>
            <a:solidFill>
              <a:srgbClr val="197D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标题 1">
            <a:extLst>
              <a:ext uri="{FF2B5EF4-FFF2-40B4-BE49-F238E27FC236}">
                <a16:creationId xmlns:a16="http://schemas.microsoft.com/office/drawing/2014/main" id="{5A836F0A-303E-A2E0-4BC0-53E15F298A2A}"/>
              </a:ext>
            </a:extLst>
          </p:cNvPr>
          <p:cNvSpPr txBox="1">
            <a:spLocks/>
          </p:cNvSpPr>
          <p:nvPr/>
        </p:nvSpPr>
        <p:spPr>
          <a:xfrm>
            <a:off x="7352899" y="1483678"/>
            <a:ext cx="2402847"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0048CE"/>
                </a:solidFill>
                <a:latin typeface="+mn-ea"/>
                <a:ea typeface="+mn-ea"/>
              </a:rPr>
              <a:t>  &lt;=100KG</a:t>
            </a:r>
            <a:endParaRPr lang="zh-CN" altLang="en-US" sz="2800" b="1" dirty="0">
              <a:solidFill>
                <a:srgbClr val="0048CE"/>
              </a:solidFill>
              <a:latin typeface="+mn-ea"/>
              <a:ea typeface="+mn-ea"/>
            </a:endParaRPr>
          </a:p>
        </p:txBody>
      </p:sp>
    </p:spTree>
    <p:extLst>
      <p:ext uri="{BB962C8B-B14F-4D97-AF65-F5344CB8AC3E}">
        <p14:creationId xmlns:p14="http://schemas.microsoft.com/office/powerpoint/2010/main" val="33066968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AFD5C2AF-556B-9621-BD57-FBFA6AA27DE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B0D78FB6-091F-2022-9C78-EB7F20D26C08}"/>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EA148ADC-0371-8CA7-DA7C-472EC08E452D}"/>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BADB9CEB-AFB3-56FC-C858-B8B43A79F521}"/>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A510F088-99F2-F1C2-70C1-A5DC3678313F}"/>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主要参数声明</a:t>
            </a:r>
          </a:p>
        </p:txBody>
      </p:sp>
      <p:pic>
        <p:nvPicPr>
          <p:cNvPr id="7" name="图片 6" descr="图片包含 文本&#10;&#10;AI 生成的内容可能不正确。">
            <a:extLst>
              <a:ext uri="{FF2B5EF4-FFF2-40B4-BE49-F238E27FC236}">
                <a16:creationId xmlns:a16="http://schemas.microsoft.com/office/drawing/2014/main" id="{944CE7CA-3077-5F22-6166-D926C6F23C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6666" y="0"/>
            <a:ext cx="5101139" cy="6858000"/>
          </a:xfrm>
          <a:prstGeom prst="rect">
            <a:avLst/>
          </a:prstGeom>
        </p:spPr>
      </p:pic>
      <p:sp>
        <p:nvSpPr>
          <p:cNvPr id="8" name="文本框 7">
            <a:extLst>
              <a:ext uri="{FF2B5EF4-FFF2-40B4-BE49-F238E27FC236}">
                <a16:creationId xmlns:a16="http://schemas.microsoft.com/office/drawing/2014/main" id="{BE218D28-160F-1962-DF0E-DAC290A534D5}"/>
              </a:ext>
            </a:extLst>
          </p:cNvPr>
          <p:cNvSpPr txBox="1"/>
          <p:nvPr/>
        </p:nvSpPr>
        <p:spPr>
          <a:xfrm>
            <a:off x="2183479" y="1768358"/>
            <a:ext cx="4723186" cy="2862322"/>
          </a:xfrm>
          <a:prstGeom prst="rect">
            <a:avLst/>
          </a:prstGeom>
          <a:noFill/>
        </p:spPr>
        <p:txBody>
          <a:bodyPr wrap="square" rtlCol="0">
            <a:spAutoFit/>
          </a:bodyPr>
          <a:lstStyle/>
          <a:p>
            <a:r>
              <a:rPr lang="zh-CN" altLang="en-US" dirty="0"/>
              <a:t>抬升小车的尺寸要求：</a:t>
            </a:r>
            <a:endParaRPr lang="en-US" altLang="zh-CN" dirty="0"/>
          </a:p>
          <a:p>
            <a:r>
              <a:rPr lang="zh-CN" altLang="en-US" dirty="0"/>
              <a:t>本抬升机构通过左右两侧托板对小车进行托举才实现对小车进行抬升，因此小车的顶板尺寸会影响到小车是否能够被侧板托起。</a:t>
            </a:r>
            <a:endParaRPr lang="en-US" altLang="zh-CN" dirty="0"/>
          </a:p>
          <a:p>
            <a:r>
              <a:rPr lang="zh-CN" altLang="en-US" dirty="0"/>
              <a:t>如图，小车的顶板宽度至少需要大于</a:t>
            </a:r>
            <a:r>
              <a:rPr lang="en-US" altLang="zh-CN" dirty="0"/>
              <a:t>470mm</a:t>
            </a:r>
          </a:p>
          <a:p>
            <a:r>
              <a:rPr lang="zh-CN" altLang="en-US" dirty="0"/>
              <a:t>为安全考虑至少应大于</a:t>
            </a:r>
            <a:r>
              <a:rPr lang="en-US" altLang="zh-CN" dirty="0"/>
              <a:t>500mm</a:t>
            </a:r>
          </a:p>
          <a:p>
            <a:endParaRPr lang="en-US" altLang="zh-CN" dirty="0"/>
          </a:p>
          <a:p>
            <a:r>
              <a:rPr lang="zh-CN" altLang="en-US" dirty="0"/>
              <a:t>并且由于需要小车的顶板和主体连接部分进入托举机构，所以小车主体与顶板连接部分的宽度应当小于</a:t>
            </a:r>
            <a:r>
              <a:rPr lang="en-US" altLang="zh-CN" dirty="0"/>
              <a:t>470mm</a:t>
            </a:r>
          </a:p>
        </p:txBody>
      </p:sp>
    </p:spTree>
    <p:extLst>
      <p:ext uri="{BB962C8B-B14F-4D97-AF65-F5344CB8AC3E}">
        <p14:creationId xmlns:p14="http://schemas.microsoft.com/office/powerpoint/2010/main" val="2300556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5664D61C-98BC-1000-D73F-057D499198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3B0E8B1B-EAA7-F736-1500-1CA149A1E8DD}"/>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F95A4FEF-2BEF-0A7C-D599-A2EC15DA59F9}"/>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C08E07A2-384C-ACA1-2AA8-0EFE0C555FBF}"/>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AEA74CB2-F5D0-7076-C9D1-8FB74D5D2BC4}"/>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主要参数声明</a:t>
            </a:r>
          </a:p>
        </p:txBody>
      </p:sp>
      <p:pic>
        <p:nvPicPr>
          <p:cNvPr id="7" name="图片 6" descr="图示&#10;&#10;AI 生成的内容可能不正确。">
            <a:extLst>
              <a:ext uri="{FF2B5EF4-FFF2-40B4-BE49-F238E27FC236}">
                <a16:creationId xmlns:a16="http://schemas.microsoft.com/office/drawing/2014/main" id="{D962FC77-F1B5-71AF-74C0-DC67B75DBE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7347" y="0"/>
            <a:ext cx="4795025" cy="6858000"/>
          </a:xfrm>
          <a:prstGeom prst="rect">
            <a:avLst/>
          </a:prstGeom>
        </p:spPr>
      </p:pic>
      <p:sp>
        <p:nvSpPr>
          <p:cNvPr id="8" name="文本框 7">
            <a:extLst>
              <a:ext uri="{FF2B5EF4-FFF2-40B4-BE49-F238E27FC236}">
                <a16:creationId xmlns:a16="http://schemas.microsoft.com/office/drawing/2014/main" id="{5F45460D-7B87-DCA1-1FD0-17A6AF363653}"/>
              </a:ext>
            </a:extLst>
          </p:cNvPr>
          <p:cNvSpPr txBox="1"/>
          <p:nvPr/>
        </p:nvSpPr>
        <p:spPr>
          <a:xfrm>
            <a:off x="2231406" y="1935784"/>
            <a:ext cx="4723186" cy="3693319"/>
          </a:xfrm>
          <a:prstGeom prst="rect">
            <a:avLst/>
          </a:prstGeom>
          <a:noFill/>
        </p:spPr>
        <p:txBody>
          <a:bodyPr wrap="square" rtlCol="0">
            <a:spAutoFit/>
          </a:bodyPr>
          <a:lstStyle/>
          <a:p>
            <a:r>
              <a:rPr lang="zh-CN" altLang="en-US" dirty="0"/>
              <a:t>抬升小车的尺寸要求：</a:t>
            </a:r>
            <a:endParaRPr lang="en-US" altLang="zh-CN" dirty="0"/>
          </a:p>
          <a:p>
            <a:endParaRPr lang="en-US" altLang="zh-CN" dirty="0"/>
          </a:p>
          <a:p>
            <a:r>
              <a:rPr lang="zh-CN" altLang="en-US" dirty="0"/>
              <a:t>由于小车底部底轮清洗是由清洗带完成，清洗带的长度限制了小车底轮长度的最大值</a:t>
            </a:r>
            <a:endParaRPr lang="en-US" altLang="zh-CN" dirty="0"/>
          </a:p>
          <a:p>
            <a:endParaRPr lang="en-US" altLang="zh-CN" dirty="0"/>
          </a:p>
          <a:p>
            <a:r>
              <a:rPr lang="zh-CN" altLang="en-US" dirty="0"/>
              <a:t>所以本机械只适用于底轮间长度</a:t>
            </a:r>
            <a:endParaRPr lang="en-US" altLang="zh-CN" dirty="0"/>
          </a:p>
          <a:p>
            <a:r>
              <a:rPr lang="en-US" altLang="zh-CN" dirty="0"/>
              <a:t>&lt;760mm</a:t>
            </a:r>
            <a:r>
              <a:rPr lang="zh-CN" altLang="en-US" dirty="0"/>
              <a:t>的小车</a:t>
            </a:r>
            <a:endParaRPr lang="en-US" altLang="zh-CN" dirty="0"/>
          </a:p>
          <a:p>
            <a:endParaRPr lang="en-US" altLang="zh-CN" dirty="0"/>
          </a:p>
          <a:p>
            <a:r>
              <a:rPr lang="zh-CN" altLang="en-US" dirty="0"/>
              <a:t>此设计对宽度也做了最大限制，仅有</a:t>
            </a:r>
            <a:r>
              <a:rPr lang="en-US" altLang="zh-CN" dirty="0"/>
              <a:t>650mm</a:t>
            </a:r>
          </a:p>
          <a:p>
            <a:r>
              <a:rPr lang="zh-CN" altLang="en-US" dirty="0"/>
              <a:t>一般来说，小车底轮最宽处为主动轮处宽度，这使得底轮最宽为</a:t>
            </a:r>
            <a:r>
              <a:rPr lang="en-US" altLang="zh-CN" dirty="0"/>
              <a:t>650mm</a:t>
            </a:r>
            <a:r>
              <a:rPr lang="zh-CN" altLang="en-US" dirty="0"/>
              <a:t>宽于此的小车将不适用。</a:t>
            </a:r>
            <a:endParaRPr lang="en-US" altLang="zh-CN" dirty="0"/>
          </a:p>
          <a:p>
            <a:endParaRPr lang="en-US" altLang="zh-CN" dirty="0"/>
          </a:p>
        </p:txBody>
      </p:sp>
      <p:pic>
        <p:nvPicPr>
          <p:cNvPr id="9" name="图片 8" descr="图示, 工程绘图&#10;&#10;AI 生成的内容可能不正确。">
            <a:extLst>
              <a:ext uri="{FF2B5EF4-FFF2-40B4-BE49-F238E27FC236}">
                <a16:creationId xmlns:a16="http://schemas.microsoft.com/office/drawing/2014/main" id="{81D8376A-A9CF-31CB-CF72-ABE2ECB2D4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92000" y="845089"/>
            <a:ext cx="6805891" cy="6012911"/>
          </a:xfrm>
          <a:prstGeom prst="rect">
            <a:avLst/>
          </a:prstGeom>
        </p:spPr>
      </p:pic>
      <p:sp>
        <p:nvSpPr>
          <p:cNvPr id="10" name="标题 1">
            <a:extLst>
              <a:ext uri="{FF2B5EF4-FFF2-40B4-BE49-F238E27FC236}">
                <a16:creationId xmlns:a16="http://schemas.microsoft.com/office/drawing/2014/main" id="{F67CC3C9-2705-990C-9477-C621757EE475}"/>
              </a:ext>
            </a:extLst>
          </p:cNvPr>
          <p:cNvSpPr txBox="1">
            <a:spLocks/>
          </p:cNvSpPr>
          <p:nvPr/>
        </p:nvSpPr>
        <p:spPr>
          <a:xfrm>
            <a:off x="7557953" y="-1673271"/>
            <a:ext cx="2569805" cy="8634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0048CE"/>
                </a:solidFill>
                <a:latin typeface="+mn-ea"/>
                <a:ea typeface="+mn-ea"/>
              </a:rPr>
              <a:t>  </a:t>
            </a:r>
            <a:r>
              <a:rPr lang="zh-CN" altLang="en-US" sz="2800" b="1" dirty="0">
                <a:solidFill>
                  <a:srgbClr val="0048CE"/>
                </a:solidFill>
                <a:latin typeface="+mn-ea"/>
                <a:ea typeface="+mn-ea"/>
              </a:rPr>
              <a:t>可调节托板</a:t>
            </a:r>
          </a:p>
        </p:txBody>
      </p:sp>
      <p:sp>
        <p:nvSpPr>
          <p:cNvPr id="11" name="箭头: 下 10">
            <a:extLst>
              <a:ext uri="{FF2B5EF4-FFF2-40B4-BE49-F238E27FC236}">
                <a16:creationId xmlns:a16="http://schemas.microsoft.com/office/drawing/2014/main" id="{2A9DA66E-5F67-726A-384B-2CA97C0AB771}"/>
              </a:ext>
            </a:extLst>
          </p:cNvPr>
          <p:cNvSpPr/>
          <p:nvPr/>
        </p:nvSpPr>
        <p:spPr>
          <a:xfrm>
            <a:off x="8603523" y="-756048"/>
            <a:ext cx="315532" cy="756048"/>
          </a:xfrm>
          <a:prstGeom prst="downArrow">
            <a:avLst>
              <a:gd name="adj1" fmla="val 45918"/>
              <a:gd name="adj2" fmla="val 50000"/>
            </a:avLst>
          </a:prstGeom>
          <a:solidFill>
            <a:srgbClr val="0048CE"/>
          </a:solidFill>
          <a:ln>
            <a:solidFill>
              <a:srgbClr val="197D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938101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5DF245E3-05D2-FF28-CBA8-F675383694F4}"/>
            </a:ext>
          </a:extLst>
        </p:cNvPr>
        <p:cNvGrpSpPr/>
        <p:nvPr/>
      </p:nvGrpSpPr>
      <p:grpSpPr>
        <a:xfrm>
          <a:off x="0" y="0"/>
          <a:ext cx="0" cy="0"/>
          <a:chOff x="0" y="0"/>
          <a:chExt cx="0" cy="0"/>
        </a:xfrm>
      </p:grpSpPr>
      <p:pic>
        <p:nvPicPr>
          <p:cNvPr id="9" name="图片 8" descr="图示, 工程绘图&#10;&#10;AI 生成的内容可能不正确。">
            <a:extLst>
              <a:ext uri="{FF2B5EF4-FFF2-40B4-BE49-F238E27FC236}">
                <a16:creationId xmlns:a16="http://schemas.microsoft.com/office/drawing/2014/main" id="{7B290C98-03C9-5F1D-61A6-5CECD03C50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6109" y="845089"/>
            <a:ext cx="6805891" cy="6012911"/>
          </a:xfrm>
          <a:prstGeom prst="rect">
            <a:avLst/>
          </a:prstGeom>
        </p:spPr>
      </p:pic>
      <p:sp>
        <p:nvSpPr>
          <p:cNvPr id="4" name="矩形 3">
            <a:extLst>
              <a:ext uri="{FF2B5EF4-FFF2-40B4-BE49-F238E27FC236}">
                <a16:creationId xmlns:a16="http://schemas.microsoft.com/office/drawing/2014/main" id="{72F3E5EE-5112-2D81-C165-E62AAB23F6C8}"/>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19537D33-0490-68F1-D5BF-B88AE9EBAF31}"/>
              </a:ext>
            </a:extLst>
          </p:cNvPr>
          <p:cNvPicPr>
            <a:picLocks noChangeAspect="1"/>
          </p:cNvPicPr>
          <p:nvPr/>
        </p:nvPicPr>
        <p:blipFill>
          <a:blip r:embed="rId3"/>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D99193CE-EAE6-1247-90C2-9EE4678844ED}"/>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4BC2408E-D134-310D-3470-AB5FFF68FE85}"/>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主要参数声明</a:t>
            </a:r>
          </a:p>
        </p:txBody>
      </p:sp>
      <p:sp>
        <p:nvSpPr>
          <p:cNvPr id="8" name="文本框 7">
            <a:extLst>
              <a:ext uri="{FF2B5EF4-FFF2-40B4-BE49-F238E27FC236}">
                <a16:creationId xmlns:a16="http://schemas.microsoft.com/office/drawing/2014/main" id="{1989C96B-EB6A-9A75-F63D-0ECE0DF226EF}"/>
              </a:ext>
            </a:extLst>
          </p:cNvPr>
          <p:cNvSpPr txBox="1"/>
          <p:nvPr/>
        </p:nvSpPr>
        <p:spPr>
          <a:xfrm>
            <a:off x="2231406" y="1935784"/>
            <a:ext cx="4723186" cy="3970318"/>
          </a:xfrm>
          <a:prstGeom prst="rect">
            <a:avLst/>
          </a:prstGeom>
          <a:noFill/>
        </p:spPr>
        <p:txBody>
          <a:bodyPr wrap="square" rtlCol="0">
            <a:spAutoFit/>
          </a:bodyPr>
          <a:lstStyle/>
          <a:p>
            <a:r>
              <a:rPr lang="zh-CN" altLang="en-US" dirty="0"/>
              <a:t>抬升小车的尺寸高度要求：</a:t>
            </a:r>
            <a:endParaRPr lang="en-US" altLang="zh-CN" dirty="0"/>
          </a:p>
          <a:p>
            <a:endParaRPr lang="en-US" altLang="zh-CN" dirty="0"/>
          </a:p>
          <a:p>
            <a:r>
              <a:rPr lang="zh-CN" altLang="en-US" dirty="0"/>
              <a:t>由于在设计之初就考虑到了本设计在小车高度的适应上存在天然的不足，所以本设计添加了可调节的托板高度，来适应不同小车的高度</a:t>
            </a:r>
            <a:endParaRPr lang="en-US" altLang="zh-CN" dirty="0"/>
          </a:p>
          <a:p>
            <a:endParaRPr lang="en-US" altLang="zh-CN" dirty="0"/>
          </a:p>
          <a:p>
            <a:r>
              <a:rPr lang="zh-CN" altLang="en-US" dirty="0"/>
              <a:t>在本设计中，托板的调节范围为（</a:t>
            </a:r>
            <a:r>
              <a:rPr lang="en-US" altLang="zh-CN" dirty="0"/>
              <a:t>*</a:t>
            </a:r>
            <a:r>
              <a:rPr lang="zh-CN" altLang="en-US" dirty="0"/>
              <a:t>距离地面）</a:t>
            </a:r>
            <a:endParaRPr lang="en-US" altLang="zh-CN" dirty="0"/>
          </a:p>
          <a:p>
            <a:endParaRPr lang="en-US" altLang="zh-CN" dirty="0"/>
          </a:p>
          <a:p>
            <a:r>
              <a:rPr lang="zh-CN" altLang="en-US" dirty="0"/>
              <a:t>约</a:t>
            </a:r>
            <a:r>
              <a:rPr lang="en-US" altLang="zh-CN" dirty="0"/>
              <a:t>235mm+-40mm</a:t>
            </a:r>
            <a:r>
              <a:rPr lang="zh-CN" altLang="en-US" dirty="0"/>
              <a:t>的范围</a:t>
            </a:r>
            <a:endParaRPr lang="en-US" altLang="zh-CN" dirty="0"/>
          </a:p>
          <a:p>
            <a:endParaRPr lang="en-US" altLang="zh-CN" dirty="0"/>
          </a:p>
          <a:p>
            <a:r>
              <a:rPr lang="zh-CN" altLang="en-US" dirty="0"/>
              <a:t>顶部顶板升降范围可以到此范围（</a:t>
            </a:r>
            <a:r>
              <a:rPr lang="en-US" altLang="zh-CN" dirty="0"/>
              <a:t>*</a:t>
            </a:r>
            <a:r>
              <a:rPr lang="zh-CN" altLang="en-US" dirty="0"/>
              <a:t>距离地面）</a:t>
            </a:r>
            <a:endParaRPr lang="en-US" altLang="zh-CN" dirty="0"/>
          </a:p>
          <a:p>
            <a:r>
              <a:rPr lang="zh-CN" altLang="en-US" dirty="0"/>
              <a:t>的小车均可以使用</a:t>
            </a:r>
            <a:endParaRPr lang="en-US" altLang="zh-CN" dirty="0"/>
          </a:p>
          <a:p>
            <a:endParaRPr lang="en-US" altLang="zh-CN" dirty="0"/>
          </a:p>
        </p:txBody>
      </p:sp>
      <p:sp>
        <p:nvSpPr>
          <p:cNvPr id="10" name="箭头: 下 9">
            <a:extLst>
              <a:ext uri="{FF2B5EF4-FFF2-40B4-BE49-F238E27FC236}">
                <a16:creationId xmlns:a16="http://schemas.microsoft.com/office/drawing/2014/main" id="{DD669B63-33B6-5A0A-BC33-AE9A8F241A6C}"/>
              </a:ext>
            </a:extLst>
          </p:cNvPr>
          <p:cNvSpPr/>
          <p:nvPr/>
        </p:nvSpPr>
        <p:spPr>
          <a:xfrm>
            <a:off x="8725436" y="3213279"/>
            <a:ext cx="315532" cy="756048"/>
          </a:xfrm>
          <a:prstGeom prst="downArrow">
            <a:avLst>
              <a:gd name="adj1" fmla="val 45918"/>
              <a:gd name="adj2" fmla="val 50000"/>
            </a:avLst>
          </a:prstGeom>
          <a:solidFill>
            <a:srgbClr val="0048CE"/>
          </a:solidFill>
          <a:ln>
            <a:solidFill>
              <a:srgbClr val="197D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a:extLst>
              <a:ext uri="{FF2B5EF4-FFF2-40B4-BE49-F238E27FC236}">
                <a16:creationId xmlns:a16="http://schemas.microsoft.com/office/drawing/2014/main" id="{12689F42-4C4B-F32F-FE40-55B37FE3B4E7}"/>
              </a:ext>
            </a:extLst>
          </p:cNvPr>
          <p:cNvSpPr txBox="1">
            <a:spLocks/>
          </p:cNvSpPr>
          <p:nvPr/>
        </p:nvSpPr>
        <p:spPr>
          <a:xfrm>
            <a:off x="7681778" y="2458052"/>
            <a:ext cx="2569805" cy="8634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0048CE"/>
                </a:solidFill>
                <a:latin typeface="+mn-ea"/>
                <a:ea typeface="+mn-ea"/>
              </a:rPr>
              <a:t>  </a:t>
            </a:r>
            <a:r>
              <a:rPr lang="zh-CN" altLang="en-US" sz="2800" b="1" dirty="0">
                <a:solidFill>
                  <a:srgbClr val="0048CE"/>
                </a:solidFill>
                <a:latin typeface="+mn-ea"/>
                <a:ea typeface="+mn-ea"/>
              </a:rPr>
              <a:t>可调节托板</a:t>
            </a:r>
          </a:p>
        </p:txBody>
      </p:sp>
    </p:spTree>
    <p:extLst>
      <p:ext uri="{BB962C8B-B14F-4D97-AF65-F5344CB8AC3E}">
        <p14:creationId xmlns:p14="http://schemas.microsoft.com/office/powerpoint/2010/main" val="13546852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996B166B-DF22-82F8-A374-B42F4283E0D2}"/>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AB853696-25E0-648F-25C1-4C1C045C864A}"/>
              </a:ext>
            </a:extLst>
          </p:cNvPr>
          <p:cNvSpPr/>
          <p:nvPr/>
        </p:nvSpPr>
        <p:spPr>
          <a:xfrm>
            <a:off x="0" y="4053249"/>
            <a:ext cx="12192000" cy="2709193"/>
          </a:xfrm>
          <a:prstGeom prst="rect">
            <a:avLst/>
          </a:prstGeom>
          <a:solidFill>
            <a:srgbClr val="177D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a:t>
            </a:r>
            <a:endParaRPr lang="zh-CN" altLang="en-US" dirty="0"/>
          </a:p>
        </p:txBody>
      </p:sp>
      <p:pic>
        <p:nvPicPr>
          <p:cNvPr id="11" name="图片 10">
            <a:extLst>
              <a:ext uri="{FF2B5EF4-FFF2-40B4-BE49-F238E27FC236}">
                <a16:creationId xmlns:a16="http://schemas.microsoft.com/office/drawing/2014/main" id="{41EFA7DE-FEF6-E362-B42B-D411307F9313}"/>
              </a:ext>
            </a:extLst>
          </p:cNvPr>
          <p:cNvPicPr>
            <a:picLocks noChangeAspect="1"/>
          </p:cNvPicPr>
          <p:nvPr/>
        </p:nvPicPr>
        <p:blipFill>
          <a:blip r:embed="rId2"/>
          <a:stretch>
            <a:fillRect/>
          </a:stretch>
        </p:blipFill>
        <p:spPr>
          <a:xfrm>
            <a:off x="184195" y="197312"/>
            <a:ext cx="1741460" cy="586009"/>
          </a:xfrm>
          <a:prstGeom prst="rect">
            <a:avLst/>
          </a:prstGeom>
        </p:spPr>
      </p:pic>
      <p:sp>
        <p:nvSpPr>
          <p:cNvPr id="12" name="矩形 11">
            <a:extLst>
              <a:ext uri="{FF2B5EF4-FFF2-40B4-BE49-F238E27FC236}">
                <a16:creationId xmlns:a16="http://schemas.microsoft.com/office/drawing/2014/main" id="{1A2F2127-8289-3911-873B-B8B458DCDD53}"/>
              </a:ext>
            </a:extLst>
          </p:cNvPr>
          <p:cNvSpPr/>
          <p:nvPr/>
        </p:nvSpPr>
        <p:spPr>
          <a:xfrm>
            <a:off x="0" y="4148805"/>
            <a:ext cx="12192000" cy="2709193"/>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副标题 2">
            <a:extLst>
              <a:ext uri="{FF2B5EF4-FFF2-40B4-BE49-F238E27FC236}">
                <a16:creationId xmlns:a16="http://schemas.microsoft.com/office/drawing/2014/main" id="{D0674884-996F-82E0-017A-4ECABC69ECB0}"/>
              </a:ext>
            </a:extLst>
          </p:cNvPr>
          <p:cNvSpPr>
            <a:spLocks noGrp="1"/>
          </p:cNvSpPr>
          <p:nvPr>
            <p:ph type="subTitle" idx="1"/>
          </p:nvPr>
        </p:nvSpPr>
        <p:spPr>
          <a:xfrm>
            <a:off x="8227751" y="4900655"/>
            <a:ext cx="3517260" cy="1205494"/>
          </a:xfrm>
        </p:spPr>
        <p:txBody>
          <a:bodyPr>
            <a:normAutofit/>
          </a:bodyPr>
          <a:lstStyle/>
          <a:p>
            <a:r>
              <a:rPr lang="zh-CN" altLang="en-US" sz="3200" b="1" dirty="0">
                <a:solidFill>
                  <a:schemeClr val="bg1"/>
                </a:solidFill>
                <a:latin typeface="+mn-ea"/>
              </a:rPr>
              <a:t>说明这种设计主要解决了哪些问题</a:t>
            </a:r>
          </a:p>
        </p:txBody>
      </p:sp>
      <p:sp>
        <p:nvSpPr>
          <p:cNvPr id="14" name="Text Placeholder 1">
            <a:extLst>
              <a:ext uri="{FF2B5EF4-FFF2-40B4-BE49-F238E27FC236}">
                <a16:creationId xmlns:a16="http://schemas.microsoft.com/office/drawing/2014/main" id="{5A6E5C74-36FF-DC30-7F88-FEE1AE672704}"/>
              </a:ext>
            </a:extLst>
          </p:cNvPr>
          <p:cNvSpPr>
            <a:spLocks noChangeArrowheads="1"/>
          </p:cNvSpPr>
          <p:nvPr/>
        </p:nvSpPr>
        <p:spPr bwMode="auto">
          <a:xfrm>
            <a:off x="184195" y="6106149"/>
            <a:ext cx="5721796" cy="440494"/>
          </a:xfrm>
          <a:prstGeom prst="rect">
            <a:avLst/>
          </a:prstGeom>
          <a:noFill/>
          <a:ln w="9525">
            <a:noFill/>
            <a:bevel/>
          </a:ln>
        </p:spPr>
        <p:txBody>
          <a:bodyPr anchor="ctr"/>
          <a:lstStyle/>
          <a:p>
            <a:pPr eaLnBrk="1" hangingPunct="1">
              <a:defRPr/>
            </a:pPr>
            <a:r>
              <a:rPr lang="en-US" altLang="zh-CN" sz="1400" b="1" dirty="0">
                <a:solidFill>
                  <a:schemeClr val="accent4">
                    <a:lumMod val="95000"/>
                    <a:lumOff val="5000"/>
                  </a:schemeClr>
                </a:solidFill>
                <a:latin typeface="Arial" panose="020B0604020202020204" pitchFamily="34" charset="0"/>
                <a:cs typeface="Arial" panose="020B0604020202020204" pitchFamily="34" charset="0"/>
              </a:rPr>
              <a:t>Prepared by AIR-Tech@ </a:t>
            </a:r>
            <a:fld id="{5853BA87-C0A4-4D40-A7D0-264FBDFF6174}" type="datetime9">
              <a:rPr lang="en-US" altLang="zh-CN" sz="1400" b="1" dirty="0" smtClean="0">
                <a:solidFill>
                  <a:schemeClr val="accent4">
                    <a:lumMod val="95000"/>
                    <a:lumOff val="5000"/>
                  </a:schemeClr>
                </a:solidFill>
                <a:latin typeface="Arial" panose="020B0604020202020204" pitchFamily="34" charset="0"/>
                <a:cs typeface="Arial" panose="020B0604020202020204" pitchFamily="34" charset="0"/>
              </a:rPr>
              <a:t>5/8/2026 5:57:41 PM</a:t>
            </a:fld>
            <a:endParaRPr lang="zh-CN" altLang="en-US" sz="1400" b="1" dirty="0">
              <a:solidFill>
                <a:schemeClr val="accent4">
                  <a:lumMod val="95000"/>
                  <a:lumOff val="5000"/>
                </a:schemeClr>
              </a:solidFill>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DAC67AC4-919A-C2E0-F471-E99DB7D5C825}"/>
              </a:ext>
            </a:extLst>
          </p:cNvPr>
          <p:cNvSpPr txBox="1"/>
          <p:nvPr/>
        </p:nvSpPr>
        <p:spPr>
          <a:xfrm>
            <a:off x="3045093" y="2249386"/>
            <a:ext cx="6094902" cy="1015663"/>
          </a:xfrm>
          <a:prstGeom prst="rect">
            <a:avLst/>
          </a:prstGeom>
          <a:noFill/>
        </p:spPr>
        <p:txBody>
          <a:bodyPr wrap="square">
            <a:spAutoFit/>
          </a:bodyPr>
          <a:lstStyle/>
          <a:p>
            <a:pPr algn="ctr"/>
            <a:r>
              <a:rPr lang="zh-CN" altLang="en-US" sz="6000" b="1" dirty="0"/>
              <a:t>解决的问题</a:t>
            </a:r>
          </a:p>
        </p:txBody>
      </p:sp>
    </p:spTree>
    <p:extLst>
      <p:ext uri="{BB962C8B-B14F-4D97-AF65-F5344CB8AC3E}">
        <p14:creationId xmlns:p14="http://schemas.microsoft.com/office/powerpoint/2010/main" val="2995445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3083B666-6CF1-A393-0663-AD1A9AC885CD}"/>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8E621D31-4CB9-B274-8807-DA2D65816D1C}"/>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74EFAC7E-ED01-F63E-5E85-42EF43E01DCD}"/>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95533B91-FB62-3FF3-6962-B25DAA8A4A9F}"/>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BDF3B1CF-7975-4412-98F0-32FF72F44D38}"/>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解决的问题</a:t>
            </a:r>
          </a:p>
        </p:txBody>
      </p:sp>
      <p:sp>
        <p:nvSpPr>
          <p:cNvPr id="2" name="文本框 1">
            <a:extLst>
              <a:ext uri="{FF2B5EF4-FFF2-40B4-BE49-F238E27FC236}">
                <a16:creationId xmlns:a16="http://schemas.microsoft.com/office/drawing/2014/main" id="{0F95FE4C-F7EE-96CE-878E-F156BB4134C4}"/>
              </a:ext>
            </a:extLst>
          </p:cNvPr>
          <p:cNvSpPr txBox="1"/>
          <p:nvPr/>
        </p:nvSpPr>
        <p:spPr>
          <a:xfrm>
            <a:off x="1372813" y="2011984"/>
            <a:ext cx="9857162" cy="523220"/>
          </a:xfrm>
          <a:prstGeom prst="rect">
            <a:avLst/>
          </a:prstGeom>
          <a:noFill/>
        </p:spPr>
        <p:txBody>
          <a:bodyPr wrap="square" rtlCol="0">
            <a:spAutoFit/>
          </a:bodyPr>
          <a:lstStyle/>
          <a:p>
            <a:r>
              <a:rPr lang="en-US" altLang="zh-CN" sz="2800" b="1" dirty="0">
                <a:solidFill>
                  <a:schemeClr val="bg2"/>
                </a:solidFill>
                <a:latin typeface="+mn-ea"/>
              </a:rPr>
              <a:t>1.      </a:t>
            </a:r>
            <a:r>
              <a:rPr lang="zh-CN" altLang="en-US" sz="2800" b="1" dirty="0">
                <a:latin typeface="+mn-ea"/>
              </a:rPr>
              <a:t>解决了小车水平移动和竖直移动的复杂移动问题</a:t>
            </a:r>
            <a:endParaRPr lang="en-US" altLang="zh-CN" sz="2800" b="1" dirty="0">
              <a:latin typeface="+mn-ea"/>
            </a:endParaRPr>
          </a:p>
        </p:txBody>
      </p:sp>
      <p:sp>
        <p:nvSpPr>
          <p:cNvPr id="3" name="文本框 2">
            <a:extLst>
              <a:ext uri="{FF2B5EF4-FFF2-40B4-BE49-F238E27FC236}">
                <a16:creationId xmlns:a16="http://schemas.microsoft.com/office/drawing/2014/main" id="{92249192-42D7-D087-B5C1-3ED5CE1C7699}"/>
              </a:ext>
            </a:extLst>
          </p:cNvPr>
          <p:cNvSpPr txBox="1"/>
          <p:nvPr/>
        </p:nvSpPr>
        <p:spPr>
          <a:xfrm>
            <a:off x="1372813" y="2905780"/>
            <a:ext cx="9857162" cy="523220"/>
          </a:xfrm>
          <a:prstGeom prst="rect">
            <a:avLst/>
          </a:prstGeom>
          <a:noFill/>
        </p:spPr>
        <p:txBody>
          <a:bodyPr wrap="square" rtlCol="0">
            <a:spAutoFit/>
          </a:bodyPr>
          <a:lstStyle/>
          <a:p>
            <a:r>
              <a:rPr lang="en-US" altLang="zh-CN" sz="2800" b="1" dirty="0">
                <a:solidFill>
                  <a:schemeClr val="bg2"/>
                </a:solidFill>
                <a:latin typeface="+mn-ea"/>
              </a:rPr>
              <a:t>2.      </a:t>
            </a:r>
            <a:r>
              <a:rPr lang="zh-CN" altLang="en-US" sz="2800" b="1" dirty="0">
                <a:latin typeface="+mn-ea"/>
              </a:rPr>
              <a:t>解决了小车清洗完成以后底轮难以干燥的问题</a:t>
            </a:r>
            <a:endParaRPr lang="en-US" altLang="zh-CN" sz="2800" b="1" dirty="0">
              <a:latin typeface="+mn-ea"/>
            </a:endParaRPr>
          </a:p>
        </p:txBody>
      </p:sp>
      <p:sp>
        <p:nvSpPr>
          <p:cNvPr id="8" name="文本框 7">
            <a:extLst>
              <a:ext uri="{FF2B5EF4-FFF2-40B4-BE49-F238E27FC236}">
                <a16:creationId xmlns:a16="http://schemas.microsoft.com/office/drawing/2014/main" id="{265A8745-E43A-F0D5-266A-521B9E67AC8B}"/>
              </a:ext>
            </a:extLst>
          </p:cNvPr>
          <p:cNvSpPr txBox="1"/>
          <p:nvPr/>
        </p:nvSpPr>
        <p:spPr>
          <a:xfrm>
            <a:off x="1372813" y="3901314"/>
            <a:ext cx="9857162" cy="523220"/>
          </a:xfrm>
          <a:prstGeom prst="rect">
            <a:avLst/>
          </a:prstGeom>
          <a:noFill/>
        </p:spPr>
        <p:txBody>
          <a:bodyPr wrap="square" rtlCol="0">
            <a:spAutoFit/>
          </a:bodyPr>
          <a:lstStyle/>
          <a:p>
            <a:r>
              <a:rPr lang="en-US" altLang="zh-CN" sz="2800" b="1" dirty="0">
                <a:solidFill>
                  <a:schemeClr val="bg2"/>
                </a:solidFill>
                <a:latin typeface="+mn-ea"/>
              </a:rPr>
              <a:t>3.      </a:t>
            </a:r>
            <a:r>
              <a:rPr lang="zh-CN" altLang="en-US" sz="2800" b="1" dirty="0">
                <a:latin typeface="+mn-ea"/>
              </a:rPr>
              <a:t>解决了对不同高度  宽度  底轮布局小车的适配问题</a:t>
            </a:r>
            <a:endParaRPr lang="en-US" altLang="zh-CN" sz="2800" b="1" dirty="0">
              <a:latin typeface="+mn-ea"/>
            </a:endParaRPr>
          </a:p>
        </p:txBody>
      </p:sp>
      <p:sp>
        <p:nvSpPr>
          <p:cNvPr id="9" name="文本框 8">
            <a:extLst>
              <a:ext uri="{FF2B5EF4-FFF2-40B4-BE49-F238E27FC236}">
                <a16:creationId xmlns:a16="http://schemas.microsoft.com/office/drawing/2014/main" id="{73B9558D-139E-3DF7-EA8F-C043FC3A59A1}"/>
              </a:ext>
            </a:extLst>
          </p:cNvPr>
          <p:cNvSpPr txBox="1"/>
          <p:nvPr/>
        </p:nvSpPr>
        <p:spPr>
          <a:xfrm>
            <a:off x="1372813" y="4896848"/>
            <a:ext cx="9857162" cy="954107"/>
          </a:xfrm>
          <a:prstGeom prst="rect">
            <a:avLst/>
          </a:prstGeom>
          <a:noFill/>
        </p:spPr>
        <p:txBody>
          <a:bodyPr wrap="square" rtlCol="0">
            <a:spAutoFit/>
          </a:bodyPr>
          <a:lstStyle/>
          <a:p>
            <a:r>
              <a:rPr lang="en-US" altLang="zh-CN" sz="2800" b="1" dirty="0">
                <a:solidFill>
                  <a:schemeClr val="bg1"/>
                </a:solidFill>
                <a:latin typeface="+mn-ea"/>
              </a:rPr>
              <a:t>4.   </a:t>
            </a:r>
            <a:r>
              <a:rPr lang="zh-CN" altLang="en-US" sz="2800" b="1" dirty="0">
                <a:solidFill>
                  <a:schemeClr val="bg1"/>
                </a:solidFill>
                <a:latin typeface="+mn-ea"/>
              </a:rPr>
              <a:t>   </a:t>
            </a:r>
            <a:r>
              <a:rPr lang="zh-CN" altLang="en-US" sz="2800" b="1" dirty="0">
                <a:latin typeface="+mn-ea"/>
              </a:rPr>
              <a:t>克制使用宽度和预留</a:t>
            </a:r>
            <a:endParaRPr lang="en-US" altLang="zh-CN" sz="2800" b="1" dirty="0">
              <a:latin typeface="+mn-ea"/>
            </a:endParaRPr>
          </a:p>
          <a:p>
            <a:r>
              <a:rPr lang="en-US" altLang="zh-CN" sz="2800" b="1" dirty="0">
                <a:latin typeface="+mn-ea"/>
              </a:rPr>
              <a:t>         </a:t>
            </a:r>
            <a:r>
              <a:rPr lang="zh-CN" altLang="en-US" sz="2800" b="1" dirty="0">
                <a:latin typeface="+mn-ea"/>
              </a:rPr>
              <a:t>在保证适配度的情况下尽可能减小体积</a:t>
            </a:r>
            <a:endParaRPr lang="en-US" altLang="zh-CN" sz="2800" b="1" dirty="0">
              <a:latin typeface="+mn-ea"/>
            </a:endParaRPr>
          </a:p>
        </p:txBody>
      </p:sp>
    </p:spTree>
    <p:extLst>
      <p:ext uri="{BB962C8B-B14F-4D97-AF65-F5344CB8AC3E}">
        <p14:creationId xmlns:p14="http://schemas.microsoft.com/office/powerpoint/2010/main" val="7820376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ED2B1A5F-3FC7-633D-B33F-CF6F83561894}"/>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090CE197-3686-4B01-5C90-04CEC9212F5F}"/>
              </a:ext>
            </a:extLst>
          </p:cNvPr>
          <p:cNvSpPr/>
          <p:nvPr/>
        </p:nvSpPr>
        <p:spPr>
          <a:xfrm>
            <a:off x="0" y="944628"/>
            <a:ext cx="10315575"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9C86717E-4609-4805-83EF-1BB0DBC6B39D}"/>
              </a:ext>
            </a:extLst>
          </p:cNvPr>
          <p:cNvPicPr>
            <a:picLocks noChangeAspect="1"/>
          </p:cNvPicPr>
          <p:nvPr/>
        </p:nvPicPr>
        <p:blipFill>
          <a:blip r:embed="rId2"/>
          <a:stretch>
            <a:fillRect/>
          </a:stretch>
        </p:blipFill>
        <p:spPr>
          <a:xfrm>
            <a:off x="184195" y="197312"/>
            <a:ext cx="1741460" cy="586009"/>
          </a:xfrm>
          <a:prstGeom prst="rect">
            <a:avLst/>
          </a:prstGeom>
        </p:spPr>
      </p:pic>
      <p:sp>
        <p:nvSpPr>
          <p:cNvPr id="6" name="矩形 5">
            <a:extLst>
              <a:ext uri="{FF2B5EF4-FFF2-40B4-BE49-F238E27FC236}">
                <a16:creationId xmlns:a16="http://schemas.microsoft.com/office/drawing/2014/main" id="{096CA2C9-4BE2-578F-9DDE-F5950D93ED03}"/>
              </a:ext>
            </a:extLst>
          </p:cNvPr>
          <p:cNvSpPr/>
          <p:nvPr/>
        </p:nvSpPr>
        <p:spPr>
          <a:xfrm>
            <a:off x="0" y="1080655"/>
            <a:ext cx="2552700"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ACA3A4E5-EAA4-7F35-0DBF-9C7032DF6A22}"/>
              </a:ext>
            </a:extLst>
          </p:cNvPr>
          <p:cNvSpPr txBox="1"/>
          <p:nvPr/>
        </p:nvSpPr>
        <p:spPr>
          <a:xfrm>
            <a:off x="3124200" y="3301149"/>
            <a:ext cx="6094902" cy="1200329"/>
          </a:xfrm>
          <a:prstGeom prst="rect">
            <a:avLst/>
          </a:prstGeom>
          <a:noFill/>
        </p:spPr>
        <p:txBody>
          <a:bodyPr wrap="square">
            <a:spAutoFit/>
          </a:bodyPr>
          <a:lstStyle/>
          <a:p>
            <a:pPr algn="ctr"/>
            <a:r>
              <a:rPr lang="en-US" altLang="zh-CN" sz="7200" b="1" dirty="0">
                <a:solidFill>
                  <a:schemeClr val="bg2"/>
                </a:solidFill>
              </a:rPr>
              <a:t>Thank you</a:t>
            </a:r>
            <a:endParaRPr lang="zh-CN" altLang="en-US" sz="7200" b="1" dirty="0">
              <a:solidFill>
                <a:schemeClr val="bg2"/>
              </a:solidFill>
            </a:endParaRPr>
          </a:p>
        </p:txBody>
      </p:sp>
    </p:spTree>
    <p:extLst>
      <p:ext uri="{BB962C8B-B14F-4D97-AF65-F5344CB8AC3E}">
        <p14:creationId xmlns:p14="http://schemas.microsoft.com/office/powerpoint/2010/main" val="19755322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3237</TotalTime>
  <Words>1430</Words>
  <Application>Microsoft Office PowerPoint</Application>
  <PresentationFormat>宽屏</PresentationFormat>
  <Paragraphs>197</Paragraphs>
  <Slides>31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31</vt:i4>
      </vt:variant>
    </vt:vector>
  </HeadingPairs>
  <TitlesOfParts>
    <vt:vector size="35" baseType="lpstr">
      <vt:lpstr>等线</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c0 ex</dc:creator>
  <cp:lastModifiedBy>煜暄 陈</cp:lastModifiedBy>
  <cp:revision>11</cp:revision>
  <dcterms:created xsi:type="dcterms:W3CDTF">2025-09-25T15:24:44Z</dcterms:created>
  <dcterms:modified xsi:type="dcterms:W3CDTF">2026-05-08T09:57:44Z</dcterms:modified>
</cp:coreProperties>
</file>