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81" r:id="rId6"/>
    <p:sldId id="282" r:id="rId7"/>
    <p:sldId id="285" r:id="rId8"/>
    <p:sldId id="284" r:id="rId9"/>
    <p:sldId id="263" r:id="rId10"/>
    <p:sldId id="283" r:id="rId11"/>
    <p:sldId id="286" r:id="rId12"/>
    <p:sldId id="264" r:id="rId13"/>
    <p:sldId id="288" r:id="rId14"/>
    <p:sldId id="289" r:id="rId15"/>
    <p:sldId id="268" r:id="rId16"/>
    <p:sldId id="269" r:id="rId17"/>
    <p:sldId id="290" r:id="rId18"/>
    <p:sldId id="291" r:id="rId19"/>
    <p:sldId id="292" r:id="rId20"/>
    <p:sldId id="274" r:id="rId21"/>
    <p:sldId id="293" r:id="rId22"/>
    <p:sldId id="287" r:id="rId23"/>
    <p:sldId id="294" r:id="rId24"/>
    <p:sldId id="295" r:id="rId25"/>
    <p:sldId id="279" r:id="rId26"/>
    <p:sldId id="280"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ACAC"/>
    <a:srgbClr val="FFFC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45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687317-EE7F-1948-FD15-EC0CC9298F6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FF87CB0-2553-E9FC-37CA-246176377C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9CED1A9-40A6-2448-17DC-C1D7DD4A6662}"/>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5" name="页脚占位符 4">
            <a:extLst>
              <a:ext uri="{FF2B5EF4-FFF2-40B4-BE49-F238E27FC236}">
                <a16:creationId xmlns:a16="http://schemas.microsoft.com/office/drawing/2014/main" id="{39F98C99-D519-81E1-8A7C-0F44CD3160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A85B66-76CC-C7E7-C239-F2A802C5037F}"/>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2172651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B95BC-7D54-8A28-9E11-CDF38E12CF6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A462CC-3B6F-AB31-2DD6-BFC1D3411EB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4239BC1-A9F3-83A5-8B0E-1356ECBBD798}"/>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5" name="页脚占位符 4">
            <a:extLst>
              <a:ext uri="{FF2B5EF4-FFF2-40B4-BE49-F238E27FC236}">
                <a16:creationId xmlns:a16="http://schemas.microsoft.com/office/drawing/2014/main" id="{D9B70B96-4FEB-AB39-F869-318875040F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184338-A658-8530-EF2A-67ADA30D8237}"/>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3551398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703E38-DBE7-357B-CFCB-B87EC5946C9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40ABCCA-39D3-5697-B6CA-E2D72407DE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4CD69A0-67E5-7973-9456-8F0E7E6AC9CB}"/>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5" name="页脚占位符 4">
            <a:extLst>
              <a:ext uri="{FF2B5EF4-FFF2-40B4-BE49-F238E27FC236}">
                <a16:creationId xmlns:a16="http://schemas.microsoft.com/office/drawing/2014/main" id="{E87CAF2B-32A0-73B7-0128-EA0A507E75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B83589-0D3B-CA0A-944A-459C7B35C355}"/>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13977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5361B-90C8-988C-8C67-A1C8C140934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7548D9-DE7A-4C49-2427-FF205215AA8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9E71C06-2FAC-CC25-BC78-099A79D6A97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D72115E-0BE6-D52D-F681-F441AF634C08}"/>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6" name="页脚占位符 5">
            <a:extLst>
              <a:ext uri="{FF2B5EF4-FFF2-40B4-BE49-F238E27FC236}">
                <a16:creationId xmlns:a16="http://schemas.microsoft.com/office/drawing/2014/main" id="{8A5BB53D-BDCE-FFC6-5B2F-419BF88B7C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692B7A-49C1-1E9C-3000-8FE1E5DDA050}"/>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633375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795815-56E2-3C8C-3584-8F6A82D3400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18DE5A-0FCA-2FD9-9ED4-6E05D7CECB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3E7EC9A-92A1-EFA7-582F-0CE576CBF58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DD1D286-EB0F-8CD1-9BBB-60DC4EA1D2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9DEDD92-E27E-D748-170C-DBD08915FFE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0BE9DE6-89E7-E0AB-54C8-DB5047097780}"/>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8" name="页脚占位符 7">
            <a:extLst>
              <a:ext uri="{FF2B5EF4-FFF2-40B4-BE49-F238E27FC236}">
                <a16:creationId xmlns:a16="http://schemas.microsoft.com/office/drawing/2014/main" id="{95249B42-1047-89C5-EFD1-9D5AAD1081F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47B4958-5946-70D5-5447-46414A24684D}"/>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13959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0BC7B-A631-EB0D-5ECF-8E54CF53ACF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F7A92B9-9C7E-217A-0C1E-4E2BFB07F695}"/>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4" name="页脚占位符 3">
            <a:extLst>
              <a:ext uri="{FF2B5EF4-FFF2-40B4-BE49-F238E27FC236}">
                <a16:creationId xmlns:a16="http://schemas.microsoft.com/office/drawing/2014/main" id="{247A824C-B9AF-A24D-6ACB-2A533ABC279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5571126-72BC-2F2C-32F5-4550C76B361F}"/>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3296211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245425E-63F1-8C7B-549D-2501738EBC81}"/>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3" name="页脚占位符 2">
            <a:extLst>
              <a:ext uri="{FF2B5EF4-FFF2-40B4-BE49-F238E27FC236}">
                <a16:creationId xmlns:a16="http://schemas.microsoft.com/office/drawing/2014/main" id="{9D15BD37-743A-3555-D594-4EB395EDB52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E8F4A7F-BBC8-8B36-2188-7AD1DB6C8510}"/>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417342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DAC974-1F11-FBDF-E924-00EFB060D5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AE1FF8B-5449-16C1-9117-6A9AF3F191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933095F-2F71-A5EF-AA0E-E2E46581D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02D3D2C-C045-58EC-593E-01ED19C3F511}"/>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6" name="页脚占位符 5">
            <a:extLst>
              <a:ext uri="{FF2B5EF4-FFF2-40B4-BE49-F238E27FC236}">
                <a16:creationId xmlns:a16="http://schemas.microsoft.com/office/drawing/2014/main" id="{D15534F9-98DA-7FFC-7497-068309D80B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28BDC1-A0EA-621D-1E4F-B7AB87832A78}"/>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3382836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9795EE-5CBD-2CA9-5410-1BD98349A5C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FAAC34C-6561-C8CC-1C2F-6675652D18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1B6923B-BE4B-0242-704E-A24ED1E39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67A3707-393A-AA57-BE0F-9146B734CAFC}"/>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6" name="页脚占位符 5">
            <a:extLst>
              <a:ext uri="{FF2B5EF4-FFF2-40B4-BE49-F238E27FC236}">
                <a16:creationId xmlns:a16="http://schemas.microsoft.com/office/drawing/2014/main" id="{2DD6A942-7DEA-8CB8-E636-F99A852FE0F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A2972AF-4114-7143-3BB1-BB1799CB0413}"/>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188813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DE440D-4A08-996F-6F9D-5EAACC1EC12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EA89773-6E70-2454-3694-6E6E94AE763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09AACA9-A3A4-7359-44D3-7B120F462304}"/>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5" name="页脚占位符 4">
            <a:extLst>
              <a:ext uri="{FF2B5EF4-FFF2-40B4-BE49-F238E27FC236}">
                <a16:creationId xmlns:a16="http://schemas.microsoft.com/office/drawing/2014/main" id="{96BC84EE-31D0-C11F-77B6-56A5F3D1D2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59F289-437F-9D3E-AB4E-715543EF1DD5}"/>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229012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566F4D7-A7D1-62BC-6AD1-86009288BDD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3DF113C-89AD-BBC1-2D33-80571441225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74B0C4-B5CD-03FF-EA31-9602995C25EB}"/>
              </a:ext>
            </a:extLst>
          </p:cNvPr>
          <p:cNvSpPr>
            <a:spLocks noGrp="1"/>
          </p:cNvSpPr>
          <p:nvPr>
            <p:ph type="dt" sz="half" idx="10"/>
          </p:nvPr>
        </p:nvSpPr>
        <p:spPr/>
        <p:txBody>
          <a:bodyPr/>
          <a:lstStyle/>
          <a:p>
            <a:fld id="{581A1311-718C-4E8E-8010-28C99C476D3E}" type="datetimeFigureOut">
              <a:rPr lang="zh-CN" altLang="en-US" smtClean="0"/>
              <a:t>2026/3/27</a:t>
            </a:fld>
            <a:endParaRPr lang="zh-CN" altLang="en-US"/>
          </a:p>
        </p:txBody>
      </p:sp>
      <p:sp>
        <p:nvSpPr>
          <p:cNvPr id="5" name="页脚占位符 4">
            <a:extLst>
              <a:ext uri="{FF2B5EF4-FFF2-40B4-BE49-F238E27FC236}">
                <a16:creationId xmlns:a16="http://schemas.microsoft.com/office/drawing/2014/main" id="{A5269FB6-3AFE-E1C1-A6D0-38908435D5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49A872-3A4D-4886-370B-CEB3F69837C9}"/>
              </a:ext>
            </a:extLst>
          </p:cNvPr>
          <p:cNvSpPr>
            <a:spLocks noGrp="1"/>
          </p:cNvSpPr>
          <p:nvPr>
            <p:ph type="sldNum" sz="quarter" idx="12"/>
          </p:nvPr>
        </p:nvSpPr>
        <p:spPr/>
        <p:txBody>
          <a:body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4125585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BAC242A-94BD-4A9E-21E0-8F4C054814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6124D57-F158-A3F1-64ED-D777AD5BC3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E01C5B-1A48-0B0D-00BB-ED3B93CC61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1A1311-718C-4E8E-8010-28C99C476D3E}" type="datetimeFigureOut">
              <a:rPr lang="zh-CN" altLang="en-US" smtClean="0"/>
              <a:t>2026/3/27</a:t>
            </a:fld>
            <a:endParaRPr lang="zh-CN" altLang="en-US"/>
          </a:p>
        </p:txBody>
      </p:sp>
      <p:sp>
        <p:nvSpPr>
          <p:cNvPr id="5" name="页脚占位符 4">
            <a:extLst>
              <a:ext uri="{FF2B5EF4-FFF2-40B4-BE49-F238E27FC236}">
                <a16:creationId xmlns:a16="http://schemas.microsoft.com/office/drawing/2014/main" id="{69C69252-B5BF-21FB-31A8-10B7AC59CE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ED3F8026-D52C-69F6-ABDA-B04755E87D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B52537-7E0A-4414-9903-E514EDC45E34}" type="slidenum">
              <a:rPr lang="zh-CN" altLang="en-US" smtClean="0"/>
              <a:t>‹#›</a:t>
            </a:fld>
            <a:endParaRPr lang="zh-CN" altLang="en-US"/>
          </a:p>
        </p:txBody>
      </p:sp>
    </p:spTree>
    <p:extLst>
      <p:ext uri="{BB962C8B-B14F-4D97-AF65-F5344CB8AC3E}">
        <p14:creationId xmlns:p14="http://schemas.microsoft.com/office/powerpoint/2010/main" val="1519848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03B6467-763A-9D02-53E0-49CDED985840}"/>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10" name="标题 1">
            <a:extLst>
              <a:ext uri="{FF2B5EF4-FFF2-40B4-BE49-F238E27FC236}">
                <a16:creationId xmlns:a16="http://schemas.microsoft.com/office/drawing/2014/main" id="{5F1B4B02-AA08-F23A-BC90-8368519466D7}"/>
              </a:ext>
            </a:extLst>
          </p:cNvPr>
          <p:cNvSpPr txBox="1">
            <a:spLocks/>
          </p:cNvSpPr>
          <p:nvPr/>
        </p:nvSpPr>
        <p:spPr>
          <a:xfrm>
            <a:off x="1524000" y="2297336"/>
            <a:ext cx="9144000" cy="109962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a:effectLst>
                  <a:innerShdw blurRad="114300">
                    <a:prstClr val="black"/>
                  </a:innerShdw>
                </a:effectLst>
                <a:latin typeface="+mn-ea"/>
                <a:ea typeface="+mn-ea"/>
              </a:rPr>
              <a:t>迎宾小车</a:t>
            </a:r>
          </a:p>
        </p:txBody>
      </p:sp>
      <p:sp>
        <p:nvSpPr>
          <p:cNvPr id="12" name="矩形 11">
            <a:extLst>
              <a:ext uri="{FF2B5EF4-FFF2-40B4-BE49-F238E27FC236}">
                <a16:creationId xmlns:a16="http://schemas.microsoft.com/office/drawing/2014/main" id="{90E291F7-7C7C-34E1-755A-DD67448DE9EB}"/>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副标题 2">
            <a:extLst>
              <a:ext uri="{FF2B5EF4-FFF2-40B4-BE49-F238E27FC236}">
                <a16:creationId xmlns:a16="http://schemas.microsoft.com/office/drawing/2014/main" id="{7828951D-D130-BB31-6D00-5E23884CD051}"/>
              </a:ext>
            </a:extLst>
          </p:cNvPr>
          <p:cNvSpPr>
            <a:spLocks noGrp="1"/>
          </p:cNvSpPr>
          <p:nvPr>
            <p:ph type="subTitle" idx="1"/>
          </p:nvPr>
        </p:nvSpPr>
        <p:spPr>
          <a:xfrm>
            <a:off x="8227751" y="4900655"/>
            <a:ext cx="3517260" cy="1205494"/>
          </a:xfrm>
        </p:spPr>
        <p:txBody>
          <a:bodyPr>
            <a:normAutofit/>
          </a:bodyPr>
          <a:lstStyle/>
          <a:p>
            <a:r>
              <a:rPr lang="zh-CN" altLang="en-US" sz="3200" b="1" dirty="0">
                <a:solidFill>
                  <a:schemeClr val="bg1"/>
                </a:solidFill>
                <a:latin typeface="+mn-ea"/>
              </a:rPr>
              <a:t>制作人 迎宾小车设计组</a:t>
            </a:r>
          </a:p>
        </p:txBody>
      </p:sp>
      <p:sp>
        <p:nvSpPr>
          <p:cNvPr id="14" name="Text Placeholder 1">
            <a:extLst>
              <a:ext uri="{FF2B5EF4-FFF2-40B4-BE49-F238E27FC236}">
                <a16:creationId xmlns:a16="http://schemas.microsoft.com/office/drawing/2014/main" id="{F712D54D-5998-E98F-5664-1AAA17813899}"/>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3/27/2026 12:38:14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pic>
        <p:nvPicPr>
          <p:cNvPr id="2" name="图片 1" descr="徽标&#10;&#10;AI 生成的内容可能不正确。">
            <a:extLst>
              <a:ext uri="{FF2B5EF4-FFF2-40B4-BE49-F238E27FC236}">
                <a16:creationId xmlns:a16="http://schemas.microsoft.com/office/drawing/2014/main" id="{C82528A2-05BB-D6CC-D726-C404312D109D}"/>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3129912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1BDFDFFA-7225-6DC6-8F5A-9EF12E9623E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355744B-45F1-D3D2-4542-BB06029776E0}"/>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681B7505-5F3C-36F1-0F81-ED55EC9A81CA}"/>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B84AC7C2-E82B-3795-B485-7DECE7C37686}"/>
              </a:ext>
            </a:extLst>
          </p:cNvPr>
          <p:cNvSpPr txBox="1">
            <a:spLocks/>
          </p:cNvSpPr>
          <p:nvPr/>
        </p:nvSpPr>
        <p:spPr>
          <a:xfrm>
            <a:off x="1685686" y="760689"/>
            <a:ext cx="3233011" cy="1292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000" b="1" dirty="0">
                <a:latin typeface="+mn-ea"/>
                <a:ea typeface="+mn-ea"/>
              </a:rPr>
              <a:t>目录</a:t>
            </a:r>
          </a:p>
        </p:txBody>
      </p:sp>
      <p:sp>
        <p:nvSpPr>
          <p:cNvPr id="9" name="矩形 8">
            <a:extLst>
              <a:ext uri="{FF2B5EF4-FFF2-40B4-BE49-F238E27FC236}">
                <a16:creationId xmlns:a16="http://schemas.microsoft.com/office/drawing/2014/main" id="{B6B06544-18DC-8820-7975-217DF2D8B31B}"/>
              </a:ext>
            </a:extLst>
          </p:cNvPr>
          <p:cNvSpPr/>
          <p:nvPr/>
        </p:nvSpPr>
        <p:spPr>
          <a:xfrm>
            <a:off x="1610015" y="2458115"/>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374C6DA-EA88-8B5D-DFAD-3E9BB6239C8E}"/>
              </a:ext>
            </a:extLst>
          </p:cNvPr>
          <p:cNvSpPr/>
          <p:nvPr/>
        </p:nvSpPr>
        <p:spPr>
          <a:xfrm>
            <a:off x="1610015" y="3318693"/>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A003B26-6273-B383-1438-0C6725968588}"/>
              </a:ext>
            </a:extLst>
          </p:cNvPr>
          <p:cNvSpPr/>
          <p:nvPr/>
        </p:nvSpPr>
        <p:spPr>
          <a:xfrm>
            <a:off x="1610015" y="4179271"/>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98D6A76-CEDC-15CA-F25C-FDDF1BFE9CAF}"/>
              </a:ext>
            </a:extLst>
          </p:cNvPr>
          <p:cNvSpPr/>
          <p:nvPr/>
        </p:nvSpPr>
        <p:spPr>
          <a:xfrm>
            <a:off x="1610015" y="5039849"/>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AC516E1A-2B28-37F2-0FCF-6439294ED17E}"/>
              </a:ext>
            </a:extLst>
          </p:cNvPr>
          <p:cNvSpPr txBox="1"/>
          <p:nvPr/>
        </p:nvSpPr>
        <p:spPr>
          <a:xfrm>
            <a:off x="2270877" y="3098097"/>
            <a:ext cx="6127845" cy="584775"/>
          </a:xfrm>
          <a:prstGeom prst="rect">
            <a:avLst/>
          </a:prstGeom>
          <a:noFill/>
        </p:spPr>
        <p:txBody>
          <a:bodyPr wrap="square" rtlCol="0">
            <a:spAutoFit/>
          </a:bodyPr>
          <a:lstStyle/>
          <a:p>
            <a:r>
              <a:rPr lang="zh-CN" altLang="en-US" sz="3200" b="1" dirty="0">
                <a:solidFill>
                  <a:srgbClr val="0048CE"/>
                </a:solidFill>
              </a:rPr>
              <a:t>功能实现</a:t>
            </a:r>
          </a:p>
        </p:txBody>
      </p:sp>
      <p:sp>
        <p:nvSpPr>
          <p:cNvPr id="15" name="文本框 14">
            <a:extLst>
              <a:ext uri="{FF2B5EF4-FFF2-40B4-BE49-F238E27FC236}">
                <a16:creationId xmlns:a16="http://schemas.microsoft.com/office/drawing/2014/main" id="{13BE3C3F-BA9F-9506-BF48-8E4736934F2F}"/>
              </a:ext>
            </a:extLst>
          </p:cNvPr>
          <p:cNvSpPr txBox="1"/>
          <p:nvPr/>
        </p:nvSpPr>
        <p:spPr>
          <a:xfrm>
            <a:off x="2270876" y="3958675"/>
            <a:ext cx="6127845" cy="584775"/>
          </a:xfrm>
          <a:prstGeom prst="rect">
            <a:avLst/>
          </a:prstGeom>
          <a:noFill/>
        </p:spPr>
        <p:txBody>
          <a:bodyPr wrap="square" rtlCol="0">
            <a:spAutoFit/>
          </a:bodyPr>
          <a:lstStyle/>
          <a:p>
            <a:r>
              <a:rPr lang="zh-CN" altLang="en-US" sz="3200" b="1" dirty="0">
                <a:solidFill>
                  <a:srgbClr val="0048CE"/>
                </a:solidFill>
              </a:rPr>
              <a:t>设计亮点</a:t>
            </a:r>
          </a:p>
        </p:txBody>
      </p:sp>
      <p:sp>
        <p:nvSpPr>
          <p:cNvPr id="16" name="文本框 15">
            <a:extLst>
              <a:ext uri="{FF2B5EF4-FFF2-40B4-BE49-F238E27FC236}">
                <a16:creationId xmlns:a16="http://schemas.microsoft.com/office/drawing/2014/main" id="{EA00FC14-B131-15EE-46CE-A39525270C23}"/>
              </a:ext>
            </a:extLst>
          </p:cNvPr>
          <p:cNvSpPr txBox="1"/>
          <p:nvPr/>
        </p:nvSpPr>
        <p:spPr>
          <a:xfrm>
            <a:off x="2270876" y="4819253"/>
            <a:ext cx="6127845" cy="584775"/>
          </a:xfrm>
          <a:prstGeom prst="rect">
            <a:avLst/>
          </a:prstGeom>
          <a:noFill/>
        </p:spPr>
        <p:txBody>
          <a:bodyPr wrap="square" rtlCol="0">
            <a:spAutoFit/>
          </a:bodyPr>
          <a:lstStyle/>
          <a:p>
            <a:r>
              <a:rPr lang="zh-CN" altLang="en-US" sz="3200" b="1" dirty="0">
                <a:solidFill>
                  <a:srgbClr val="0048CE"/>
                </a:solidFill>
              </a:rPr>
              <a:t>功能基础</a:t>
            </a:r>
          </a:p>
        </p:txBody>
      </p:sp>
      <p:sp>
        <p:nvSpPr>
          <p:cNvPr id="11" name="文本框 10">
            <a:extLst>
              <a:ext uri="{FF2B5EF4-FFF2-40B4-BE49-F238E27FC236}">
                <a16:creationId xmlns:a16="http://schemas.microsoft.com/office/drawing/2014/main" id="{8B6C14CB-3497-B49B-C8D4-E0AFBC6FC128}"/>
              </a:ext>
            </a:extLst>
          </p:cNvPr>
          <p:cNvSpPr txBox="1"/>
          <p:nvPr/>
        </p:nvSpPr>
        <p:spPr>
          <a:xfrm>
            <a:off x="2270877" y="2237519"/>
            <a:ext cx="6127845" cy="584775"/>
          </a:xfrm>
          <a:prstGeom prst="rect">
            <a:avLst/>
          </a:prstGeom>
          <a:noFill/>
        </p:spPr>
        <p:txBody>
          <a:bodyPr wrap="square" rtlCol="0">
            <a:spAutoFit/>
          </a:bodyPr>
          <a:lstStyle/>
          <a:p>
            <a:r>
              <a:rPr lang="zh-CN" altLang="en-US" sz="3200" b="1" dirty="0">
                <a:solidFill>
                  <a:srgbClr val="0048CE"/>
                </a:solidFill>
              </a:rPr>
              <a:t>总体外观</a:t>
            </a:r>
          </a:p>
        </p:txBody>
      </p:sp>
      <p:sp>
        <p:nvSpPr>
          <p:cNvPr id="2" name="文本框 1">
            <a:extLst>
              <a:ext uri="{FF2B5EF4-FFF2-40B4-BE49-F238E27FC236}">
                <a16:creationId xmlns:a16="http://schemas.microsoft.com/office/drawing/2014/main" id="{792E6669-4FF9-541C-621A-6FAA63B8EA2B}"/>
              </a:ext>
            </a:extLst>
          </p:cNvPr>
          <p:cNvSpPr txBox="1"/>
          <p:nvPr/>
        </p:nvSpPr>
        <p:spPr>
          <a:xfrm>
            <a:off x="2270876" y="5679831"/>
            <a:ext cx="6127845" cy="584775"/>
          </a:xfrm>
          <a:prstGeom prst="rect">
            <a:avLst/>
          </a:prstGeom>
          <a:noFill/>
        </p:spPr>
        <p:txBody>
          <a:bodyPr wrap="square" rtlCol="0">
            <a:spAutoFit/>
          </a:bodyPr>
          <a:lstStyle/>
          <a:p>
            <a:r>
              <a:rPr lang="zh-CN" altLang="en-US" sz="3200" b="1" dirty="0">
                <a:solidFill>
                  <a:srgbClr val="0048CE"/>
                </a:solidFill>
              </a:rPr>
              <a:t>总结</a:t>
            </a:r>
          </a:p>
        </p:txBody>
      </p:sp>
      <p:sp>
        <p:nvSpPr>
          <p:cNvPr id="3" name="矩形 2">
            <a:extLst>
              <a:ext uri="{FF2B5EF4-FFF2-40B4-BE49-F238E27FC236}">
                <a16:creationId xmlns:a16="http://schemas.microsoft.com/office/drawing/2014/main" id="{B7E56AE9-95F8-379E-7FEE-CAFC3EEBB9F3}"/>
              </a:ext>
            </a:extLst>
          </p:cNvPr>
          <p:cNvSpPr/>
          <p:nvPr/>
        </p:nvSpPr>
        <p:spPr>
          <a:xfrm>
            <a:off x="1610015" y="5900427"/>
            <a:ext cx="136026" cy="14358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徽标&#10;&#10;AI 生成的内容可能不正确。">
            <a:extLst>
              <a:ext uri="{FF2B5EF4-FFF2-40B4-BE49-F238E27FC236}">
                <a16:creationId xmlns:a16="http://schemas.microsoft.com/office/drawing/2014/main" id="{2BF7E068-C2A1-7972-04A7-A2C412CD3AF7}"/>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3670835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51BD646-838B-2071-AE7E-E2EAD94A621C}"/>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2BB2B750-3E03-C0C8-67B9-192E4B9BCEAA}"/>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12" name="矩形 11">
            <a:extLst>
              <a:ext uri="{FF2B5EF4-FFF2-40B4-BE49-F238E27FC236}">
                <a16:creationId xmlns:a16="http://schemas.microsoft.com/office/drawing/2014/main" id="{CE414B79-C6DC-2DFE-D9CD-5C62B5D5D4B1}"/>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 Placeholder 1">
            <a:extLst>
              <a:ext uri="{FF2B5EF4-FFF2-40B4-BE49-F238E27FC236}">
                <a16:creationId xmlns:a16="http://schemas.microsoft.com/office/drawing/2014/main" id="{23D3ADBF-4AFC-CCC2-9583-4CB1F2DB95B9}"/>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3/27/2026 12:38:15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989D0C88-12C8-B08E-1A88-2C340F798154}"/>
              </a:ext>
            </a:extLst>
          </p:cNvPr>
          <p:cNvSpPr txBox="1"/>
          <p:nvPr/>
        </p:nvSpPr>
        <p:spPr>
          <a:xfrm>
            <a:off x="3045093" y="2058914"/>
            <a:ext cx="6094902" cy="1015663"/>
          </a:xfrm>
          <a:prstGeom prst="rect">
            <a:avLst/>
          </a:prstGeom>
          <a:noFill/>
        </p:spPr>
        <p:txBody>
          <a:bodyPr wrap="square">
            <a:spAutoFit/>
          </a:bodyPr>
          <a:lstStyle/>
          <a:p>
            <a:pPr algn="ctr"/>
            <a:r>
              <a:rPr lang="zh-CN" altLang="en-US" sz="6000" b="1" dirty="0"/>
              <a:t>总体外观</a:t>
            </a:r>
          </a:p>
        </p:txBody>
      </p:sp>
      <p:pic>
        <p:nvPicPr>
          <p:cNvPr id="2" name="图片 1" descr="徽标&#10;&#10;AI 生成的内容可能不正确。">
            <a:extLst>
              <a:ext uri="{FF2B5EF4-FFF2-40B4-BE49-F238E27FC236}">
                <a16:creationId xmlns:a16="http://schemas.microsoft.com/office/drawing/2014/main" id="{AC93AEFF-A929-1DA4-CBA5-291C6EBAEBAE}"/>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560963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CACAC"/>
        </a:solidFill>
        <a:effectLst/>
      </p:bgPr>
    </p:bg>
    <p:spTree>
      <p:nvGrpSpPr>
        <p:cNvPr id="1" name="">
          <a:extLst>
            <a:ext uri="{FF2B5EF4-FFF2-40B4-BE49-F238E27FC236}">
              <a16:creationId xmlns:a16="http://schemas.microsoft.com/office/drawing/2014/main" id="{0310225D-3F2D-B929-89C3-FA6883211DA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58F66D8-9C85-0B6E-86F2-EF89B0FD9A30}"/>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F46D18A-D547-88A1-DF73-23FE03A6E744}"/>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7BC13CC-BC92-B8A4-C971-AD9CD444408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总体外观</a:t>
            </a:r>
          </a:p>
        </p:txBody>
      </p:sp>
      <p:pic>
        <p:nvPicPr>
          <p:cNvPr id="3" name="图片 2">
            <a:extLst>
              <a:ext uri="{FF2B5EF4-FFF2-40B4-BE49-F238E27FC236}">
                <a16:creationId xmlns:a16="http://schemas.microsoft.com/office/drawing/2014/main" id="{1DA97715-BCBA-F3EA-A629-A4100EEBDE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5282" y="1975427"/>
            <a:ext cx="3045567" cy="3987800"/>
          </a:xfrm>
          <a:prstGeom prst="rect">
            <a:avLst/>
          </a:prstGeom>
          <a:effectLst>
            <a:softEdge rad="152400"/>
          </a:effectLst>
        </p:spPr>
      </p:pic>
      <p:pic>
        <p:nvPicPr>
          <p:cNvPr id="9" name="图片 8">
            <a:extLst>
              <a:ext uri="{FF2B5EF4-FFF2-40B4-BE49-F238E27FC236}">
                <a16:creationId xmlns:a16="http://schemas.microsoft.com/office/drawing/2014/main" id="{276CDC0E-781B-C297-8C8C-BDBA59FB82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1168" y="1815152"/>
            <a:ext cx="3400674" cy="4148075"/>
          </a:xfrm>
          <a:prstGeom prst="rect">
            <a:avLst/>
          </a:prstGeom>
          <a:effectLst>
            <a:softEdge rad="228600"/>
          </a:effectLst>
        </p:spPr>
      </p:pic>
      <p:pic>
        <p:nvPicPr>
          <p:cNvPr id="11" name="图片 10">
            <a:extLst>
              <a:ext uri="{FF2B5EF4-FFF2-40B4-BE49-F238E27FC236}">
                <a16:creationId xmlns:a16="http://schemas.microsoft.com/office/drawing/2014/main" id="{89E4E6E6-6ABB-CA13-0214-3C7A33B005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5334" y="3275682"/>
            <a:ext cx="3061663" cy="2687545"/>
          </a:xfrm>
          <a:prstGeom prst="rect">
            <a:avLst/>
          </a:prstGeom>
          <a:effectLst>
            <a:softEdge rad="177800"/>
          </a:effectLst>
        </p:spPr>
      </p:pic>
      <p:pic>
        <p:nvPicPr>
          <p:cNvPr id="13" name="图片 12">
            <a:extLst>
              <a:ext uri="{FF2B5EF4-FFF2-40B4-BE49-F238E27FC236}">
                <a16:creationId xmlns:a16="http://schemas.microsoft.com/office/drawing/2014/main" id="{B29EA586-3CA7-287A-50E0-F176D88D63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72161" y="521200"/>
            <a:ext cx="2117527" cy="2647666"/>
          </a:xfrm>
          <a:prstGeom prst="rect">
            <a:avLst/>
          </a:prstGeom>
          <a:effectLst>
            <a:softEdge rad="215900"/>
          </a:effectLst>
        </p:spPr>
      </p:pic>
      <p:sp>
        <p:nvSpPr>
          <p:cNvPr id="14" name="标题 1">
            <a:extLst>
              <a:ext uri="{FF2B5EF4-FFF2-40B4-BE49-F238E27FC236}">
                <a16:creationId xmlns:a16="http://schemas.microsoft.com/office/drawing/2014/main" id="{D737D28D-3FE2-EA29-E76C-E62ABF523AE4}"/>
              </a:ext>
            </a:extLst>
          </p:cNvPr>
          <p:cNvSpPr txBox="1">
            <a:spLocks/>
          </p:cNvSpPr>
          <p:nvPr/>
        </p:nvSpPr>
        <p:spPr>
          <a:xfrm>
            <a:off x="2231406" y="6012911"/>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总体外观简洁</a:t>
            </a:r>
          </a:p>
        </p:txBody>
      </p:sp>
      <p:pic>
        <p:nvPicPr>
          <p:cNvPr id="2" name="图片 1" descr="徽标&#10;&#10;AI 生成的内容可能不正确。">
            <a:extLst>
              <a:ext uri="{FF2B5EF4-FFF2-40B4-BE49-F238E27FC236}">
                <a16:creationId xmlns:a16="http://schemas.microsoft.com/office/drawing/2014/main" id="{68A3D15D-D4F5-CA2B-6EDF-B7D96810ABFB}"/>
              </a:ext>
            </a:extLst>
          </p:cNvPr>
          <p:cNvPicPr>
            <a:picLocks/>
          </p:cNvPicPr>
          <p:nvPr/>
        </p:nvPicPr>
        <p:blipFill>
          <a:blip r:embed="rId6">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1677304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FFE7AE-0E17-1FCF-0A83-9FB145D7326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D1D4E8D0-490B-91D0-553F-306B501D1F23}"/>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6772E6A-2683-AA41-F0FD-1D46DFCB35B4}"/>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305AADA-2D60-C48B-043A-078BDE02F8EF}"/>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总体外观</a:t>
            </a:r>
          </a:p>
        </p:txBody>
      </p:sp>
      <p:sp>
        <p:nvSpPr>
          <p:cNvPr id="14" name="标题 1">
            <a:extLst>
              <a:ext uri="{FF2B5EF4-FFF2-40B4-BE49-F238E27FC236}">
                <a16:creationId xmlns:a16="http://schemas.microsoft.com/office/drawing/2014/main" id="{5C01CA0B-EEA4-BF30-BFA8-C2D71EEDB477}"/>
              </a:ext>
            </a:extLst>
          </p:cNvPr>
          <p:cNvSpPr txBox="1">
            <a:spLocks/>
          </p:cNvSpPr>
          <p:nvPr/>
        </p:nvSpPr>
        <p:spPr>
          <a:xfrm>
            <a:off x="2231406" y="6012911"/>
            <a:ext cx="7260612"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总体尺寸  （长</a:t>
            </a:r>
            <a:r>
              <a:rPr lang="en-US" altLang="zh-CN" sz="2000" b="1" dirty="0">
                <a:latin typeface="+mn-ea"/>
                <a:ea typeface="+mn-ea"/>
              </a:rPr>
              <a:t>623mm,</a:t>
            </a:r>
            <a:r>
              <a:rPr lang="zh-CN" altLang="en-US" sz="2000" b="1" dirty="0">
                <a:latin typeface="+mn-ea"/>
                <a:ea typeface="+mn-ea"/>
              </a:rPr>
              <a:t>宽</a:t>
            </a:r>
            <a:r>
              <a:rPr lang="en-US" altLang="zh-CN" sz="2000" b="1" dirty="0">
                <a:latin typeface="+mn-ea"/>
                <a:ea typeface="+mn-ea"/>
              </a:rPr>
              <a:t>480mm,</a:t>
            </a:r>
            <a:r>
              <a:rPr lang="zh-CN" altLang="en-US" sz="2000" b="1" dirty="0">
                <a:latin typeface="+mn-ea"/>
                <a:ea typeface="+mn-ea"/>
              </a:rPr>
              <a:t>高</a:t>
            </a:r>
            <a:r>
              <a:rPr lang="en-US" altLang="zh-CN" sz="2000" b="1" dirty="0">
                <a:latin typeface="+mn-ea"/>
                <a:ea typeface="+mn-ea"/>
              </a:rPr>
              <a:t>1084mm</a:t>
            </a:r>
            <a:r>
              <a:rPr lang="zh-CN" altLang="en-US" sz="2000" b="1" dirty="0">
                <a:latin typeface="+mn-ea"/>
                <a:ea typeface="+mn-ea"/>
              </a:rPr>
              <a:t>）</a:t>
            </a:r>
          </a:p>
        </p:txBody>
      </p:sp>
      <p:pic>
        <p:nvPicPr>
          <p:cNvPr id="8" name="图片 7">
            <a:extLst>
              <a:ext uri="{FF2B5EF4-FFF2-40B4-BE49-F238E27FC236}">
                <a16:creationId xmlns:a16="http://schemas.microsoft.com/office/drawing/2014/main" id="{0DBF4756-62E3-167F-246F-E6B396E433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6282" y="1325540"/>
            <a:ext cx="3267318" cy="4084148"/>
          </a:xfrm>
          <a:prstGeom prst="rect">
            <a:avLst/>
          </a:prstGeom>
        </p:spPr>
      </p:pic>
      <p:pic>
        <p:nvPicPr>
          <p:cNvPr id="12" name="图片 11">
            <a:extLst>
              <a:ext uri="{FF2B5EF4-FFF2-40B4-BE49-F238E27FC236}">
                <a16:creationId xmlns:a16="http://schemas.microsoft.com/office/drawing/2014/main" id="{930EF460-70E6-8FA1-9AE8-B1EE999DA5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7161" y="2526370"/>
            <a:ext cx="5038122" cy="2885914"/>
          </a:xfrm>
          <a:prstGeom prst="rect">
            <a:avLst/>
          </a:prstGeom>
        </p:spPr>
      </p:pic>
      <p:pic>
        <p:nvPicPr>
          <p:cNvPr id="15" name="图片 14" descr="徽标&#10;&#10;AI 生成的内容可能不正确。">
            <a:extLst>
              <a:ext uri="{FF2B5EF4-FFF2-40B4-BE49-F238E27FC236}">
                <a16:creationId xmlns:a16="http://schemas.microsoft.com/office/drawing/2014/main" id="{3C4D9C91-6A79-A519-2C9E-7087272CE005}"/>
              </a:ext>
            </a:extLst>
          </p:cNvPr>
          <p:cNvPicPr>
            <a:picLocks/>
          </p:cNvPicPr>
          <p:nvPr/>
        </p:nvPicPr>
        <p:blipFill>
          <a:blip r:embed="rId4">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1068090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EE855B-C729-1115-3371-6C3CD0D09FD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525BDB4A-98B7-4738-19D3-ADC18A1C0492}"/>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F2F4CCE-1ACD-42A3-4265-F6F40A223E89}"/>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A6D4FCE-4BA4-D132-F569-1EE368E343F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总体外观</a:t>
            </a:r>
          </a:p>
        </p:txBody>
      </p:sp>
      <p:sp>
        <p:nvSpPr>
          <p:cNvPr id="14" name="标题 1">
            <a:extLst>
              <a:ext uri="{FF2B5EF4-FFF2-40B4-BE49-F238E27FC236}">
                <a16:creationId xmlns:a16="http://schemas.microsoft.com/office/drawing/2014/main" id="{D03541D5-F679-F69E-AFC3-D508D704C25A}"/>
              </a:ext>
            </a:extLst>
          </p:cNvPr>
          <p:cNvSpPr txBox="1">
            <a:spLocks/>
          </p:cNvSpPr>
          <p:nvPr/>
        </p:nvSpPr>
        <p:spPr>
          <a:xfrm>
            <a:off x="2292821" y="4615078"/>
            <a:ext cx="5929955"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latin typeface="+mn-ea"/>
                <a:ea typeface="+mn-ea"/>
              </a:rPr>
              <a:t>1</a:t>
            </a:r>
            <a:r>
              <a:rPr lang="zh-CN" altLang="en-US" sz="2000" b="1" dirty="0">
                <a:latin typeface="+mn-ea"/>
                <a:ea typeface="+mn-ea"/>
              </a:rPr>
              <a:t>导航雷达＋</a:t>
            </a:r>
            <a:r>
              <a:rPr lang="en-US" altLang="zh-CN" sz="2000" b="1" dirty="0">
                <a:latin typeface="+mn-ea"/>
                <a:ea typeface="+mn-ea"/>
              </a:rPr>
              <a:t>1</a:t>
            </a:r>
            <a:r>
              <a:rPr lang="zh-CN" altLang="en-US" sz="2000" b="1" dirty="0">
                <a:latin typeface="+mn-ea"/>
                <a:ea typeface="+mn-ea"/>
              </a:rPr>
              <a:t>避障雷达</a:t>
            </a:r>
            <a:r>
              <a:rPr lang="en-US" altLang="zh-CN" sz="2000" b="1" dirty="0">
                <a:latin typeface="+mn-ea"/>
                <a:ea typeface="+mn-ea"/>
              </a:rPr>
              <a:t>+</a:t>
            </a:r>
            <a:r>
              <a:rPr lang="zh-CN" altLang="en-US" sz="2000" b="1" dirty="0">
                <a:latin typeface="+mn-ea"/>
                <a:ea typeface="+mn-ea"/>
              </a:rPr>
              <a:t>周身多激光雷达感知</a:t>
            </a:r>
          </a:p>
        </p:txBody>
      </p:sp>
      <p:pic>
        <p:nvPicPr>
          <p:cNvPr id="3" name="图片 2">
            <a:extLst>
              <a:ext uri="{FF2B5EF4-FFF2-40B4-BE49-F238E27FC236}">
                <a16:creationId xmlns:a16="http://schemas.microsoft.com/office/drawing/2014/main" id="{73CCD52C-CAEF-12E3-370A-472B4869B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5503" y="1311257"/>
            <a:ext cx="3844833" cy="3090145"/>
          </a:xfrm>
          <a:prstGeom prst="rect">
            <a:avLst/>
          </a:prstGeom>
        </p:spPr>
      </p:pic>
      <p:pic>
        <p:nvPicPr>
          <p:cNvPr id="13" name="图片 12">
            <a:extLst>
              <a:ext uri="{FF2B5EF4-FFF2-40B4-BE49-F238E27FC236}">
                <a16:creationId xmlns:a16="http://schemas.microsoft.com/office/drawing/2014/main" id="{BB9866A5-50C7-B7F1-BC22-1C768057A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2720" y="612373"/>
            <a:ext cx="2294928" cy="1630550"/>
          </a:xfrm>
          <a:prstGeom prst="rect">
            <a:avLst/>
          </a:prstGeom>
        </p:spPr>
      </p:pic>
      <p:pic>
        <p:nvPicPr>
          <p:cNvPr id="16" name="图片 15">
            <a:extLst>
              <a:ext uri="{FF2B5EF4-FFF2-40B4-BE49-F238E27FC236}">
                <a16:creationId xmlns:a16="http://schemas.microsoft.com/office/drawing/2014/main" id="{704F02E9-7BEF-D243-774B-AB13FF604A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8633" y="2497367"/>
            <a:ext cx="1772728" cy="1630550"/>
          </a:xfrm>
          <a:prstGeom prst="rect">
            <a:avLst/>
          </a:prstGeom>
        </p:spPr>
      </p:pic>
      <p:pic>
        <p:nvPicPr>
          <p:cNvPr id="18" name="图片 17">
            <a:extLst>
              <a:ext uri="{FF2B5EF4-FFF2-40B4-BE49-F238E27FC236}">
                <a16:creationId xmlns:a16="http://schemas.microsoft.com/office/drawing/2014/main" id="{5FC53B9E-3F92-A5B5-AF59-FDF7FC6F54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5922" y="1732962"/>
            <a:ext cx="2206781" cy="2448652"/>
          </a:xfrm>
          <a:prstGeom prst="rect">
            <a:avLst/>
          </a:prstGeom>
        </p:spPr>
      </p:pic>
      <p:sp>
        <p:nvSpPr>
          <p:cNvPr id="19" name="标题 1">
            <a:extLst>
              <a:ext uri="{FF2B5EF4-FFF2-40B4-BE49-F238E27FC236}">
                <a16:creationId xmlns:a16="http://schemas.microsoft.com/office/drawing/2014/main" id="{61E11085-7C53-1932-5A9A-CD28045DFA8C}"/>
              </a:ext>
            </a:extLst>
          </p:cNvPr>
          <p:cNvSpPr txBox="1">
            <a:spLocks/>
          </p:cNvSpPr>
          <p:nvPr/>
        </p:nvSpPr>
        <p:spPr>
          <a:xfrm>
            <a:off x="9030266" y="4615078"/>
            <a:ext cx="2025284"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多雷达感知范围</a:t>
            </a:r>
          </a:p>
        </p:txBody>
      </p:sp>
      <p:pic>
        <p:nvPicPr>
          <p:cNvPr id="2" name="图片 1" descr="徽标&#10;&#10;AI 生成的内容可能不正确。">
            <a:extLst>
              <a:ext uri="{FF2B5EF4-FFF2-40B4-BE49-F238E27FC236}">
                <a16:creationId xmlns:a16="http://schemas.microsoft.com/office/drawing/2014/main" id="{EB0B2DAF-BE3B-1AF6-5FC9-FFA1BDC3EF1B}"/>
              </a:ext>
            </a:extLst>
          </p:cNvPr>
          <p:cNvPicPr>
            <a:picLocks/>
          </p:cNvPicPr>
          <p:nvPr/>
        </p:nvPicPr>
        <p:blipFill>
          <a:blip r:embed="rId6">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823174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1D1A35-C445-3578-6D89-E97CBF0D39E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B6CDD3B-5F2A-2714-6602-76EEA56A203D}"/>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98B59511-BB6F-10ED-0980-9A1B6F7C208C}"/>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A991FD23-501D-2E0C-1145-9F37FAE3F6AA}"/>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总体外观</a:t>
            </a:r>
          </a:p>
        </p:txBody>
      </p:sp>
      <p:pic>
        <p:nvPicPr>
          <p:cNvPr id="3" name="图片 2">
            <a:extLst>
              <a:ext uri="{FF2B5EF4-FFF2-40B4-BE49-F238E27FC236}">
                <a16:creationId xmlns:a16="http://schemas.microsoft.com/office/drawing/2014/main" id="{A124BD7E-CA0D-0A52-D416-428F7AEFD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5503" y="1311257"/>
            <a:ext cx="3844833" cy="3090145"/>
          </a:xfrm>
          <a:prstGeom prst="rect">
            <a:avLst/>
          </a:prstGeom>
        </p:spPr>
      </p:pic>
      <p:sp>
        <p:nvSpPr>
          <p:cNvPr id="19" name="标题 1">
            <a:extLst>
              <a:ext uri="{FF2B5EF4-FFF2-40B4-BE49-F238E27FC236}">
                <a16:creationId xmlns:a16="http://schemas.microsoft.com/office/drawing/2014/main" id="{0F5EBE59-617F-A8F8-89DA-33CA0A6E18C4}"/>
              </a:ext>
            </a:extLst>
          </p:cNvPr>
          <p:cNvSpPr txBox="1">
            <a:spLocks/>
          </p:cNvSpPr>
          <p:nvPr/>
        </p:nvSpPr>
        <p:spPr>
          <a:xfrm>
            <a:off x="2916478" y="5009158"/>
            <a:ext cx="3042362"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导航雷达范围</a:t>
            </a:r>
            <a:r>
              <a:rPr lang="en-US" altLang="zh-CN" sz="2000" b="1" dirty="0">
                <a:latin typeface="+mn-ea"/>
                <a:ea typeface="+mn-ea"/>
              </a:rPr>
              <a:t>270</a:t>
            </a:r>
            <a:r>
              <a:rPr lang="zh-CN" altLang="en-US" sz="2000" b="1" dirty="0">
                <a:latin typeface="+mn-ea"/>
                <a:ea typeface="+mn-ea"/>
              </a:rPr>
              <a:t>度</a:t>
            </a:r>
          </a:p>
        </p:txBody>
      </p:sp>
      <p:pic>
        <p:nvPicPr>
          <p:cNvPr id="10" name="图片 9">
            <a:extLst>
              <a:ext uri="{FF2B5EF4-FFF2-40B4-BE49-F238E27FC236}">
                <a16:creationId xmlns:a16="http://schemas.microsoft.com/office/drawing/2014/main" id="{6C77CCCB-22E4-AFD1-9F16-5C9A0A5653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46" y="1311257"/>
            <a:ext cx="5123877" cy="3273443"/>
          </a:xfrm>
          <a:prstGeom prst="rect">
            <a:avLst/>
          </a:prstGeom>
        </p:spPr>
      </p:pic>
      <p:pic>
        <p:nvPicPr>
          <p:cNvPr id="11" name="图片 10" descr="徽标&#10;&#10;AI 生成的内容可能不正确。">
            <a:extLst>
              <a:ext uri="{FF2B5EF4-FFF2-40B4-BE49-F238E27FC236}">
                <a16:creationId xmlns:a16="http://schemas.microsoft.com/office/drawing/2014/main" id="{9CE2FB79-279D-BA82-112F-0EB3EEB625D4}"/>
              </a:ext>
            </a:extLst>
          </p:cNvPr>
          <p:cNvPicPr>
            <a:picLocks/>
          </p:cNvPicPr>
          <p:nvPr/>
        </p:nvPicPr>
        <p:blipFill>
          <a:blip r:embed="rId4">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1408444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DBA5E5-5BA3-95D2-2BA1-42CF2CCD7C6C}"/>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076515A-A863-ABAD-2F63-F47520BFF0B8}"/>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96A7BB2-7423-BB91-F568-3E33755D473A}"/>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5D11A824-36A5-9E9F-E734-904FE27FC6B2}"/>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内部细节</a:t>
            </a:r>
          </a:p>
        </p:txBody>
      </p:sp>
      <p:sp>
        <p:nvSpPr>
          <p:cNvPr id="14" name="标题 1">
            <a:extLst>
              <a:ext uri="{FF2B5EF4-FFF2-40B4-BE49-F238E27FC236}">
                <a16:creationId xmlns:a16="http://schemas.microsoft.com/office/drawing/2014/main" id="{326BE76E-3D6E-1CE8-53A5-FFB72EFF6162}"/>
              </a:ext>
            </a:extLst>
          </p:cNvPr>
          <p:cNvSpPr txBox="1">
            <a:spLocks/>
          </p:cNvSpPr>
          <p:nvPr/>
        </p:nvSpPr>
        <p:spPr>
          <a:xfrm>
            <a:off x="2688606" y="5212504"/>
            <a:ext cx="7260612"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此为小车具体的内部结构，用于展示重要部分后面会说明</a:t>
            </a:r>
          </a:p>
        </p:txBody>
      </p:sp>
      <p:pic>
        <p:nvPicPr>
          <p:cNvPr id="9" name="图片 8">
            <a:extLst>
              <a:ext uri="{FF2B5EF4-FFF2-40B4-BE49-F238E27FC236}">
                <a16:creationId xmlns:a16="http://schemas.microsoft.com/office/drawing/2014/main" id="{0EFF5449-28F9-D68F-D746-409E7993A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8074" y="1321607"/>
            <a:ext cx="3070796" cy="3210681"/>
          </a:xfrm>
          <a:prstGeom prst="rect">
            <a:avLst/>
          </a:prstGeom>
        </p:spPr>
      </p:pic>
      <p:pic>
        <p:nvPicPr>
          <p:cNvPr id="2" name="图片 1" descr="徽标&#10;&#10;AI 生成的内容可能不正确。">
            <a:extLst>
              <a:ext uri="{FF2B5EF4-FFF2-40B4-BE49-F238E27FC236}">
                <a16:creationId xmlns:a16="http://schemas.microsoft.com/office/drawing/2014/main" id="{C389AF4D-7DFB-5449-38B3-92FDCFD5CF8A}"/>
              </a:ext>
            </a:extLst>
          </p:cNvPr>
          <p:cNvPicPr>
            <a:picLocks/>
          </p:cNvPicPr>
          <p:nvPr/>
        </p:nvPicPr>
        <p:blipFill>
          <a:blip r:embed="rId3">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pic>
        <p:nvPicPr>
          <p:cNvPr id="5" name="图片 4">
            <a:extLst>
              <a:ext uri="{FF2B5EF4-FFF2-40B4-BE49-F238E27FC236}">
                <a16:creationId xmlns:a16="http://schemas.microsoft.com/office/drawing/2014/main" id="{C09ED18A-17DF-9CB2-015C-7CA8F5FD60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5548" y="641227"/>
            <a:ext cx="3605801" cy="4102223"/>
          </a:xfrm>
          <a:prstGeom prst="rect">
            <a:avLst/>
          </a:prstGeom>
        </p:spPr>
      </p:pic>
    </p:spTree>
    <p:extLst>
      <p:ext uri="{BB962C8B-B14F-4D97-AF65-F5344CB8AC3E}">
        <p14:creationId xmlns:p14="http://schemas.microsoft.com/office/powerpoint/2010/main" val="1743778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BB2EC7C-6960-7EFD-2B46-25A8837E5DC9}"/>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0BA7EE98-90E2-1FD3-65E1-7902690D96A1}"/>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12" name="矩形 11">
            <a:extLst>
              <a:ext uri="{FF2B5EF4-FFF2-40B4-BE49-F238E27FC236}">
                <a16:creationId xmlns:a16="http://schemas.microsoft.com/office/drawing/2014/main" id="{2E6D4E67-2C1E-AA7E-53DC-639F3FE8E002}"/>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 Placeholder 1">
            <a:extLst>
              <a:ext uri="{FF2B5EF4-FFF2-40B4-BE49-F238E27FC236}">
                <a16:creationId xmlns:a16="http://schemas.microsoft.com/office/drawing/2014/main" id="{290565C4-084A-EEF0-FDE0-2EB5E689ECC8}"/>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3/27/2026 12:38:15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AC30A862-A58D-793A-2404-8EE0017FC568}"/>
              </a:ext>
            </a:extLst>
          </p:cNvPr>
          <p:cNvSpPr txBox="1"/>
          <p:nvPr/>
        </p:nvSpPr>
        <p:spPr>
          <a:xfrm>
            <a:off x="3045093" y="2249386"/>
            <a:ext cx="6094902" cy="1015663"/>
          </a:xfrm>
          <a:prstGeom prst="rect">
            <a:avLst/>
          </a:prstGeom>
          <a:noFill/>
        </p:spPr>
        <p:txBody>
          <a:bodyPr wrap="square">
            <a:spAutoFit/>
          </a:bodyPr>
          <a:lstStyle/>
          <a:p>
            <a:pPr algn="ctr"/>
            <a:r>
              <a:rPr lang="zh-CN" altLang="en-US" sz="6000" b="1" dirty="0"/>
              <a:t>功能实现</a:t>
            </a:r>
          </a:p>
        </p:txBody>
      </p:sp>
      <p:pic>
        <p:nvPicPr>
          <p:cNvPr id="2" name="图片 1" descr="徽标&#10;&#10;AI 生成的内容可能不正确。">
            <a:extLst>
              <a:ext uri="{FF2B5EF4-FFF2-40B4-BE49-F238E27FC236}">
                <a16:creationId xmlns:a16="http://schemas.microsoft.com/office/drawing/2014/main" id="{FB90DAC1-2571-26B8-A8D1-C807F6E606FE}"/>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3488419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EF1508-55BC-1555-5CF5-FB8A0B1C17C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F3CB0D6-8C7F-1E48-0006-C2B3FB49FB8C}"/>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9F948D54-2991-1029-DF2B-A3B20BF8D257}"/>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2DFEF5B-B5EA-10A5-E026-C0815528E66A}"/>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主要功能</a:t>
            </a:r>
          </a:p>
        </p:txBody>
      </p:sp>
      <p:sp>
        <p:nvSpPr>
          <p:cNvPr id="14" name="标题 1">
            <a:extLst>
              <a:ext uri="{FF2B5EF4-FFF2-40B4-BE49-F238E27FC236}">
                <a16:creationId xmlns:a16="http://schemas.microsoft.com/office/drawing/2014/main" id="{378EE907-EF12-0E39-46F8-6C8BD0363A7C}"/>
              </a:ext>
            </a:extLst>
          </p:cNvPr>
          <p:cNvSpPr txBox="1">
            <a:spLocks/>
          </p:cNvSpPr>
          <p:nvPr/>
        </p:nvSpPr>
        <p:spPr>
          <a:xfrm>
            <a:off x="2231406" y="6012911"/>
            <a:ext cx="7260612"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000" b="1" dirty="0">
              <a:latin typeface="+mn-ea"/>
              <a:ea typeface="+mn-ea"/>
            </a:endParaRPr>
          </a:p>
        </p:txBody>
      </p:sp>
      <p:pic>
        <p:nvPicPr>
          <p:cNvPr id="3" name="图片 2">
            <a:extLst>
              <a:ext uri="{FF2B5EF4-FFF2-40B4-BE49-F238E27FC236}">
                <a16:creationId xmlns:a16="http://schemas.microsoft.com/office/drawing/2014/main" id="{971E1AF0-109A-7439-71F5-E9ACEEFBE2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6294" y="1610436"/>
            <a:ext cx="3153919" cy="3637128"/>
          </a:xfrm>
          <a:prstGeom prst="rect">
            <a:avLst/>
          </a:prstGeom>
        </p:spPr>
      </p:pic>
      <p:sp>
        <p:nvSpPr>
          <p:cNvPr id="2" name="标题 1">
            <a:extLst>
              <a:ext uri="{FF2B5EF4-FFF2-40B4-BE49-F238E27FC236}">
                <a16:creationId xmlns:a16="http://schemas.microsoft.com/office/drawing/2014/main" id="{7F832AAD-2FEE-30E3-1DF7-C08C5232C7B5}"/>
              </a:ext>
            </a:extLst>
          </p:cNvPr>
          <p:cNvSpPr txBox="1">
            <a:spLocks/>
          </p:cNvSpPr>
          <p:nvPr/>
        </p:nvSpPr>
        <p:spPr>
          <a:xfrm>
            <a:off x="6096000" y="537328"/>
            <a:ext cx="4412506" cy="5433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000" b="1" dirty="0">
              <a:latin typeface="+mn-ea"/>
              <a:ea typeface="+mn-ea"/>
            </a:endParaRPr>
          </a:p>
        </p:txBody>
      </p:sp>
      <p:sp>
        <p:nvSpPr>
          <p:cNvPr id="8" name="标题 1">
            <a:extLst>
              <a:ext uri="{FF2B5EF4-FFF2-40B4-BE49-F238E27FC236}">
                <a16:creationId xmlns:a16="http://schemas.microsoft.com/office/drawing/2014/main" id="{26E960A5-851F-0E2C-24CD-6C6F98C315E5}"/>
              </a:ext>
            </a:extLst>
          </p:cNvPr>
          <p:cNvSpPr txBox="1">
            <a:spLocks/>
          </p:cNvSpPr>
          <p:nvPr/>
        </p:nvSpPr>
        <p:spPr>
          <a:xfrm>
            <a:off x="5165889" y="1420671"/>
            <a:ext cx="6730738" cy="43566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智能迎宾与引导</a:t>
            </a:r>
            <a:endParaRPr lang="en-US" altLang="zh-CN" sz="2000" b="1" dirty="0">
              <a:latin typeface="+mn-ea"/>
              <a:ea typeface="+mn-ea"/>
            </a:endParaRPr>
          </a:p>
          <a:p>
            <a:pPr marL="457200" indent="-457200">
              <a:buAutoNum type="arabicPeriod"/>
            </a:pPr>
            <a:endParaRPr lang="en-US" altLang="zh-CN" sz="2000" b="1" dirty="0">
              <a:latin typeface="+mn-ea"/>
              <a:ea typeface="+mn-ea"/>
            </a:endParaRPr>
          </a:p>
          <a:p>
            <a:pPr>
              <a:lnSpc>
                <a:spcPct val="120000"/>
              </a:lnSpc>
            </a:pPr>
            <a:r>
              <a:rPr lang="zh-CN" altLang="en-US" sz="2000" b="1" dirty="0">
                <a:latin typeface="+mn-ea"/>
                <a:ea typeface="+mn-ea"/>
              </a:rPr>
              <a:t>信息查询与交互</a:t>
            </a:r>
            <a:endParaRPr lang="en-US" altLang="zh-CN" sz="2000" b="1" dirty="0">
              <a:latin typeface="+mn-ea"/>
              <a:ea typeface="+mn-ea"/>
            </a:endParaRPr>
          </a:p>
          <a:p>
            <a:pPr marL="457200" indent="-457200">
              <a:lnSpc>
                <a:spcPct val="120000"/>
              </a:lnSpc>
              <a:buAutoNum type="arabicPeriod"/>
            </a:pPr>
            <a:endParaRPr lang="en-US" altLang="zh-CN" sz="2000" b="1" dirty="0">
              <a:latin typeface="+mn-ea"/>
              <a:ea typeface="+mn-ea"/>
            </a:endParaRPr>
          </a:p>
          <a:p>
            <a:pPr>
              <a:lnSpc>
                <a:spcPct val="120000"/>
              </a:lnSpc>
            </a:pPr>
            <a:r>
              <a:rPr lang="zh-CN" altLang="en-US" sz="2000" b="1" dirty="0">
                <a:latin typeface="+mn-ea"/>
                <a:ea typeface="+mn-ea"/>
              </a:rPr>
              <a:t>自主导航与避障。</a:t>
            </a:r>
            <a:endParaRPr lang="en-US" altLang="zh-CN" sz="2000" b="1" dirty="0">
              <a:latin typeface="+mn-ea"/>
              <a:ea typeface="+mn-ea"/>
            </a:endParaRPr>
          </a:p>
          <a:p>
            <a:pPr marL="457200" indent="-457200">
              <a:lnSpc>
                <a:spcPct val="120000"/>
              </a:lnSpc>
              <a:buAutoNum type="arabicPeriod"/>
            </a:pPr>
            <a:endParaRPr lang="en-US" altLang="zh-CN" sz="2000" b="1" dirty="0">
              <a:latin typeface="+mn-ea"/>
              <a:ea typeface="+mn-ea"/>
            </a:endParaRPr>
          </a:p>
          <a:p>
            <a:pPr>
              <a:lnSpc>
                <a:spcPct val="110000"/>
              </a:lnSpc>
            </a:pPr>
            <a:r>
              <a:rPr lang="zh-CN" altLang="en-US" sz="2000" b="1" dirty="0">
                <a:latin typeface="+mn-ea"/>
                <a:ea typeface="+mn-ea"/>
              </a:rPr>
              <a:t>后台管理与数据化运营</a:t>
            </a:r>
            <a:endParaRPr lang="en-US" altLang="zh-CN" sz="2000" b="1" dirty="0">
              <a:latin typeface="+mn-ea"/>
              <a:ea typeface="+mn-ea"/>
            </a:endParaRPr>
          </a:p>
          <a:p>
            <a:pPr>
              <a:lnSpc>
                <a:spcPct val="120000"/>
              </a:lnSpc>
            </a:pPr>
            <a:endParaRPr lang="en-US" altLang="zh-CN" sz="2000" b="1" dirty="0">
              <a:latin typeface="+mn-ea"/>
              <a:ea typeface="+mn-ea"/>
            </a:endParaRPr>
          </a:p>
          <a:p>
            <a:pPr>
              <a:lnSpc>
                <a:spcPct val="120000"/>
              </a:lnSpc>
            </a:pPr>
            <a:r>
              <a:rPr lang="zh-CN" altLang="en-US" sz="2000" b="1" dirty="0">
                <a:latin typeface="+mn-ea"/>
                <a:ea typeface="+mn-ea"/>
              </a:rPr>
              <a:t>信息展示与播报</a:t>
            </a:r>
            <a:endParaRPr lang="en-US" altLang="zh-CN" sz="2000" b="1" dirty="0">
              <a:latin typeface="+mn-ea"/>
              <a:ea typeface="+mn-ea"/>
            </a:endParaRPr>
          </a:p>
          <a:p>
            <a:pPr marL="457200" indent="-457200">
              <a:lnSpc>
                <a:spcPct val="120000"/>
              </a:lnSpc>
              <a:buAutoNum type="arabicPeriod"/>
            </a:pPr>
            <a:endParaRPr lang="en-US" altLang="zh-CN" sz="2000" b="1" dirty="0">
              <a:latin typeface="+mn-ea"/>
              <a:ea typeface="+mn-ea"/>
            </a:endParaRPr>
          </a:p>
          <a:p>
            <a:r>
              <a:rPr lang="zh-CN" altLang="en-US" sz="2000" b="1" dirty="0">
                <a:latin typeface="+mn-ea"/>
                <a:ea typeface="+mn-ea"/>
              </a:rPr>
              <a:t>人脸识别交互等</a:t>
            </a:r>
            <a:endParaRPr lang="en-US" altLang="zh-CN" sz="2000" b="1" dirty="0">
              <a:latin typeface="+mn-ea"/>
              <a:ea typeface="+mn-ea"/>
            </a:endParaRPr>
          </a:p>
          <a:p>
            <a:pPr marL="457200" indent="-457200">
              <a:buAutoNum type="arabicPeriod"/>
            </a:pPr>
            <a:endParaRPr lang="en-US" altLang="zh-CN" sz="2000" b="1" dirty="0">
              <a:latin typeface="+mn-ea"/>
              <a:ea typeface="+mn-ea"/>
            </a:endParaRPr>
          </a:p>
          <a:p>
            <a:pPr marL="457200" indent="-457200">
              <a:buAutoNum type="arabicPeriod"/>
            </a:pPr>
            <a:endParaRPr lang="en-US" altLang="zh-CN" sz="2000" b="1" dirty="0">
              <a:latin typeface="+mn-ea"/>
              <a:ea typeface="+mn-ea"/>
            </a:endParaRPr>
          </a:p>
          <a:p>
            <a:pPr marL="457200" indent="-457200">
              <a:buAutoNum type="arabicPeriod"/>
            </a:pPr>
            <a:endParaRPr lang="zh-CN" altLang="en-US" sz="2000" b="1" dirty="0">
              <a:latin typeface="+mn-ea"/>
              <a:ea typeface="+mn-ea"/>
            </a:endParaRPr>
          </a:p>
        </p:txBody>
      </p:sp>
      <p:pic>
        <p:nvPicPr>
          <p:cNvPr id="9" name="图片 8" descr="徽标&#10;&#10;AI 生成的内容可能不正确。">
            <a:extLst>
              <a:ext uri="{FF2B5EF4-FFF2-40B4-BE49-F238E27FC236}">
                <a16:creationId xmlns:a16="http://schemas.microsoft.com/office/drawing/2014/main" id="{0BF99A50-CB2B-83C7-AC69-6D558DDC5567}"/>
              </a:ext>
            </a:extLst>
          </p:cNvPr>
          <p:cNvPicPr>
            <a:picLocks/>
          </p:cNvPicPr>
          <p:nvPr/>
        </p:nvPicPr>
        <p:blipFill>
          <a:blip r:embed="rId3">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333395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4A9943F7-FF7B-14BC-5D5B-E86E7AD87B9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0B697EE-F5C7-737E-7F7B-FDEC4321558F}"/>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A8121D9-D0CC-A820-8E84-520232E33409}"/>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0A3E7165-40EC-0D64-096C-B1EFAE45CF40}"/>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功能实现</a:t>
            </a:r>
          </a:p>
        </p:txBody>
      </p:sp>
      <p:pic>
        <p:nvPicPr>
          <p:cNvPr id="3" name="图片 2">
            <a:extLst>
              <a:ext uri="{FF2B5EF4-FFF2-40B4-BE49-F238E27FC236}">
                <a16:creationId xmlns:a16="http://schemas.microsoft.com/office/drawing/2014/main" id="{8446D985-B698-4FC7-BE55-0547ADB984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4524" y="1600200"/>
            <a:ext cx="2669997" cy="2933700"/>
          </a:xfrm>
          <a:prstGeom prst="rect">
            <a:avLst/>
          </a:prstGeom>
        </p:spPr>
      </p:pic>
      <p:sp>
        <p:nvSpPr>
          <p:cNvPr id="9" name="文本框 8">
            <a:extLst>
              <a:ext uri="{FF2B5EF4-FFF2-40B4-BE49-F238E27FC236}">
                <a16:creationId xmlns:a16="http://schemas.microsoft.com/office/drawing/2014/main" id="{8655DE06-E8F9-0FC8-41D6-27DE79755404}"/>
              </a:ext>
            </a:extLst>
          </p:cNvPr>
          <p:cNvSpPr txBox="1"/>
          <p:nvPr/>
        </p:nvSpPr>
        <p:spPr>
          <a:xfrm>
            <a:off x="5604562" y="2215001"/>
            <a:ext cx="5101538" cy="3970318"/>
          </a:xfrm>
          <a:prstGeom prst="rect">
            <a:avLst/>
          </a:prstGeom>
          <a:noFill/>
        </p:spPr>
        <p:txBody>
          <a:bodyPr wrap="square">
            <a:spAutoFit/>
          </a:bodyPr>
          <a:lstStyle/>
          <a:p>
            <a:pPr marL="457200" indent="-457200">
              <a:buAutoNum type="arabicPeriod"/>
            </a:pPr>
            <a:r>
              <a:rPr lang="zh-CN" altLang="en-US" sz="1800" b="1" dirty="0">
                <a:latin typeface="+mn-ea"/>
                <a:ea typeface="+mn-ea"/>
              </a:rPr>
              <a:t>智能迎宾与引导 </a:t>
            </a:r>
            <a:endParaRPr lang="en-US" altLang="zh-CN" sz="1800" b="1" dirty="0">
              <a:latin typeface="+mn-ea"/>
              <a:ea typeface="+mn-ea"/>
            </a:endParaRPr>
          </a:p>
          <a:p>
            <a:endParaRPr lang="en-US" altLang="zh-CN" sz="1800" b="1" dirty="0">
              <a:latin typeface="+mn-ea"/>
              <a:ea typeface="+mn-ea"/>
            </a:endParaRPr>
          </a:p>
          <a:p>
            <a:r>
              <a:rPr lang="zh-CN" altLang="en-US" b="1" dirty="0">
                <a:latin typeface="+mn-ea"/>
              </a:rPr>
              <a:t>内置微型主机 </a:t>
            </a:r>
            <a:r>
              <a:rPr lang="en-US" altLang="zh-CN" b="1" dirty="0">
                <a:latin typeface="+mn-ea"/>
              </a:rPr>
              <a:t>7840hs </a:t>
            </a:r>
            <a:r>
              <a:rPr lang="zh-CN" altLang="en-US" b="1" dirty="0">
                <a:latin typeface="+mn-ea"/>
              </a:rPr>
              <a:t>性能强大可以进行智能迎宾与引导的软件部署和调试 同时默频运行符合小车内部闷罐极端环境</a:t>
            </a:r>
            <a:endParaRPr lang="en-US" altLang="zh-CN" b="1" dirty="0">
              <a:latin typeface="+mn-ea"/>
            </a:endParaRPr>
          </a:p>
          <a:p>
            <a:endParaRPr lang="en-US" altLang="zh-CN" b="1" dirty="0">
              <a:latin typeface="+mn-ea"/>
            </a:endParaRPr>
          </a:p>
          <a:p>
            <a:endParaRPr lang="en-US" altLang="zh-CN" b="1" dirty="0">
              <a:latin typeface="+mn-ea"/>
            </a:endParaRPr>
          </a:p>
          <a:p>
            <a:endParaRPr lang="en-US" altLang="zh-CN" b="1" dirty="0">
              <a:latin typeface="+mn-ea"/>
            </a:endParaRPr>
          </a:p>
          <a:p>
            <a:endParaRPr lang="en-US" altLang="zh-CN" b="1" dirty="0">
              <a:latin typeface="+mn-ea"/>
            </a:endParaRPr>
          </a:p>
          <a:p>
            <a:endParaRPr lang="en-US" altLang="zh-CN" b="1" dirty="0">
              <a:latin typeface="+mn-ea"/>
            </a:endParaRPr>
          </a:p>
          <a:p>
            <a:r>
              <a:rPr lang="zh-CN" altLang="en-US" b="1" dirty="0">
                <a:latin typeface="+mn-ea"/>
              </a:rPr>
              <a:t>前置避障雷达对该高度范围内的障碍实现有效避障</a:t>
            </a:r>
            <a:endParaRPr lang="en-US" altLang="zh-CN" b="1" dirty="0">
              <a:latin typeface="+mn-ea"/>
            </a:endParaRPr>
          </a:p>
          <a:p>
            <a:endParaRPr lang="en-US" altLang="zh-CN" sz="1800" b="1" dirty="0">
              <a:latin typeface="+mn-ea"/>
              <a:ea typeface="+mn-ea"/>
            </a:endParaRPr>
          </a:p>
          <a:p>
            <a:endParaRPr lang="en-US" altLang="zh-CN" sz="1800" b="1" dirty="0">
              <a:latin typeface="+mn-ea"/>
              <a:ea typeface="+mn-ea"/>
            </a:endParaRPr>
          </a:p>
        </p:txBody>
      </p:sp>
      <p:pic>
        <p:nvPicPr>
          <p:cNvPr id="11" name="图片 10">
            <a:extLst>
              <a:ext uri="{FF2B5EF4-FFF2-40B4-BE49-F238E27FC236}">
                <a16:creationId xmlns:a16="http://schemas.microsoft.com/office/drawing/2014/main" id="{91FF3FA3-3E19-65BA-9C6C-35FB603C8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9382" y="4604320"/>
            <a:ext cx="1847024" cy="2056368"/>
          </a:xfrm>
          <a:prstGeom prst="rect">
            <a:avLst/>
          </a:prstGeom>
        </p:spPr>
      </p:pic>
      <p:pic>
        <p:nvPicPr>
          <p:cNvPr id="2" name="图片 1" descr="徽标&#10;&#10;AI 生成的内容可能不正确。">
            <a:extLst>
              <a:ext uri="{FF2B5EF4-FFF2-40B4-BE49-F238E27FC236}">
                <a16:creationId xmlns:a16="http://schemas.microsoft.com/office/drawing/2014/main" id="{FA96F2E3-4973-7713-3D9A-FC522DA5970C}"/>
              </a:ext>
            </a:extLst>
          </p:cNvPr>
          <p:cNvPicPr>
            <a:picLocks/>
          </p:cNvPicPr>
          <p:nvPr/>
        </p:nvPicPr>
        <p:blipFill>
          <a:blip r:embed="rId4">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33489165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82A03F8C-C045-90F0-A222-070B3578755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C1B2792-69C3-C466-E7EA-417A80EC82BB}"/>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841BCEB-F417-F8EE-344B-EB83CCF99B93}"/>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3A80A810-8913-F220-68A6-39FB751BF7F0}"/>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功能实现</a:t>
            </a:r>
          </a:p>
        </p:txBody>
      </p:sp>
      <p:sp>
        <p:nvSpPr>
          <p:cNvPr id="9" name="文本框 8">
            <a:extLst>
              <a:ext uri="{FF2B5EF4-FFF2-40B4-BE49-F238E27FC236}">
                <a16:creationId xmlns:a16="http://schemas.microsoft.com/office/drawing/2014/main" id="{75C6B342-5627-31DD-A1E8-BB9E6CE8CE36}"/>
              </a:ext>
            </a:extLst>
          </p:cNvPr>
          <p:cNvSpPr txBox="1"/>
          <p:nvPr/>
        </p:nvSpPr>
        <p:spPr>
          <a:xfrm>
            <a:off x="5452162" y="989451"/>
            <a:ext cx="5101538" cy="5410712"/>
          </a:xfrm>
          <a:prstGeom prst="rect">
            <a:avLst/>
          </a:prstGeom>
          <a:noFill/>
        </p:spPr>
        <p:txBody>
          <a:bodyPr wrap="square">
            <a:spAutoFit/>
          </a:bodyPr>
          <a:lstStyle/>
          <a:p>
            <a:pPr>
              <a:lnSpc>
                <a:spcPct val="120000"/>
              </a:lnSpc>
            </a:pPr>
            <a:r>
              <a:rPr lang="en-US" altLang="zh-CN" b="1" dirty="0">
                <a:latin typeface="+mn-ea"/>
              </a:rPr>
              <a:t>2.  </a:t>
            </a:r>
            <a:r>
              <a:rPr lang="zh-CN" altLang="en-US" b="1" dirty="0">
                <a:latin typeface="+mn-ea"/>
              </a:rPr>
              <a:t>信息查询与交互</a:t>
            </a:r>
            <a:endParaRPr lang="en-US" altLang="zh-CN" b="1" dirty="0">
              <a:latin typeface="+mn-ea"/>
            </a:endParaRPr>
          </a:p>
          <a:p>
            <a:endParaRPr lang="en-US" altLang="zh-CN" sz="1800" b="1" dirty="0">
              <a:latin typeface="+mn-ea"/>
              <a:ea typeface="+mn-ea"/>
            </a:endParaRPr>
          </a:p>
          <a:p>
            <a:r>
              <a:rPr lang="zh-CN" altLang="en-US" b="1" dirty="0">
                <a:latin typeface="+mn-ea"/>
              </a:rPr>
              <a:t>内置大屏，满足信息查询和交互需求</a:t>
            </a:r>
            <a:endParaRPr lang="en-US" altLang="zh-CN" b="1" dirty="0">
              <a:latin typeface="+mn-ea"/>
            </a:endParaRPr>
          </a:p>
          <a:p>
            <a:endParaRPr lang="en-US" altLang="zh-CN" b="1" dirty="0">
              <a:latin typeface="+mn-ea"/>
            </a:endParaRPr>
          </a:p>
          <a:p>
            <a:r>
              <a:rPr lang="zh-CN" altLang="en-US" b="1" dirty="0">
                <a:latin typeface="+mn-ea"/>
              </a:rPr>
              <a:t>该方案使用透明屏幕，观感上更为通透</a:t>
            </a:r>
            <a:endParaRPr lang="en-US" altLang="zh-CN" b="1" dirty="0">
              <a:latin typeface="+mn-ea"/>
            </a:endParaRPr>
          </a:p>
          <a:p>
            <a:endParaRPr lang="en-US" altLang="zh-CN" b="1" dirty="0">
              <a:latin typeface="+mn-ea"/>
            </a:endParaRPr>
          </a:p>
          <a:p>
            <a:endParaRPr lang="en-US" altLang="zh-CN" b="1" dirty="0">
              <a:latin typeface="+mn-ea"/>
            </a:endParaRPr>
          </a:p>
          <a:p>
            <a:r>
              <a:rPr lang="zh-CN" altLang="en-US" b="1" dirty="0">
                <a:latin typeface="+mn-ea"/>
              </a:rPr>
              <a:t>屏幕大小为</a:t>
            </a:r>
            <a:r>
              <a:rPr lang="en-US" altLang="zh-CN" b="1" dirty="0">
                <a:latin typeface="+mn-ea"/>
              </a:rPr>
              <a:t>381x679</a:t>
            </a:r>
          </a:p>
          <a:p>
            <a:r>
              <a:rPr lang="zh-CN" altLang="en-US" b="1" dirty="0">
                <a:latin typeface="+mn-ea"/>
              </a:rPr>
              <a:t>（屏幕不可触屏交互一般使用语音）</a:t>
            </a:r>
            <a:endParaRPr lang="en-US" altLang="zh-CN" b="1" dirty="0">
              <a:latin typeface="+mn-ea"/>
            </a:endParaRPr>
          </a:p>
          <a:p>
            <a:r>
              <a:rPr lang="zh-CN" altLang="en-US" b="1" dirty="0">
                <a:latin typeface="+mn-ea"/>
              </a:rPr>
              <a:t>同时设计使用麦克风进行语音交互</a:t>
            </a:r>
            <a:endParaRPr lang="en-US" altLang="zh-CN" b="1" dirty="0">
              <a:latin typeface="+mn-ea"/>
            </a:endParaRPr>
          </a:p>
          <a:p>
            <a:endParaRPr lang="en-US" altLang="zh-CN" b="1" dirty="0">
              <a:latin typeface="+mn-ea"/>
            </a:endParaRPr>
          </a:p>
          <a:p>
            <a:endParaRPr lang="en-US" altLang="zh-CN" b="1" dirty="0">
              <a:latin typeface="+mn-ea"/>
            </a:endParaRPr>
          </a:p>
          <a:p>
            <a:endParaRPr lang="en-US" altLang="zh-CN" b="1" dirty="0">
              <a:latin typeface="+mn-ea"/>
            </a:endParaRPr>
          </a:p>
          <a:p>
            <a:endParaRPr lang="en-US" altLang="zh-CN" b="1" dirty="0">
              <a:latin typeface="+mn-ea"/>
            </a:endParaRPr>
          </a:p>
          <a:p>
            <a:r>
              <a:rPr lang="zh-CN" altLang="en-US" b="1" dirty="0">
                <a:latin typeface="+mn-ea"/>
              </a:rPr>
              <a:t>屏幕上可以根据软件需求添加简单的数字人</a:t>
            </a:r>
            <a:endParaRPr lang="en-US" altLang="zh-CN" b="1" dirty="0">
              <a:latin typeface="+mn-ea"/>
            </a:endParaRPr>
          </a:p>
          <a:p>
            <a:r>
              <a:rPr lang="zh-CN" altLang="en-US" b="1" dirty="0">
                <a:latin typeface="+mn-ea"/>
              </a:rPr>
              <a:t>与语音交互和音响实现类似与人交流的场景</a:t>
            </a:r>
            <a:endParaRPr lang="en-US" altLang="zh-CN" b="1" dirty="0">
              <a:latin typeface="+mn-ea"/>
            </a:endParaRPr>
          </a:p>
          <a:p>
            <a:endParaRPr lang="en-US" altLang="zh-CN" b="1" dirty="0">
              <a:latin typeface="+mn-ea"/>
            </a:endParaRPr>
          </a:p>
          <a:p>
            <a:endParaRPr lang="en-US" altLang="zh-CN" sz="1800" b="1" dirty="0">
              <a:latin typeface="+mn-ea"/>
              <a:ea typeface="+mn-ea"/>
            </a:endParaRPr>
          </a:p>
          <a:p>
            <a:endParaRPr lang="en-US" altLang="zh-CN" sz="1800" b="1" dirty="0">
              <a:latin typeface="+mn-ea"/>
              <a:ea typeface="+mn-ea"/>
            </a:endParaRPr>
          </a:p>
        </p:txBody>
      </p:sp>
      <p:pic>
        <p:nvPicPr>
          <p:cNvPr id="13" name="图片 12">
            <a:extLst>
              <a:ext uri="{FF2B5EF4-FFF2-40B4-BE49-F238E27FC236}">
                <a16:creationId xmlns:a16="http://schemas.microsoft.com/office/drawing/2014/main" id="{1F698753-396B-94FD-0506-352CA1C64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1406" y="864865"/>
            <a:ext cx="2958875" cy="3036449"/>
          </a:xfrm>
          <a:prstGeom prst="rect">
            <a:avLst/>
          </a:prstGeom>
        </p:spPr>
      </p:pic>
      <p:pic>
        <p:nvPicPr>
          <p:cNvPr id="16" name="图片 15" descr="徽标&#10;&#10;AI 生成的内容可能不正确。">
            <a:extLst>
              <a:ext uri="{FF2B5EF4-FFF2-40B4-BE49-F238E27FC236}">
                <a16:creationId xmlns:a16="http://schemas.microsoft.com/office/drawing/2014/main" id="{0EBA6490-3628-EEFE-4E69-84BE9D5C123C}"/>
              </a:ext>
            </a:extLst>
          </p:cNvPr>
          <p:cNvPicPr>
            <a:picLocks/>
          </p:cNvPicPr>
          <p:nvPr/>
        </p:nvPicPr>
        <p:blipFill>
          <a:blip r:embed="rId3">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pic>
        <p:nvPicPr>
          <p:cNvPr id="5" name="图片 4">
            <a:extLst>
              <a:ext uri="{FF2B5EF4-FFF2-40B4-BE49-F238E27FC236}">
                <a16:creationId xmlns:a16="http://schemas.microsoft.com/office/drawing/2014/main" id="{9AF55897-A14E-F430-EE8C-F50A2A10673A}"/>
              </a:ext>
            </a:extLst>
          </p:cNvPr>
          <p:cNvPicPr>
            <a:picLocks noChangeAspect="1"/>
          </p:cNvPicPr>
          <p:nvPr/>
        </p:nvPicPr>
        <p:blipFill>
          <a:blip r:embed="rId4"/>
          <a:stretch>
            <a:fillRect/>
          </a:stretch>
        </p:blipFill>
        <p:spPr>
          <a:xfrm>
            <a:off x="2202099" y="4093850"/>
            <a:ext cx="2146101" cy="2566838"/>
          </a:xfrm>
          <a:prstGeom prst="rect">
            <a:avLst/>
          </a:prstGeom>
        </p:spPr>
      </p:pic>
    </p:spTree>
    <p:extLst>
      <p:ext uri="{BB962C8B-B14F-4D97-AF65-F5344CB8AC3E}">
        <p14:creationId xmlns:p14="http://schemas.microsoft.com/office/powerpoint/2010/main" val="3679176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0DF03016-CC39-7DFA-5A09-2CC2AF93A93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65BFABD-7D5F-8BE5-15AA-B807E052D736}"/>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47202CF-C20B-5EA7-0C86-9BFC7CF05420}"/>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AAD5BDD-E2FD-FE00-9F32-DB7985A2FC32}"/>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功能实现</a:t>
            </a:r>
          </a:p>
        </p:txBody>
      </p:sp>
      <p:sp>
        <p:nvSpPr>
          <p:cNvPr id="9" name="文本框 8">
            <a:extLst>
              <a:ext uri="{FF2B5EF4-FFF2-40B4-BE49-F238E27FC236}">
                <a16:creationId xmlns:a16="http://schemas.microsoft.com/office/drawing/2014/main" id="{5596D039-25CF-6D0C-3318-E37808D679F6}"/>
              </a:ext>
            </a:extLst>
          </p:cNvPr>
          <p:cNvSpPr txBox="1"/>
          <p:nvPr/>
        </p:nvSpPr>
        <p:spPr>
          <a:xfrm>
            <a:off x="3271306" y="1446651"/>
            <a:ext cx="7206194" cy="3471720"/>
          </a:xfrm>
          <a:prstGeom prst="rect">
            <a:avLst/>
          </a:prstGeom>
          <a:noFill/>
        </p:spPr>
        <p:txBody>
          <a:bodyPr wrap="square">
            <a:spAutoFit/>
          </a:bodyPr>
          <a:lstStyle/>
          <a:p>
            <a:pPr>
              <a:lnSpc>
                <a:spcPct val="120000"/>
              </a:lnSpc>
            </a:pPr>
            <a:r>
              <a:rPr lang="en-US" altLang="zh-CN" b="1" dirty="0">
                <a:latin typeface="+mn-ea"/>
              </a:rPr>
              <a:t>3.  </a:t>
            </a:r>
            <a:r>
              <a:rPr lang="zh-CN" altLang="en-US" b="1" dirty="0">
                <a:latin typeface="+mn-ea"/>
              </a:rPr>
              <a:t>自主导航与避障。</a:t>
            </a:r>
            <a:endParaRPr lang="en-US" altLang="zh-CN" b="1" dirty="0">
              <a:latin typeface="+mn-ea"/>
            </a:endParaRPr>
          </a:p>
          <a:p>
            <a:endParaRPr lang="en-US" altLang="zh-CN" sz="1800" b="1" dirty="0">
              <a:latin typeface="+mn-ea"/>
              <a:ea typeface="+mn-ea"/>
            </a:endParaRPr>
          </a:p>
          <a:p>
            <a:r>
              <a:rPr lang="zh-CN" altLang="en-US" b="1" dirty="0">
                <a:latin typeface="+mn-ea"/>
              </a:rPr>
              <a:t>机身遍布避障雷达，配合导航雷达实现感知无盲区 </a:t>
            </a:r>
            <a:endParaRPr lang="en-US" altLang="zh-CN" b="1" dirty="0">
              <a:latin typeface="+mn-ea"/>
            </a:endParaRPr>
          </a:p>
          <a:p>
            <a:endParaRPr lang="en-US" altLang="zh-CN" b="1" dirty="0">
              <a:latin typeface="+mn-ea"/>
            </a:endParaRPr>
          </a:p>
          <a:p>
            <a:r>
              <a:rPr lang="zh-CN" altLang="en-US" b="1" dirty="0">
                <a:latin typeface="+mn-ea"/>
              </a:rPr>
              <a:t>同时未来可以加入摄像头辅助识别 摄像头为双目摄像头，可以对环境进行深度感知</a:t>
            </a:r>
            <a:endParaRPr lang="en-US" altLang="zh-CN" b="1" dirty="0">
              <a:latin typeface="+mn-ea"/>
            </a:endParaRPr>
          </a:p>
          <a:p>
            <a:endParaRPr lang="en-US" altLang="zh-CN" b="1" dirty="0">
              <a:latin typeface="+mn-ea"/>
            </a:endParaRPr>
          </a:p>
          <a:p>
            <a:r>
              <a:rPr lang="zh-CN" altLang="en-US" b="1" dirty="0">
                <a:latin typeface="+mn-ea"/>
              </a:rPr>
              <a:t>                                     已有的双目摄像头提供人脸识别验证等功能</a:t>
            </a:r>
            <a:endParaRPr lang="en-US" altLang="zh-CN" b="1" dirty="0">
              <a:latin typeface="+mn-ea"/>
            </a:endParaRPr>
          </a:p>
          <a:p>
            <a:endParaRPr lang="en-US" altLang="zh-CN" b="1" dirty="0">
              <a:latin typeface="+mn-ea"/>
            </a:endParaRPr>
          </a:p>
          <a:p>
            <a:endParaRPr lang="en-US" altLang="zh-CN" b="1" dirty="0">
              <a:latin typeface="+mn-ea"/>
            </a:endParaRPr>
          </a:p>
          <a:p>
            <a:endParaRPr lang="en-US" altLang="zh-CN" sz="1800" b="1" dirty="0">
              <a:latin typeface="+mn-ea"/>
              <a:ea typeface="+mn-ea"/>
            </a:endParaRPr>
          </a:p>
          <a:p>
            <a:endParaRPr lang="en-US" altLang="zh-CN" sz="1800" b="1" dirty="0">
              <a:latin typeface="+mn-ea"/>
              <a:ea typeface="+mn-ea"/>
            </a:endParaRPr>
          </a:p>
        </p:txBody>
      </p:sp>
      <p:pic>
        <p:nvPicPr>
          <p:cNvPr id="3" name="图片 2">
            <a:extLst>
              <a:ext uri="{FF2B5EF4-FFF2-40B4-BE49-F238E27FC236}">
                <a16:creationId xmlns:a16="http://schemas.microsoft.com/office/drawing/2014/main" id="{7A0C153F-91C6-75C4-109C-6C22810EC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1112" y="3429000"/>
            <a:ext cx="2337518" cy="2914650"/>
          </a:xfrm>
          <a:prstGeom prst="rect">
            <a:avLst/>
          </a:prstGeom>
        </p:spPr>
      </p:pic>
      <p:pic>
        <p:nvPicPr>
          <p:cNvPr id="10" name="图片 9">
            <a:extLst>
              <a:ext uri="{FF2B5EF4-FFF2-40B4-BE49-F238E27FC236}">
                <a16:creationId xmlns:a16="http://schemas.microsoft.com/office/drawing/2014/main" id="{E070348F-FC68-2C41-7471-A6E2FF715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4403" y="4072734"/>
            <a:ext cx="2704297" cy="2270916"/>
          </a:xfrm>
          <a:prstGeom prst="rect">
            <a:avLst/>
          </a:prstGeom>
        </p:spPr>
      </p:pic>
      <p:pic>
        <p:nvPicPr>
          <p:cNvPr id="11" name="图片 10" descr="徽标&#10;&#10;AI 生成的内容可能不正确。">
            <a:extLst>
              <a:ext uri="{FF2B5EF4-FFF2-40B4-BE49-F238E27FC236}">
                <a16:creationId xmlns:a16="http://schemas.microsoft.com/office/drawing/2014/main" id="{53C75DC3-2245-0B22-6DE7-2122543525A9}"/>
              </a:ext>
            </a:extLst>
          </p:cNvPr>
          <p:cNvPicPr>
            <a:picLocks/>
          </p:cNvPicPr>
          <p:nvPr/>
        </p:nvPicPr>
        <p:blipFill>
          <a:blip r:embed="rId4">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597333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D2313B3-C76D-A930-9142-C24DA1AE94C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A80B5D5-9F21-5B16-4B05-10053609A628}"/>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0636BC4-A9E0-D45A-1431-E558EDC2B5D4}"/>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F4A9E6E-4456-0512-3686-BCB8FD7F59CD}"/>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功能实现</a:t>
            </a:r>
          </a:p>
        </p:txBody>
      </p:sp>
      <p:sp>
        <p:nvSpPr>
          <p:cNvPr id="9" name="文本框 8">
            <a:extLst>
              <a:ext uri="{FF2B5EF4-FFF2-40B4-BE49-F238E27FC236}">
                <a16:creationId xmlns:a16="http://schemas.microsoft.com/office/drawing/2014/main" id="{79440F76-3857-C392-046A-172BAAC31E36}"/>
              </a:ext>
            </a:extLst>
          </p:cNvPr>
          <p:cNvSpPr txBox="1"/>
          <p:nvPr/>
        </p:nvSpPr>
        <p:spPr>
          <a:xfrm>
            <a:off x="3271306" y="1446651"/>
            <a:ext cx="7206194" cy="2419124"/>
          </a:xfrm>
          <a:prstGeom prst="rect">
            <a:avLst/>
          </a:prstGeom>
          <a:noFill/>
        </p:spPr>
        <p:txBody>
          <a:bodyPr wrap="square">
            <a:spAutoFit/>
          </a:bodyPr>
          <a:lstStyle/>
          <a:p>
            <a:pPr>
              <a:lnSpc>
                <a:spcPct val="120000"/>
              </a:lnSpc>
            </a:pPr>
            <a:r>
              <a:rPr lang="en-US" altLang="zh-CN" b="1" dirty="0">
                <a:latin typeface="+mn-ea"/>
              </a:rPr>
              <a:t>4.</a:t>
            </a:r>
            <a:r>
              <a:rPr lang="zh-CN" altLang="en-US" b="1" dirty="0">
                <a:latin typeface="+mn-ea"/>
              </a:rPr>
              <a:t>信息展示与播报</a:t>
            </a:r>
            <a:endParaRPr lang="en-US" altLang="zh-CN" b="1" dirty="0">
              <a:latin typeface="+mn-ea"/>
            </a:endParaRPr>
          </a:p>
          <a:p>
            <a:pPr>
              <a:lnSpc>
                <a:spcPct val="120000"/>
              </a:lnSpc>
            </a:pPr>
            <a:endParaRPr lang="en-US" altLang="zh-CN" b="1" dirty="0">
              <a:latin typeface="+mn-ea"/>
            </a:endParaRPr>
          </a:p>
          <a:p>
            <a:r>
              <a:rPr lang="zh-CN" altLang="en-US" b="1" dirty="0">
                <a:latin typeface="+mn-ea"/>
              </a:rPr>
              <a:t>内置桌面音响，可以直接连接工控机进行信息播报</a:t>
            </a:r>
            <a:endParaRPr lang="en-US" altLang="zh-CN" b="1" dirty="0">
              <a:latin typeface="+mn-ea"/>
            </a:endParaRPr>
          </a:p>
          <a:p>
            <a:endParaRPr lang="en-US" altLang="zh-CN" b="1" dirty="0">
              <a:latin typeface="+mn-ea"/>
            </a:endParaRPr>
          </a:p>
          <a:p>
            <a:r>
              <a:rPr lang="zh-CN" altLang="en-US" b="1" dirty="0">
                <a:latin typeface="+mn-ea"/>
              </a:rPr>
              <a:t>配合前面的屏幕展示可以完成一体化信息展示和播报</a:t>
            </a:r>
            <a:endParaRPr lang="en-US" altLang="zh-CN" b="1" dirty="0">
              <a:latin typeface="+mn-ea"/>
            </a:endParaRPr>
          </a:p>
          <a:p>
            <a:endParaRPr lang="en-US" altLang="zh-CN" b="1" dirty="0">
              <a:latin typeface="+mn-ea"/>
            </a:endParaRPr>
          </a:p>
          <a:p>
            <a:endParaRPr lang="en-US" altLang="zh-CN" sz="1800" b="1" dirty="0">
              <a:latin typeface="+mn-ea"/>
              <a:ea typeface="+mn-ea"/>
            </a:endParaRPr>
          </a:p>
          <a:p>
            <a:endParaRPr lang="en-US" altLang="zh-CN" sz="1800" b="1" dirty="0">
              <a:latin typeface="+mn-ea"/>
              <a:ea typeface="+mn-ea"/>
            </a:endParaRPr>
          </a:p>
        </p:txBody>
      </p:sp>
      <p:pic>
        <p:nvPicPr>
          <p:cNvPr id="8" name="图片 7">
            <a:extLst>
              <a:ext uri="{FF2B5EF4-FFF2-40B4-BE49-F238E27FC236}">
                <a16:creationId xmlns:a16="http://schemas.microsoft.com/office/drawing/2014/main" id="{C0EB0C17-3DFE-D60E-778B-B1A56167C2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8986" y="3653664"/>
            <a:ext cx="3424126" cy="2275458"/>
          </a:xfrm>
          <a:prstGeom prst="rect">
            <a:avLst/>
          </a:prstGeom>
        </p:spPr>
      </p:pic>
      <p:pic>
        <p:nvPicPr>
          <p:cNvPr id="11" name="图片 10" descr="徽标&#10;&#10;AI 生成的内容可能不正确。">
            <a:extLst>
              <a:ext uri="{FF2B5EF4-FFF2-40B4-BE49-F238E27FC236}">
                <a16:creationId xmlns:a16="http://schemas.microsoft.com/office/drawing/2014/main" id="{D651722A-B238-01F5-A352-4382C67A47E9}"/>
              </a:ext>
            </a:extLst>
          </p:cNvPr>
          <p:cNvPicPr>
            <a:picLocks/>
          </p:cNvPicPr>
          <p:nvPr/>
        </p:nvPicPr>
        <p:blipFill>
          <a:blip r:embed="rId3">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443304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5393E230-D23D-B963-D27F-CE6D0C2B79A5}"/>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9288221B-A446-666D-92CB-0F0BF1CDDC89}"/>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12" name="矩形 11">
            <a:extLst>
              <a:ext uri="{FF2B5EF4-FFF2-40B4-BE49-F238E27FC236}">
                <a16:creationId xmlns:a16="http://schemas.microsoft.com/office/drawing/2014/main" id="{AA7A354F-AF57-7422-DDE5-81A1986399EE}"/>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 Placeholder 1">
            <a:extLst>
              <a:ext uri="{FF2B5EF4-FFF2-40B4-BE49-F238E27FC236}">
                <a16:creationId xmlns:a16="http://schemas.microsoft.com/office/drawing/2014/main" id="{478FBE7A-40FE-3C72-D9B7-5F238B238B35}"/>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3/27/2026 12:38:15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2F87A3EB-05B5-DA0C-754A-2BACB7C60432}"/>
              </a:ext>
            </a:extLst>
          </p:cNvPr>
          <p:cNvSpPr txBox="1"/>
          <p:nvPr/>
        </p:nvSpPr>
        <p:spPr>
          <a:xfrm>
            <a:off x="3045093" y="2249386"/>
            <a:ext cx="6094902" cy="1015663"/>
          </a:xfrm>
          <a:prstGeom prst="rect">
            <a:avLst/>
          </a:prstGeom>
          <a:noFill/>
        </p:spPr>
        <p:txBody>
          <a:bodyPr wrap="square">
            <a:spAutoFit/>
          </a:bodyPr>
          <a:lstStyle/>
          <a:p>
            <a:pPr algn="ctr"/>
            <a:r>
              <a:rPr lang="zh-CN" altLang="en-US" sz="6000" b="1" dirty="0"/>
              <a:t>设计亮点</a:t>
            </a:r>
          </a:p>
        </p:txBody>
      </p:sp>
      <p:pic>
        <p:nvPicPr>
          <p:cNvPr id="2" name="图片 1" descr="徽标&#10;&#10;AI 生成的内容可能不正确。">
            <a:extLst>
              <a:ext uri="{FF2B5EF4-FFF2-40B4-BE49-F238E27FC236}">
                <a16:creationId xmlns:a16="http://schemas.microsoft.com/office/drawing/2014/main" id="{7B586866-414D-49D7-9CE2-49C320BDA498}"/>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3047416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FFADB015-7DC2-4F08-710E-193AC6B81F2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4B1F38C-5B59-6582-F138-A9D5667D8250}"/>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4B2C2D2-DA16-5F2D-B086-7531318C0D89}"/>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D64B9A6A-1F5A-CA42-95E8-90BF5132E32D}"/>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设计亮点</a:t>
            </a:r>
          </a:p>
        </p:txBody>
      </p:sp>
      <p:pic>
        <p:nvPicPr>
          <p:cNvPr id="3" name="图片 2">
            <a:extLst>
              <a:ext uri="{FF2B5EF4-FFF2-40B4-BE49-F238E27FC236}">
                <a16:creationId xmlns:a16="http://schemas.microsoft.com/office/drawing/2014/main" id="{97CDF044-10DE-4138-3922-53896F75D7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155" y="3295971"/>
            <a:ext cx="3959845" cy="2714051"/>
          </a:xfrm>
          <a:prstGeom prst="rect">
            <a:avLst/>
          </a:prstGeom>
        </p:spPr>
      </p:pic>
      <p:sp>
        <p:nvSpPr>
          <p:cNvPr id="8" name="文本框 7">
            <a:extLst>
              <a:ext uri="{FF2B5EF4-FFF2-40B4-BE49-F238E27FC236}">
                <a16:creationId xmlns:a16="http://schemas.microsoft.com/office/drawing/2014/main" id="{42023AE7-F50D-A19E-A44A-71AC92E780B8}"/>
              </a:ext>
            </a:extLst>
          </p:cNvPr>
          <p:cNvSpPr txBox="1"/>
          <p:nvPr/>
        </p:nvSpPr>
        <p:spPr>
          <a:xfrm>
            <a:off x="2492902" y="1112890"/>
            <a:ext cx="9019647" cy="2252924"/>
          </a:xfrm>
          <a:prstGeom prst="rect">
            <a:avLst/>
          </a:prstGeom>
          <a:noFill/>
        </p:spPr>
        <p:txBody>
          <a:bodyPr wrap="square">
            <a:spAutoFit/>
          </a:bodyPr>
          <a:lstStyle/>
          <a:p>
            <a:pPr>
              <a:lnSpc>
                <a:spcPct val="120000"/>
              </a:lnSpc>
            </a:pPr>
            <a:r>
              <a:rPr lang="zh-CN" altLang="en-US" b="1" dirty="0">
                <a:latin typeface="+mn-ea"/>
              </a:rPr>
              <a:t>底盘只承受内置物品重量</a:t>
            </a:r>
            <a:endParaRPr lang="en-US" altLang="zh-CN" b="1" dirty="0">
              <a:latin typeface="+mn-ea"/>
            </a:endParaRPr>
          </a:p>
          <a:p>
            <a:pPr>
              <a:lnSpc>
                <a:spcPct val="120000"/>
              </a:lnSpc>
            </a:pPr>
            <a:r>
              <a:rPr lang="zh-CN" altLang="en-US" b="1" dirty="0">
                <a:latin typeface="+mn-ea"/>
              </a:rPr>
              <a:t>外部负载（如屏幕等）直接通过支架对齐作用在悬挂上</a:t>
            </a:r>
            <a:endParaRPr lang="en-US" altLang="zh-CN" b="1" dirty="0">
              <a:latin typeface="+mn-ea"/>
            </a:endParaRPr>
          </a:p>
          <a:p>
            <a:pPr>
              <a:lnSpc>
                <a:spcPct val="120000"/>
              </a:lnSpc>
            </a:pPr>
            <a:r>
              <a:rPr lang="zh-CN" altLang="en-US" b="1" dirty="0">
                <a:latin typeface="+mn-ea"/>
              </a:rPr>
              <a:t>悬挂与支架的连接是正向的，连接过程中，螺丝起固定作用，不承受拉力</a:t>
            </a:r>
            <a:endParaRPr lang="en-US" altLang="zh-CN" b="1" dirty="0">
              <a:latin typeface="+mn-ea"/>
            </a:endParaRPr>
          </a:p>
          <a:p>
            <a:pPr>
              <a:lnSpc>
                <a:spcPct val="120000"/>
              </a:lnSpc>
            </a:pPr>
            <a:r>
              <a:rPr lang="en-US" altLang="zh-CN" b="1" dirty="0">
                <a:latin typeface="+mn-ea"/>
              </a:rPr>
              <a:t>   </a:t>
            </a:r>
          </a:p>
          <a:p>
            <a:endParaRPr lang="en-US" altLang="zh-CN" b="1" dirty="0">
              <a:latin typeface="+mn-ea"/>
            </a:endParaRPr>
          </a:p>
          <a:p>
            <a:r>
              <a:rPr lang="zh-CN" altLang="en-US" sz="1800" b="1" dirty="0">
                <a:latin typeface="+mn-ea"/>
                <a:ea typeface="+mn-ea"/>
              </a:rPr>
              <a:t>如图所示，是支架和底盘堆叠在悬挂上，而非悬挂堆叠在底盘上</a:t>
            </a:r>
            <a:endParaRPr lang="en-US" altLang="zh-CN" sz="1800" b="1" dirty="0">
              <a:latin typeface="+mn-ea"/>
              <a:ea typeface="+mn-ea"/>
            </a:endParaRPr>
          </a:p>
          <a:p>
            <a:endParaRPr lang="en-US" altLang="zh-CN" sz="1800" b="1" dirty="0">
              <a:latin typeface="+mn-ea"/>
              <a:ea typeface="+mn-ea"/>
            </a:endParaRPr>
          </a:p>
        </p:txBody>
      </p:sp>
      <p:pic>
        <p:nvPicPr>
          <p:cNvPr id="10" name="图片 9">
            <a:extLst>
              <a:ext uri="{FF2B5EF4-FFF2-40B4-BE49-F238E27FC236}">
                <a16:creationId xmlns:a16="http://schemas.microsoft.com/office/drawing/2014/main" id="{EC80BAD7-09DD-5A4E-1064-90DF166CCC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6872" y="4052106"/>
            <a:ext cx="2950610" cy="1883622"/>
          </a:xfrm>
          <a:prstGeom prst="rect">
            <a:avLst/>
          </a:prstGeom>
        </p:spPr>
      </p:pic>
      <p:pic>
        <p:nvPicPr>
          <p:cNvPr id="11" name="图片 10" descr="徽标&#10;&#10;AI 生成的内容可能不正确。">
            <a:extLst>
              <a:ext uri="{FF2B5EF4-FFF2-40B4-BE49-F238E27FC236}">
                <a16:creationId xmlns:a16="http://schemas.microsoft.com/office/drawing/2014/main" id="{827B5891-1AF5-EB96-B584-B95660FE6DDB}"/>
              </a:ext>
            </a:extLst>
          </p:cNvPr>
          <p:cNvPicPr>
            <a:picLocks/>
          </p:cNvPicPr>
          <p:nvPr/>
        </p:nvPicPr>
        <p:blipFill>
          <a:blip r:embed="rId4">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40580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D87D8B19-885E-2733-782B-46BD2E78B33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BAC9E39-69EE-000C-79A5-73DE01865D90}"/>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7BE058D-A7D9-7235-4EE8-69DBF88CA287}"/>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811ECFCC-FC1F-6F93-C197-38BE92E21776}"/>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设计亮点</a:t>
            </a:r>
          </a:p>
        </p:txBody>
      </p:sp>
      <p:sp>
        <p:nvSpPr>
          <p:cNvPr id="8" name="文本框 7">
            <a:extLst>
              <a:ext uri="{FF2B5EF4-FFF2-40B4-BE49-F238E27FC236}">
                <a16:creationId xmlns:a16="http://schemas.microsoft.com/office/drawing/2014/main" id="{53716BF9-4F1A-BC2E-0B84-6C6D1790A597}"/>
              </a:ext>
            </a:extLst>
          </p:cNvPr>
          <p:cNvSpPr txBox="1"/>
          <p:nvPr/>
        </p:nvSpPr>
        <p:spPr>
          <a:xfrm>
            <a:off x="2505602" y="1208140"/>
            <a:ext cx="9019647" cy="2529923"/>
          </a:xfrm>
          <a:prstGeom prst="rect">
            <a:avLst/>
          </a:prstGeom>
          <a:noFill/>
        </p:spPr>
        <p:txBody>
          <a:bodyPr wrap="square">
            <a:spAutoFit/>
          </a:bodyPr>
          <a:lstStyle/>
          <a:p>
            <a:pPr>
              <a:lnSpc>
                <a:spcPct val="120000"/>
              </a:lnSpc>
            </a:pPr>
            <a:r>
              <a:rPr lang="zh-CN" altLang="en-US" b="1" dirty="0">
                <a:latin typeface="+mn-ea"/>
              </a:rPr>
              <a:t>底盘只承受内置物品重量</a:t>
            </a:r>
            <a:endParaRPr lang="en-US" altLang="zh-CN" b="1" dirty="0">
              <a:latin typeface="+mn-ea"/>
            </a:endParaRPr>
          </a:p>
          <a:p>
            <a:pPr>
              <a:lnSpc>
                <a:spcPct val="120000"/>
              </a:lnSpc>
            </a:pPr>
            <a:r>
              <a:rPr lang="zh-CN" altLang="en-US" b="1" dirty="0">
                <a:latin typeface="+mn-ea"/>
              </a:rPr>
              <a:t>外部负载（如屏幕等）直接通过支架对齐作用在悬挂上</a:t>
            </a:r>
            <a:endParaRPr lang="en-US" altLang="zh-CN" b="1" dirty="0">
              <a:latin typeface="+mn-ea"/>
            </a:endParaRPr>
          </a:p>
          <a:p>
            <a:pPr>
              <a:lnSpc>
                <a:spcPct val="120000"/>
              </a:lnSpc>
            </a:pPr>
            <a:r>
              <a:rPr lang="zh-CN" altLang="en-US" b="1" dirty="0">
                <a:latin typeface="+mn-ea"/>
              </a:rPr>
              <a:t>悬挂与支架的连接是正向的，连接过程中，螺丝起固定作用，不承受拉力</a:t>
            </a:r>
            <a:endParaRPr lang="en-US" altLang="zh-CN" b="1" dirty="0">
              <a:latin typeface="+mn-ea"/>
            </a:endParaRPr>
          </a:p>
          <a:p>
            <a:pPr>
              <a:lnSpc>
                <a:spcPct val="120000"/>
              </a:lnSpc>
            </a:pPr>
            <a:r>
              <a:rPr lang="en-US" altLang="zh-CN" b="1" dirty="0">
                <a:latin typeface="+mn-ea"/>
              </a:rPr>
              <a:t>   </a:t>
            </a:r>
          </a:p>
          <a:p>
            <a:endParaRPr lang="en-US" altLang="zh-CN" b="1" dirty="0">
              <a:latin typeface="+mn-ea"/>
            </a:endParaRPr>
          </a:p>
          <a:p>
            <a:endParaRPr lang="en-US" altLang="zh-CN" b="1" dirty="0">
              <a:latin typeface="+mn-ea"/>
            </a:endParaRPr>
          </a:p>
          <a:p>
            <a:r>
              <a:rPr lang="zh-CN" altLang="en-US" sz="1800" b="1" dirty="0">
                <a:latin typeface="+mn-ea"/>
                <a:ea typeface="+mn-ea"/>
              </a:rPr>
              <a:t>如图所示，是支架和底盘堆叠在悬挂上，而非悬挂堆叠在底盘上</a:t>
            </a:r>
            <a:endParaRPr lang="en-US" altLang="zh-CN" sz="1800" b="1" dirty="0">
              <a:latin typeface="+mn-ea"/>
              <a:ea typeface="+mn-ea"/>
            </a:endParaRPr>
          </a:p>
          <a:p>
            <a:endParaRPr lang="en-US" altLang="zh-CN" sz="1800" b="1" dirty="0">
              <a:latin typeface="+mn-ea"/>
              <a:ea typeface="+mn-ea"/>
            </a:endParaRPr>
          </a:p>
        </p:txBody>
      </p:sp>
      <p:pic>
        <p:nvPicPr>
          <p:cNvPr id="9" name="图片 8">
            <a:extLst>
              <a:ext uri="{FF2B5EF4-FFF2-40B4-BE49-F238E27FC236}">
                <a16:creationId xmlns:a16="http://schemas.microsoft.com/office/drawing/2014/main" id="{5921117B-5B5E-31FC-8E20-C1DA2956E2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7790" y="4170791"/>
            <a:ext cx="2600778" cy="2376060"/>
          </a:xfrm>
          <a:prstGeom prst="rect">
            <a:avLst/>
          </a:prstGeom>
        </p:spPr>
      </p:pic>
      <p:sp>
        <p:nvSpPr>
          <p:cNvPr id="11" name="文本框 10">
            <a:extLst>
              <a:ext uri="{FF2B5EF4-FFF2-40B4-BE49-F238E27FC236}">
                <a16:creationId xmlns:a16="http://schemas.microsoft.com/office/drawing/2014/main" id="{7653D658-6C39-4026-90BE-09673CABEC70}"/>
              </a:ext>
            </a:extLst>
          </p:cNvPr>
          <p:cNvSpPr txBox="1"/>
          <p:nvPr/>
        </p:nvSpPr>
        <p:spPr>
          <a:xfrm>
            <a:off x="6233375" y="4275369"/>
            <a:ext cx="5205354" cy="1200329"/>
          </a:xfrm>
          <a:prstGeom prst="rect">
            <a:avLst/>
          </a:prstGeom>
          <a:noFill/>
        </p:spPr>
        <p:txBody>
          <a:bodyPr wrap="square">
            <a:spAutoFit/>
          </a:bodyPr>
          <a:lstStyle/>
          <a:p>
            <a:r>
              <a:rPr lang="zh-CN" altLang="en-US" sz="1800" b="1" dirty="0">
                <a:latin typeface="+mn-ea"/>
                <a:ea typeface="+mn-ea"/>
              </a:rPr>
              <a:t>辅助轮的连接同样如此</a:t>
            </a:r>
            <a:endParaRPr lang="en-US" altLang="zh-CN" b="1" dirty="0">
              <a:latin typeface="+mn-ea"/>
            </a:endParaRPr>
          </a:p>
          <a:p>
            <a:endParaRPr lang="en-US" altLang="zh-CN" sz="1800" b="1" dirty="0">
              <a:latin typeface="+mn-ea"/>
              <a:ea typeface="+mn-ea"/>
            </a:endParaRPr>
          </a:p>
          <a:p>
            <a:r>
              <a:rPr lang="zh-CN" altLang="en-US" b="1" dirty="0">
                <a:latin typeface="+mn-ea"/>
              </a:rPr>
              <a:t>同时设计完全隔离辅助轮和内部，保持内部环境整洁</a:t>
            </a:r>
            <a:endParaRPr lang="en-US" altLang="zh-CN" sz="1800" b="1" dirty="0">
              <a:latin typeface="+mn-ea"/>
              <a:ea typeface="+mn-ea"/>
            </a:endParaRPr>
          </a:p>
        </p:txBody>
      </p:sp>
      <p:pic>
        <p:nvPicPr>
          <p:cNvPr id="12" name="图片 11" descr="徽标&#10;&#10;AI 生成的内容可能不正确。">
            <a:extLst>
              <a:ext uri="{FF2B5EF4-FFF2-40B4-BE49-F238E27FC236}">
                <a16:creationId xmlns:a16="http://schemas.microsoft.com/office/drawing/2014/main" id="{FCD480FC-6DC7-D139-2283-4E4DF497A74D}"/>
              </a:ext>
            </a:extLst>
          </p:cNvPr>
          <p:cNvPicPr>
            <a:picLocks/>
          </p:cNvPicPr>
          <p:nvPr/>
        </p:nvPicPr>
        <p:blipFill>
          <a:blip r:embed="rId3">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1343059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7523A130-4535-34B0-B761-3943F946CED7}"/>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15D95EF-8701-7726-A028-D4ADDC7CC469}"/>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363FE7E-FD3C-8A94-D6AD-7D2BF473BBB0}"/>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872222D4-A078-2E0F-79D6-272434118684}"/>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设计亮点</a:t>
            </a:r>
          </a:p>
        </p:txBody>
      </p:sp>
      <p:sp>
        <p:nvSpPr>
          <p:cNvPr id="8" name="文本框 7">
            <a:extLst>
              <a:ext uri="{FF2B5EF4-FFF2-40B4-BE49-F238E27FC236}">
                <a16:creationId xmlns:a16="http://schemas.microsoft.com/office/drawing/2014/main" id="{1733BA00-059D-F615-A5CD-ED927AB6D78F}"/>
              </a:ext>
            </a:extLst>
          </p:cNvPr>
          <p:cNvSpPr txBox="1"/>
          <p:nvPr/>
        </p:nvSpPr>
        <p:spPr>
          <a:xfrm>
            <a:off x="6709830" y="2324100"/>
            <a:ext cx="4718049" cy="1477328"/>
          </a:xfrm>
          <a:prstGeom prst="rect">
            <a:avLst/>
          </a:prstGeom>
          <a:noFill/>
        </p:spPr>
        <p:txBody>
          <a:bodyPr wrap="square">
            <a:spAutoFit/>
          </a:bodyPr>
          <a:lstStyle/>
          <a:p>
            <a:r>
              <a:rPr lang="zh-CN" altLang="en-US" sz="1800" b="1" dirty="0">
                <a:latin typeface="+mn-ea"/>
                <a:ea typeface="+mn-ea"/>
              </a:rPr>
              <a:t>使用步科一体式电机，可靠性强，功率</a:t>
            </a:r>
            <a:r>
              <a:rPr lang="en-US" altLang="zh-CN" sz="1800" b="1" dirty="0">
                <a:latin typeface="+mn-ea"/>
                <a:ea typeface="+mn-ea"/>
              </a:rPr>
              <a:t>400w</a:t>
            </a:r>
            <a:r>
              <a:rPr lang="zh-CN" altLang="en-US" sz="1800" b="1" dirty="0">
                <a:latin typeface="+mn-ea"/>
                <a:ea typeface="+mn-ea"/>
              </a:rPr>
              <a:t>，性能强大，集成度高</a:t>
            </a:r>
            <a:endParaRPr lang="en-US" altLang="zh-CN" sz="1800" b="1" dirty="0">
              <a:latin typeface="+mn-ea"/>
              <a:ea typeface="+mn-ea"/>
            </a:endParaRPr>
          </a:p>
          <a:p>
            <a:endParaRPr lang="en-US" altLang="zh-CN" b="1" dirty="0">
              <a:latin typeface="+mn-ea"/>
            </a:endParaRPr>
          </a:p>
          <a:p>
            <a:r>
              <a:rPr lang="zh-CN" altLang="en-US" sz="1800" b="1" dirty="0">
                <a:latin typeface="+mn-ea"/>
                <a:ea typeface="+mn-ea"/>
              </a:rPr>
              <a:t>电机悬挂单独空间在保护内部环境无污染情况下尽量保护电机与悬挂不暴露</a:t>
            </a:r>
            <a:endParaRPr lang="en-US" altLang="zh-CN" sz="1800" b="1" dirty="0">
              <a:latin typeface="+mn-ea"/>
              <a:ea typeface="+mn-ea"/>
            </a:endParaRPr>
          </a:p>
        </p:txBody>
      </p:sp>
      <p:pic>
        <p:nvPicPr>
          <p:cNvPr id="3" name="图片 2">
            <a:extLst>
              <a:ext uri="{FF2B5EF4-FFF2-40B4-BE49-F238E27FC236}">
                <a16:creationId xmlns:a16="http://schemas.microsoft.com/office/drawing/2014/main" id="{6E99DE0B-3B04-8302-6C28-4620B25922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7002" y="2324100"/>
            <a:ext cx="4261808" cy="3105150"/>
          </a:xfrm>
          <a:prstGeom prst="rect">
            <a:avLst/>
          </a:prstGeom>
        </p:spPr>
      </p:pic>
      <p:pic>
        <p:nvPicPr>
          <p:cNvPr id="10" name="图片 9" descr="徽标&#10;&#10;AI 生成的内容可能不正确。">
            <a:extLst>
              <a:ext uri="{FF2B5EF4-FFF2-40B4-BE49-F238E27FC236}">
                <a16:creationId xmlns:a16="http://schemas.microsoft.com/office/drawing/2014/main" id="{22B135B9-01DD-3BEA-38A2-A4A133442D67}"/>
              </a:ext>
            </a:extLst>
          </p:cNvPr>
          <p:cNvPicPr>
            <a:picLocks/>
          </p:cNvPicPr>
          <p:nvPr/>
        </p:nvPicPr>
        <p:blipFill>
          <a:blip r:embed="rId3">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194858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86EFB91F-D05B-4117-21B2-30E61007B6D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8EB1D0B-E591-146C-1DAA-5C8514596555}"/>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B0E3128-5BD4-5110-6C16-E3441DE30AEB}"/>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05232923-44EF-90CD-474D-96F598D7E64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设计亮点</a:t>
            </a:r>
          </a:p>
        </p:txBody>
      </p:sp>
      <p:sp>
        <p:nvSpPr>
          <p:cNvPr id="8" name="文本框 7">
            <a:extLst>
              <a:ext uri="{FF2B5EF4-FFF2-40B4-BE49-F238E27FC236}">
                <a16:creationId xmlns:a16="http://schemas.microsoft.com/office/drawing/2014/main" id="{A4144B66-D989-7D00-4738-0030C2051A34}"/>
              </a:ext>
            </a:extLst>
          </p:cNvPr>
          <p:cNvSpPr txBox="1"/>
          <p:nvPr/>
        </p:nvSpPr>
        <p:spPr>
          <a:xfrm>
            <a:off x="2231406" y="1272038"/>
            <a:ext cx="9019647" cy="1754326"/>
          </a:xfrm>
          <a:prstGeom prst="rect">
            <a:avLst/>
          </a:prstGeom>
          <a:noFill/>
        </p:spPr>
        <p:txBody>
          <a:bodyPr wrap="square">
            <a:spAutoFit/>
          </a:bodyPr>
          <a:lstStyle/>
          <a:p>
            <a:r>
              <a:rPr lang="zh-CN" altLang="en-US" sz="1800" b="1" dirty="0">
                <a:latin typeface="+mn-ea"/>
                <a:ea typeface="+mn-ea"/>
              </a:rPr>
              <a:t>在保留充电插头的同时，有刷版刷块实现自动充电。</a:t>
            </a:r>
            <a:endParaRPr lang="en-US" altLang="zh-CN" sz="1800" b="1" dirty="0">
              <a:latin typeface="+mn-ea"/>
              <a:ea typeface="+mn-ea"/>
            </a:endParaRPr>
          </a:p>
          <a:p>
            <a:endParaRPr lang="en-US" altLang="zh-CN" b="1" dirty="0">
              <a:latin typeface="+mn-ea"/>
            </a:endParaRPr>
          </a:p>
          <a:p>
            <a:r>
              <a:rPr lang="zh-CN" altLang="en-US" b="1" dirty="0">
                <a:latin typeface="+mn-ea"/>
              </a:rPr>
              <a:t>刷块与充电座的接触式设计，可在机器人停靠时自动完成电路导通。</a:t>
            </a:r>
            <a:endParaRPr lang="en-US" altLang="zh-CN" b="1" dirty="0">
              <a:latin typeface="+mn-ea"/>
            </a:endParaRPr>
          </a:p>
          <a:p>
            <a:endParaRPr lang="en-US" altLang="zh-CN" b="1" dirty="0">
              <a:latin typeface="+mn-ea"/>
            </a:endParaRPr>
          </a:p>
          <a:p>
            <a:r>
              <a:rPr lang="zh-CN" altLang="en-US" b="1" dirty="0">
                <a:latin typeface="+mn-ea"/>
              </a:rPr>
              <a:t>满足了无人值守场景下的高效补能需求，提升了设备续航与运维便捷性。</a:t>
            </a:r>
          </a:p>
          <a:p>
            <a:endParaRPr lang="en-US" altLang="zh-CN" sz="1800" b="1" dirty="0">
              <a:latin typeface="+mn-ea"/>
              <a:ea typeface="+mn-ea"/>
            </a:endParaRPr>
          </a:p>
        </p:txBody>
      </p:sp>
      <p:pic>
        <p:nvPicPr>
          <p:cNvPr id="10" name="图片 9" descr="徽标&#10;&#10;AI 生成的内容可能不正确。">
            <a:extLst>
              <a:ext uri="{FF2B5EF4-FFF2-40B4-BE49-F238E27FC236}">
                <a16:creationId xmlns:a16="http://schemas.microsoft.com/office/drawing/2014/main" id="{957E7ACB-D6B6-8068-B5DD-196F5577797E}"/>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pic>
        <p:nvPicPr>
          <p:cNvPr id="3" name="图片 2">
            <a:extLst>
              <a:ext uri="{FF2B5EF4-FFF2-40B4-BE49-F238E27FC236}">
                <a16:creationId xmlns:a16="http://schemas.microsoft.com/office/drawing/2014/main" id="{BF387449-B60D-571D-C7C2-E27103301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406" y="3453313"/>
            <a:ext cx="2733772" cy="2949947"/>
          </a:xfrm>
          <a:prstGeom prst="rect">
            <a:avLst/>
          </a:prstGeom>
        </p:spPr>
      </p:pic>
      <p:sp>
        <p:nvSpPr>
          <p:cNvPr id="9" name="文本框 8">
            <a:extLst>
              <a:ext uri="{FF2B5EF4-FFF2-40B4-BE49-F238E27FC236}">
                <a16:creationId xmlns:a16="http://schemas.microsoft.com/office/drawing/2014/main" id="{84570D47-0D15-C48A-9BC9-A0420FCD3A64}"/>
              </a:ext>
            </a:extLst>
          </p:cNvPr>
          <p:cNvSpPr txBox="1"/>
          <p:nvPr/>
        </p:nvSpPr>
        <p:spPr>
          <a:xfrm>
            <a:off x="5310171" y="4579772"/>
            <a:ext cx="6094428" cy="923330"/>
          </a:xfrm>
          <a:prstGeom prst="rect">
            <a:avLst/>
          </a:prstGeom>
          <a:noFill/>
        </p:spPr>
        <p:txBody>
          <a:bodyPr wrap="square">
            <a:spAutoFit/>
          </a:bodyPr>
          <a:lstStyle/>
          <a:p>
            <a:r>
              <a:rPr lang="zh-CN" altLang="en-US" b="1" dirty="0"/>
              <a:t>如图所示，是机器人侧刷块与充电座对接的结构，刷块与充电座触点对齐，实现自动导电充电，而非传统插拔式充电。</a:t>
            </a:r>
          </a:p>
        </p:txBody>
      </p:sp>
    </p:spTree>
    <p:extLst>
      <p:ext uri="{BB962C8B-B14F-4D97-AF65-F5344CB8AC3E}">
        <p14:creationId xmlns:p14="http://schemas.microsoft.com/office/powerpoint/2010/main" val="2875022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996B166B-DF22-82F8-A374-B42F4283E0D2}"/>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AB853696-25E0-648F-25C1-4C1C045C864A}"/>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12" name="矩形 11">
            <a:extLst>
              <a:ext uri="{FF2B5EF4-FFF2-40B4-BE49-F238E27FC236}">
                <a16:creationId xmlns:a16="http://schemas.microsoft.com/office/drawing/2014/main" id="{1A2F2127-8289-3911-873B-B8B458DCDD53}"/>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 Placeholder 1">
            <a:extLst>
              <a:ext uri="{FF2B5EF4-FFF2-40B4-BE49-F238E27FC236}">
                <a16:creationId xmlns:a16="http://schemas.microsoft.com/office/drawing/2014/main" id="{5A6E5C74-36FF-DC30-7F88-FEE1AE672704}"/>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3/27/2026 12:38:15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DAC67AC4-919A-C2E0-F471-E99DB7D5C825}"/>
              </a:ext>
            </a:extLst>
          </p:cNvPr>
          <p:cNvSpPr txBox="1"/>
          <p:nvPr/>
        </p:nvSpPr>
        <p:spPr>
          <a:xfrm>
            <a:off x="3045093" y="2249386"/>
            <a:ext cx="6094902" cy="1015663"/>
          </a:xfrm>
          <a:prstGeom prst="rect">
            <a:avLst/>
          </a:prstGeom>
          <a:noFill/>
        </p:spPr>
        <p:txBody>
          <a:bodyPr wrap="square">
            <a:spAutoFit/>
          </a:bodyPr>
          <a:lstStyle/>
          <a:p>
            <a:pPr algn="ctr"/>
            <a:r>
              <a:rPr lang="zh-CN" altLang="en-US" sz="6000" b="1" dirty="0"/>
              <a:t>功能基础</a:t>
            </a:r>
          </a:p>
        </p:txBody>
      </p:sp>
      <p:pic>
        <p:nvPicPr>
          <p:cNvPr id="2" name="图片 1" descr="徽标&#10;&#10;AI 生成的内容可能不正确。">
            <a:extLst>
              <a:ext uri="{FF2B5EF4-FFF2-40B4-BE49-F238E27FC236}">
                <a16:creationId xmlns:a16="http://schemas.microsoft.com/office/drawing/2014/main" id="{4F068608-2D63-7769-318E-BD6D46320B87}"/>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2995445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9BAEC5-9637-0878-014C-81C190AF592A}"/>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2E036CF-58D2-60B7-8301-022F46B34129}"/>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677D1AB-E257-C1BE-FBA7-EB038BBEF450}"/>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CF7FFDC-9AC9-040B-24F0-2401A12A17D8}"/>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具体参数</a:t>
            </a:r>
          </a:p>
        </p:txBody>
      </p:sp>
      <p:sp>
        <p:nvSpPr>
          <p:cNvPr id="14" name="标题 1">
            <a:extLst>
              <a:ext uri="{FF2B5EF4-FFF2-40B4-BE49-F238E27FC236}">
                <a16:creationId xmlns:a16="http://schemas.microsoft.com/office/drawing/2014/main" id="{30760750-BC2E-85E8-A4A5-5D6EFC4FAFD1}"/>
              </a:ext>
            </a:extLst>
          </p:cNvPr>
          <p:cNvSpPr txBox="1">
            <a:spLocks/>
          </p:cNvSpPr>
          <p:nvPr/>
        </p:nvSpPr>
        <p:spPr>
          <a:xfrm>
            <a:off x="2378074" y="4888616"/>
            <a:ext cx="9013826" cy="14804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具体电器参数： 极限续航：</a:t>
            </a:r>
            <a:r>
              <a:rPr lang="en-US" altLang="zh-CN" sz="2000" b="1" dirty="0">
                <a:latin typeface="+mn-ea"/>
                <a:ea typeface="+mn-ea"/>
              </a:rPr>
              <a:t>1h45min   </a:t>
            </a:r>
            <a:r>
              <a:rPr lang="zh-CN" altLang="en-US" sz="2000" b="1" dirty="0">
                <a:latin typeface="+mn-ea"/>
                <a:ea typeface="+mn-ea"/>
              </a:rPr>
              <a:t>一般情况续航（非持续满载运行</a:t>
            </a:r>
            <a:r>
              <a:rPr lang="en-US" altLang="zh-CN" sz="2000" b="1" dirty="0">
                <a:latin typeface="+mn-ea"/>
                <a:ea typeface="+mn-ea"/>
              </a:rPr>
              <a:t>3h+</a:t>
            </a:r>
            <a:r>
              <a:rPr lang="zh-CN" altLang="en-US" sz="2000" b="1" dirty="0">
                <a:latin typeface="+mn-ea"/>
                <a:ea typeface="+mn-ea"/>
              </a:rPr>
              <a:t>）</a:t>
            </a:r>
            <a:endParaRPr lang="en-US" altLang="zh-CN" sz="2000" b="1" dirty="0">
              <a:latin typeface="+mn-ea"/>
              <a:ea typeface="+mn-ea"/>
            </a:endParaRPr>
          </a:p>
          <a:p>
            <a:r>
              <a:rPr lang="en-US" altLang="zh-CN" sz="2000" b="1" dirty="0">
                <a:latin typeface="+mn-ea"/>
                <a:ea typeface="+mn-ea"/>
              </a:rPr>
              <a:t>		</a:t>
            </a:r>
            <a:r>
              <a:rPr lang="zh-CN" altLang="en-US" sz="2000" b="1" dirty="0">
                <a:latin typeface="+mn-ea"/>
                <a:ea typeface="+mn-ea"/>
              </a:rPr>
              <a:t>充电电压电流：</a:t>
            </a:r>
            <a:r>
              <a:rPr lang="en-US" altLang="zh-CN" sz="2000" b="1" dirty="0">
                <a:latin typeface="+mn-ea"/>
                <a:ea typeface="+mn-ea"/>
              </a:rPr>
              <a:t>24v</a:t>
            </a:r>
            <a:r>
              <a:rPr lang="zh-CN" altLang="en-US" sz="2000" b="1" dirty="0">
                <a:latin typeface="+mn-ea"/>
                <a:ea typeface="+mn-ea"/>
              </a:rPr>
              <a:t>（</a:t>
            </a:r>
            <a:r>
              <a:rPr lang="en-US" altLang="zh-CN" sz="2000" b="1" dirty="0">
                <a:latin typeface="+mn-ea"/>
                <a:ea typeface="+mn-ea"/>
              </a:rPr>
              <a:t>10A-40A</a:t>
            </a:r>
            <a:r>
              <a:rPr lang="zh-CN" altLang="en-US" sz="2000" b="1" dirty="0">
                <a:latin typeface="+mn-ea"/>
                <a:ea typeface="+mn-ea"/>
              </a:rPr>
              <a:t>）</a:t>
            </a:r>
            <a:r>
              <a:rPr lang="en-US" altLang="zh-CN" sz="2000" b="1" dirty="0">
                <a:latin typeface="+mn-ea"/>
                <a:ea typeface="+mn-ea"/>
              </a:rPr>
              <a:t> 48V</a:t>
            </a:r>
            <a:r>
              <a:rPr lang="zh-CN" altLang="en-US" sz="2000" b="1" dirty="0">
                <a:latin typeface="+mn-ea"/>
                <a:ea typeface="+mn-ea"/>
              </a:rPr>
              <a:t>（</a:t>
            </a:r>
            <a:r>
              <a:rPr lang="en-US" altLang="zh-CN" sz="2000" b="1" dirty="0">
                <a:latin typeface="+mn-ea"/>
                <a:ea typeface="+mn-ea"/>
              </a:rPr>
              <a:t>5A-30A</a:t>
            </a:r>
            <a:r>
              <a:rPr lang="zh-CN" altLang="en-US" sz="2000" b="1" dirty="0">
                <a:latin typeface="+mn-ea"/>
                <a:ea typeface="+mn-ea"/>
              </a:rPr>
              <a:t>选配</a:t>
            </a:r>
            <a:r>
              <a:rPr lang="en-US" altLang="zh-CN" sz="2000" b="1" dirty="0">
                <a:latin typeface="+mn-ea"/>
                <a:ea typeface="+mn-ea"/>
              </a:rPr>
              <a:t>)</a:t>
            </a:r>
          </a:p>
          <a:p>
            <a:r>
              <a:rPr lang="zh-CN" altLang="en-US" sz="2000" b="1" dirty="0">
                <a:latin typeface="+mn-ea"/>
                <a:ea typeface="+mn-ea"/>
              </a:rPr>
              <a:t>                          电池为深圳锂神 三元锂  </a:t>
            </a:r>
            <a:r>
              <a:rPr lang="en-US" altLang="zh-CN" sz="2000" b="1" dirty="0">
                <a:latin typeface="+mn-ea"/>
                <a:ea typeface="+mn-ea"/>
              </a:rPr>
              <a:t>48V20AH</a:t>
            </a:r>
          </a:p>
          <a:p>
            <a:r>
              <a:rPr lang="en-US" altLang="zh-CN" sz="2000" b="1" dirty="0">
                <a:latin typeface="+mn-ea"/>
                <a:ea typeface="+mn-ea"/>
              </a:rPr>
              <a:t>		</a:t>
            </a:r>
          </a:p>
        </p:txBody>
      </p:sp>
      <p:pic>
        <p:nvPicPr>
          <p:cNvPr id="9" name="图片 8">
            <a:extLst>
              <a:ext uri="{FF2B5EF4-FFF2-40B4-BE49-F238E27FC236}">
                <a16:creationId xmlns:a16="http://schemas.microsoft.com/office/drawing/2014/main" id="{0E47F414-7364-5DB7-5987-74C398B0C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8074" y="1321607"/>
            <a:ext cx="3070796" cy="3210681"/>
          </a:xfrm>
          <a:prstGeom prst="rect">
            <a:avLst/>
          </a:prstGeom>
        </p:spPr>
      </p:pic>
      <p:pic>
        <p:nvPicPr>
          <p:cNvPr id="2" name="图片 1" descr="徽标&#10;&#10;AI 生成的内容可能不正确。">
            <a:extLst>
              <a:ext uri="{FF2B5EF4-FFF2-40B4-BE49-F238E27FC236}">
                <a16:creationId xmlns:a16="http://schemas.microsoft.com/office/drawing/2014/main" id="{1C5FD188-F36C-FB44-8E47-61B749668273}"/>
              </a:ext>
            </a:extLst>
          </p:cNvPr>
          <p:cNvPicPr>
            <a:picLocks/>
          </p:cNvPicPr>
          <p:nvPr/>
        </p:nvPicPr>
        <p:blipFill>
          <a:blip r:embed="rId3">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
        <p:nvSpPr>
          <p:cNvPr id="3" name="标题 1">
            <a:extLst>
              <a:ext uri="{FF2B5EF4-FFF2-40B4-BE49-F238E27FC236}">
                <a16:creationId xmlns:a16="http://schemas.microsoft.com/office/drawing/2014/main" id="{51D2A347-93EE-FFAC-2B50-C2E128DFC8F7}"/>
              </a:ext>
            </a:extLst>
          </p:cNvPr>
          <p:cNvSpPr txBox="1">
            <a:spLocks/>
          </p:cNvSpPr>
          <p:nvPr/>
        </p:nvSpPr>
        <p:spPr>
          <a:xfrm>
            <a:off x="5689600" y="1396520"/>
            <a:ext cx="5123836" cy="30548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具体外部接口：</a:t>
            </a:r>
            <a:endParaRPr lang="en-US" altLang="zh-CN" sz="2000" b="1" dirty="0">
              <a:latin typeface="+mn-ea"/>
              <a:ea typeface="+mn-ea"/>
            </a:endParaRPr>
          </a:p>
          <a:p>
            <a:endParaRPr lang="en-US" altLang="zh-CN" sz="2000" b="1" dirty="0">
              <a:latin typeface="+mn-ea"/>
              <a:ea typeface="+mn-ea"/>
            </a:endParaRPr>
          </a:p>
          <a:p>
            <a:r>
              <a:rPr lang="zh-CN" altLang="en-US" sz="2000" b="1" dirty="0">
                <a:latin typeface="+mn-ea"/>
                <a:ea typeface="+mn-ea"/>
              </a:rPr>
              <a:t>充电刷版</a:t>
            </a:r>
            <a:endParaRPr lang="en-US" altLang="zh-CN" sz="2000" b="1" dirty="0">
              <a:latin typeface="+mn-ea"/>
              <a:ea typeface="+mn-ea"/>
            </a:endParaRPr>
          </a:p>
          <a:p>
            <a:endParaRPr lang="en-US" altLang="zh-CN" sz="2000" b="1" dirty="0">
              <a:latin typeface="+mn-ea"/>
              <a:ea typeface="+mn-ea"/>
            </a:endParaRPr>
          </a:p>
          <a:p>
            <a:r>
              <a:rPr lang="zh-CN" altLang="en-US" sz="2000" b="1" dirty="0">
                <a:latin typeface="+mn-ea"/>
                <a:ea typeface="+mn-ea"/>
              </a:rPr>
              <a:t>开光</a:t>
            </a:r>
            <a:endParaRPr lang="en-US" altLang="zh-CN" sz="2000" b="1" dirty="0">
              <a:latin typeface="+mn-ea"/>
              <a:ea typeface="+mn-ea"/>
            </a:endParaRPr>
          </a:p>
          <a:p>
            <a:endParaRPr lang="en-US" altLang="zh-CN" sz="2000" b="1" dirty="0">
              <a:latin typeface="+mn-ea"/>
              <a:ea typeface="+mn-ea"/>
            </a:endParaRPr>
          </a:p>
          <a:p>
            <a:r>
              <a:rPr lang="zh-CN" altLang="en-US" sz="2000" b="1" dirty="0">
                <a:latin typeface="+mn-ea"/>
                <a:ea typeface="+mn-ea"/>
              </a:rPr>
              <a:t>急停开关</a:t>
            </a:r>
            <a:endParaRPr lang="en-US" altLang="zh-CN" sz="2000" b="1" dirty="0">
              <a:latin typeface="+mn-ea"/>
              <a:ea typeface="+mn-ea"/>
            </a:endParaRPr>
          </a:p>
          <a:p>
            <a:endParaRPr lang="en-US" altLang="zh-CN" sz="2000" b="1" dirty="0">
              <a:latin typeface="+mn-ea"/>
              <a:ea typeface="+mn-ea"/>
            </a:endParaRPr>
          </a:p>
          <a:p>
            <a:r>
              <a:rPr lang="zh-CN" altLang="en-US" sz="2000" b="1" dirty="0">
                <a:latin typeface="+mn-ea"/>
                <a:ea typeface="+mn-ea"/>
              </a:rPr>
              <a:t>充电插座</a:t>
            </a:r>
            <a:endParaRPr lang="en-US" altLang="zh-CN" sz="2000" b="1" dirty="0">
              <a:latin typeface="+mn-ea"/>
              <a:ea typeface="+mn-ea"/>
            </a:endParaRPr>
          </a:p>
          <a:p>
            <a:endParaRPr lang="zh-CN" altLang="en-US" sz="2000" b="1" dirty="0">
              <a:latin typeface="+mn-ea"/>
              <a:ea typeface="+mn-ea"/>
            </a:endParaRPr>
          </a:p>
        </p:txBody>
      </p:sp>
    </p:spTree>
    <p:extLst>
      <p:ext uri="{BB962C8B-B14F-4D97-AF65-F5344CB8AC3E}">
        <p14:creationId xmlns:p14="http://schemas.microsoft.com/office/powerpoint/2010/main" val="2527558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3AB1B5-943C-B048-C32B-816ECFE7AAC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BB35C9F-CB07-1A23-544C-688E8CFE2AC5}"/>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4390232-A559-622B-C46D-5FFCCB504236}"/>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338EE9C-7566-518D-C559-BC178FF67F1D}"/>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具体参数</a:t>
            </a:r>
          </a:p>
        </p:txBody>
      </p:sp>
      <p:pic>
        <p:nvPicPr>
          <p:cNvPr id="2" name="图片 1" descr="徽标&#10;&#10;AI 生成的内容可能不正确。">
            <a:extLst>
              <a:ext uri="{FF2B5EF4-FFF2-40B4-BE49-F238E27FC236}">
                <a16:creationId xmlns:a16="http://schemas.microsoft.com/office/drawing/2014/main" id="{618C0C7C-357E-1485-BC28-91969C948EA4}"/>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
        <p:nvSpPr>
          <p:cNvPr id="5" name="标题 1">
            <a:extLst>
              <a:ext uri="{FF2B5EF4-FFF2-40B4-BE49-F238E27FC236}">
                <a16:creationId xmlns:a16="http://schemas.microsoft.com/office/drawing/2014/main" id="{83CD615F-FB79-1AD4-4E38-FC048F2D7125}"/>
              </a:ext>
            </a:extLst>
          </p:cNvPr>
          <p:cNvSpPr txBox="1">
            <a:spLocks/>
          </p:cNvSpPr>
          <p:nvPr/>
        </p:nvSpPr>
        <p:spPr>
          <a:xfrm>
            <a:off x="2378074" y="4572000"/>
            <a:ext cx="9013826" cy="228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b="1" dirty="0">
                <a:latin typeface="+mn-ea"/>
                <a:ea typeface="+mn-ea"/>
              </a:rPr>
              <a:t>1</a:t>
            </a:r>
            <a:r>
              <a:rPr lang="zh-CN" altLang="en-US" sz="2000" b="1" dirty="0">
                <a:latin typeface="+mn-ea"/>
                <a:ea typeface="+mn-ea"/>
              </a:rPr>
              <a:t>轮间距  </a:t>
            </a:r>
            <a:r>
              <a:rPr lang="en-US" altLang="zh-CN" sz="2000" b="1" dirty="0">
                <a:latin typeface="+mn-ea"/>
                <a:ea typeface="+mn-ea"/>
              </a:rPr>
              <a:t>462mm  </a:t>
            </a:r>
            <a:r>
              <a:rPr lang="zh-CN" altLang="en-US" sz="2000" b="1" dirty="0">
                <a:latin typeface="+mn-ea"/>
                <a:ea typeface="+mn-ea"/>
              </a:rPr>
              <a:t>前后轮</a:t>
            </a:r>
            <a:r>
              <a:rPr lang="en-US" altLang="zh-CN" sz="2000" b="1" dirty="0">
                <a:latin typeface="+mn-ea"/>
                <a:ea typeface="+mn-ea"/>
              </a:rPr>
              <a:t>513mm	</a:t>
            </a:r>
          </a:p>
          <a:p>
            <a:endParaRPr lang="en-US" altLang="zh-CN" sz="2000" b="1" dirty="0">
              <a:latin typeface="+mn-ea"/>
              <a:ea typeface="+mn-ea"/>
            </a:endParaRPr>
          </a:p>
          <a:p>
            <a:r>
              <a:rPr lang="en-US" altLang="zh-CN" sz="2000" b="1" dirty="0">
                <a:latin typeface="+mn-ea"/>
                <a:ea typeface="+mn-ea"/>
              </a:rPr>
              <a:t>2</a:t>
            </a:r>
            <a:r>
              <a:rPr lang="zh-CN" altLang="en-US" sz="2000" b="1" dirty="0">
                <a:latin typeface="+mn-ea"/>
                <a:ea typeface="+mn-ea"/>
              </a:rPr>
              <a:t>底盘采用四轮（其中两轮为不可调节高度辅助轮，剩余主动轮有悬挂可调节支撑力提供足够摩擦，并且这样经过悬挂调整无任何轮子悬空，稳定性有保证）</a:t>
            </a:r>
            <a:endParaRPr lang="en-US" altLang="zh-CN" sz="2000" b="1" dirty="0">
              <a:latin typeface="+mn-ea"/>
              <a:ea typeface="+mn-ea"/>
            </a:endParaRPr>
          </a:p>
          <a:p>
            <a:endParaRPr lang="en-US" altLang="zh-CN" sz="2000" b="1" dirty="0">
              <a:latin typeface="+mn-ea"/>
              <a:ea typeface="+mn-ea"/>
            </a:endParaRPr>
          </a:p>
          <a:p>
            <a:r>
              <a:rPr lang="en-US" altLang="zh-CN" sz="2000" b="1" dirty="0">
                <a:latin typeface="+mn-ea"/>
                <a:ea typeface="+mn-ea"/>
              </a:rPr>
              <a:t>3</a:t>
            </a:r>
            <a:r>
              <a:rPr lang="zh-CN" altLang="en-US" sz="2000" b="1" dirty="0">
                <a:latin typeface="+mn-ea"/>
                <a:ea typeface="+mn-ea"/>
              </a:rPr>
              <a:t>同时注意车轮离地高度</a:t>
            </a:r>
            <a:r>
              <a:rPr lang="en-US" altLang="zh-CN" sz="2000" b="1" dirty="0">
                <a:latin typeface="+mn-ea"/>
                <a:ea typeface="+mn-ea"/>
              </a:rPr>
              <a:t>	</a:t>
            </a:r>
            <a:r>
              <a:rPr lang="zh-CN" altLang="en-US" sz="2000" b="1" dirty="0">
                <a:latin typeface="+mn-ea"/>
                <a:ea typeface="+mn-ea"/>
              </a:rPr>
              <a:t>设计考虑迎宾等环境，没有越野能力</a:t>
            </a:r>
            <a:endParaRPr lang="en-US" altLang="zh-CN" sz="2000" b="1" dirty="0">
              <a:latin typeface="+mn-ea"/>
              <a:ea typeface="+mn-ea"/>
            </a:endParaRPr>
          </a:p>
        </p:txBody>
      </p:sp>
      <p:pic>
        <p:nvPicPr>
          <p:cNvPr id="8" name="图片 7">
            <a:extLst>
              <a:ext uri="{FF2B5EF4-FFF2-40B4-BE49-F238E27FC236}">
                <a16:creationId xmlns:a16="http://schemas.microsoft.com/office/drawing/2014/main" id="{6258B9D2-EC4C-E2C2-D51E-CBF737AE76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4190" y="944628"/>
            <a:ext cx="3231810" cy="3649911"/>
          </a:xfrm>
          <a:prstGeom prst="rect">
            <a:avLst/>
          </a:prstGeom>
        </p:spPr>
      </p:pic>
      <p:pic>
        <p:nvPicPr>
          <p:cNvPr id="10" name="图片 9">
            <a:extLst>
              <a:ext uri="{FF2B5EF4-FFF2-40B4-BE49-F238E27FC236}">
                <a16:creationId xmlns:a16="http://schemas.microsoft.com/office/drawing/2014/main" id="{EFD370BB-5891-4A2E-B6B7-DAF20FE2E7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2819" y="950906"/>
            <a:ext cx="2937303" cy="3643633"/>
          </a:xfrm>
          <a:prstGeom prst="rect">
            <a:avLst/>
          </a:prstGeom>
        </p:spPr>
      </p:pic>
    </p:spTree>
    <p:extLst>
      <p:ext uri="{BB962C8B-B14F-4D97-AF65-F5344CB8AC3E}">
        <p14:creationId xmlns:p14="http://schemas.microsoft.com/office/powerpoint/2010/main" val="3868593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D2DCC9-E088-E343-9F2D-87E1D15D323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9B98EB79-6933-33AB-2F81-0C031206317F}"/>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54C53FD-2F7C-7A40-3033-7A48195A33C6}"/>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F0902F77-BB33-7AFD-B67F-7DDCBBDE0774}"/>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具体参数</a:t>
            </a:r>
          </a:p>
        </p:txBody>
      </p:sp>
      <p:pic>
        <p:nvPicPr>
          <p:cNvPr id="2" name="图片 1" descr="徽标&#10;&#10;AI 生成的内容可能不正确。">
            <a:extLst>
              <a:ext uri="{FF2B5EF4-FFF2-40B4-BE49-F238E27FC236}">
                <a16:creationId xmlns:a16="http://schemas.microsoft.com/office/drawing/2014/main" id="{60FE6F4F-4110-9DFF-8E78-5FB45970AE89}"/>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
        <p:nvSpPr>
          <p:cNvPr id="5" name="标题 1">
            <a:extLst>
              <a:ext uri="{FF2B5EF4-FFF2-40B4-BE49-F238E27FC236}">
                <a16:creationId xmlns:a16="http://schemas.microsoft.com/office/drawing/2014/main" id="{BFB1134A-6D08-488A-7A6F-7C15654DCB3D}"/>
              </a:ext>
            </a:extLst>
          </p:cNvPr>
          <p:cNvSpPr txBox="1">
            <a:spLocks/>
          </p:cNvSpPr>
          <p:nvPr/>
        </p:nvSpPr>
        <p:spPr>
          <a:xfrm>
            <a:off x="2378074" y="5041900"/>
            <a:ext cx="9013826" cy="1327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屏幕顶部摄像头高度 </a:t>
            </a:r>
            <a:endParaRPr lang="en-US" altLang="zh-CN" sz="2000" b="1" dirty="0">
              <a:latin typeface="+mn-ea"/>
              <a:ea typeface="+mn-ea"/>
            </a:endParaRPr>
          </a:p>
          <a:p>
            <a:endParaRPr lang="en-US" altLang="zh-CN" sz="2000" b="1" dirty="0">
              <a:latin typeface="+mn-ea"/>
              <a:ea typeface="+mn-ea"/>
            </a:endParaRPr>
          </a:p>
          <a:p>
            <a:r>
              <a:rPr lang="zh-CN" altLang="en-US" sz="2000" b="1" dirty="0">
                <a:latin typeface="+mn-ea"/>
                <a:ea typeface="+mn-ea"/>
              </a:rPr>
              <a:t>车体体积小巧，不占用额外空间</a:t>
            </a:r>
            <a:r>
              <a:rPr lang="en-US" altLang="zh-CN" sz="2000" b="1" dirty="0">
                <a:latin typeface="+mn-ea"/>
                <a:ea typeface="+mn-ea"/>
              </a:rPr>
              <a:t>	</a:t>
            </a:r>
          </a:p>
        </p:txBody>
      </p:sp>
      <p:pic>
        <p:nvPicPr>
          <p:cNvPr id="8" name="图片 7">
            <a:extLst>
              <a:ext uri="{FF2B5EF4-FFF2-40B4-BE49-F238E27FC236}">
                <a16:creationId xmlns:a16="http://schemas.microsoft.com/office/drawing/2014/main" id="{676E5B0E-0E7C-B095-7A05-A5591FC06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3538" y="714375"/>
            <a:ext cx="4776945" cy="4797425"/>
          </a:xfrm>
          <a:prstGeom prst="rect">
            <a:avLst/>
          </a:prstGeom>
        </p:spPr>
      </p:pic>
      <p:pic>
        <p:nvPicPr>
          <p:cNvPr id="10" name="图片 9">
            <a:extLst>
              <a:ext uri="{FF2B5EF4-FFF2-40B4-BE49-F238E27FC236}">
                <a16:creationId xmlns:a16="http://schemas.microsoft.com/office/drawing/2014/main" id="{7BBEA93B-0D2A-5DE7-0680-CDADE05E97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9606" y="854764"/>
            <a:ext cx="2696105" cy="3902075"/>
          </a:xfrm>
          <a:prstGeom prst="rect">
            <a:avLst/>
          </a:prstGeom>
        </p:spPr>
      </p:pic>
    </p:spTree>
    <p:extLst>
      <p:ext uri="{BB962C8B-B14F-4D97-AF65-F5344CB8AC3E}">
        <p14:creationId xmlns:p14="http://schemas.microsoft.com/office/powerpoint/2010/main" val="4233817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D2AABC-77DE-CFD5-B3F9-1F96045DBF7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C3319EF-959E-10AD-B331-9B0D61141E84}"/>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1EF5120-83E6-AB38-E51A-8582B26A8F83}"/>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CC2BB10D-1A3E-C792-D392-02B27ADBF972}"/>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具体参数</a:t>
            </a:r>
          </a:p>
        </p:txBody>
      </p:sp>
      <p:pic>
        <p:nvPicPr>
          <p:cNvPr id="2" name="图片 1" descr="徽标&#10;&#10;AI 生成的内容可能不正确。">
            <a:extLst>
              <a:ext uri="{FF2B5EF4-FFF2-40B4-BE49-F238E27FC236}">
                <a16:creationId xmlns:a16="http://schemas.microsoft.com/office/drawing/2014/main" id="{A51C6480-2756-DFB1-2CB8-0A573CA3ED97}"/>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
        <p:nvSpPr>
          <p:cNvPr id="5" name="标题 1">
            <a:extLst>
              <a:ext uri="{FF2B5EF4-FFF2-40B4-BE49-F238E27FC236}">
                <a16:creationId xmlns:a16="http://schemas.microsoft.com/office/drawing/2014/main" id="{FDFE30BD-DEE3-B2BE-F1C6-842C16D09152}"/>
              </a:ext>
            </a:extLst>
          </p:cNvPr>
          <p:cNvSpPr txBox="1">
            <a:spLocks/>
          </p:cNvSpPr>
          <p:nvPr/>
        </p:nvSpPr>
        <p:spPr>
          <a:xfrm>
            <a:off x="2378074" y="5041900"/>
            <a:ext cx="9013826" cy="171450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000" b="1" dirty="0">
                <a:latin typeface="+mn-ea"/>
                <a:ea typeface="+mn-ea"/>
              </a:rPr>
              <a:t>车体重心靠下，由于上层屏幕朝向，可以抵御横向风 </a:t>
            </a:r>
            <a:endParaRPr lang="en-US" altLang="zh-CN" sz="2000" b="1" dirty="0">
              <a:latin typeface="+mn-ea"/>
              <a:ea typeface="+mn-ea"/>
            </a:endParaRPr>
          </a:p>
          <a:p>
            <a:endParaRPr lang="en-US" altLang="zh-CN" sz="2000" b="1" dirty="0">
              <a:latin typeface="+mn-ea"/>
              <a:ea typeface="+mn-ea"/>
            </a:endParaRPr>
          </a:p>
          <a:p>
            <a:r>
              <a:rPr lang="zh-CN" altLang="en-US" sz="2000" b="1" dirty="0">
                <a:latin typeface="+mn-ea"/>
                <a:ea typeface="+mn-ea"/>
              </a:rPr>
              <a:t>且在加速和减速情况下运行更稳定 无点头后仰等现象发生</a:t>
            </a:r>
            <a:endParaRPr lang="en-US" altLang="zh-CN" sz="2000" b="1" dirty="0">
              <a:latin typeface="+mn-ea"/>
              <a:ea typeface="+mn-ea"/>
            </a:endParaRPr>
          </a:p>
          <a:p>
            <a:endParaRPr lang="en-US" altLang="zh-CN" sz="2000" b="1" dirty="0">
              <a:latin typeface="+mn-ea"/>
              <a:ea typeface="+mn-ea"/>
            </a:endParaRPr>
          </a:p>
          <a:p>
            <a:r>
              <a:rPr lang="zh-CN" altLang="en-US" sz="2000" b="1" dirty="0">
                <a:latin typeface="+mn-ea"/>
                <a:ea typeface="+mn-ea"/>
              </a:rPr>
              <a:t>全局质量</a:t>
            </a:r>
            <a:r>
              <a:rPr lang="en-US" altLang="zh-CN" sz="2000" b="1" dirty="0">
                <a:latin typeface="+mn-ea"/>
                <a:ea typeface="+mn-ea"/>
              </a:rPr>
              <a:t>156.839kg</a:t>
            </a:r>
            <a:r>
              <a:rPr lang="zh-CN" altLang="en-US" sz="2000" b="1" dirty="0">
                <a:latin typeface="+mn-ea"/>
                <a:ea typeface="+mn-ea"/>
              </a:rPr>
              <a:t>，实际上真实重量比这个轻的多因为屏幕以及电器等是被看作是实心的无法测量出真实重量</a:t>
            </a:r>
            <a:r>
              <a:rPr lang="en-US" altLang="zh-CN" sz="2000" b="1" dirty="0">
                <a:latin typeface="+mn-ea"/>
                <a:ea typeface="+mn-ea"/>
              </a:rPr>
              <a:t>	</a:t>
            </a:r>
          </a:p>
        </p:txBody>
      </p:sp>
      <p:pic>
        <p:nvPicPr>
          <p:cNvPr id="8" name="图片 7">
            <a:extLst>
              <a:ext uri="{FF2B5EF4-FFF2-40B4-BE49-F238E27FC236}">
                <a16:creationId xmlns:a16="http://schemas.microsoft.com/office/drawing/2014/main" id="{2BC20E21-B07E-E275-2436-120D6CF160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697" y="1587500"/>
            <a:ext cx="6369873" cy="2627693"/>
          </a:xfrm>
          <a:prstGeom prst="rect">
            <a:avLst/>
          </a:prstGeom>
        </p:spPr>
      </p:pic>
      <p:cxnSp>
        <p:nvCxnSpPr>
          <p:cNvPr id="10" name="直接箭头连接符 9">
            <a:extLst>
              <a:ext uri="{FF2B5EF4-FFF2-40B4-BE49-F238E27FC236}">
                <a16:creationId xmlns:a16="http://schemas.microsoft.com/office/drawing/2014/main" id="{7913A0BB-85A6-6EB1-5087-490D1AB45A23}"/>
              </a:ext>
            </a:extLst>
          </p:cNvPr>
          <p:cNvCxnSpPr>
            <a:cxnSpLocks/>
          </p:cNvCxnSpPr>
          <p:nvPr/>
        </p:nvCxnSpPr>
        <p:spPr>
          <a:xfrm flipH="1">
            <a:off x="5937250" y="2160207"/>
            <a:ext cx="3184320" cy="7226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963CA9B9-BEC2-5019-436E-44650475C460}"/>
              </a:ext>
            </a:extLst>
          </p:cNvPr>
          <p:cNvSpPr txBox="1"/>
          <p:nvPr/>
        </p:nvSpPr>
        <p:spPr>
          <a:xfrm>
            <a:off x="9121570" y="1974850"/>
            <a:ext cx="1571830" cy="369332"/>
          </a:xfrm>
          <a:prstGeom prst="rect">
            <a:avLst/>
          </a:prstGeom>
          <a:noFill/>
        </p:spPr>
        <p:txBody>
          <a:bodyPr wrap="square" rtlCol="0">
            <a:spAutoFit/>
          </a:bodyPr>
          <a:lstStyle/>
          <a:p>
            <a:r>
              <a:rPr lang="zh-CN" altLang="en-US" dirty="0"/>
              <a:t>此为质心</a:t>
            </a:r>
          </a:p>
        </p:txBody>
      </p:sp>
    </p:spTree>
    <p:extLst>
      <p:ext uri="{BB962C8B-B14F-4D97-AF65-F5344CB8AC3E}">
        <p14:creationId xmlns:p14="http://schemas.microsoft.com/office/powerpoint/2010/main" val="4133918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CDEFE05B-7645-F94F-C588-20C92F4E643A}"/>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BF484ED5-7D05-E6FB-7077-019C0E601A5D}"/>
              </a:ext>
            </a:extLst>
          </p:cNvPr>
          <p:cNvSpPr/>
          <p:nvPr/>
        </p:nvSpPr>
        <p:spPr>
          <a:xfrm>
            <a:off x="0" y="4053249"/>
            <a:ext cx="12192000" cy="2709193"/>
          </a:xfrm>
          <a:prstGeom prst="rect">
            <a:avLst/>
          </a:prstGeom>
          <a:solidFill>
            <a:srgbClr val="177D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12" name="矩形 11">
            <a:extLst>
              <a:ext uri="{FF2B5EF4-FFF2-40B4-BE49-F238E27FC236}">
                <a16:creationId xmlns:a16="http://schemas.microsoft.com/office/drawing/2014/main" id="{91729F9D-AE1B-2A1B-F0C9-5D7752704456}"/>
              </a:ext>
            </a:extLst>
          </p:cNvPr>
          <p:cNvSpPr/>
          <p:nvPr/>
        </p:nvSpPr>
        <p:spPr>
          <a:xfrm>
            <a:off x="0" y="4148805"/>
            <a:ext cx="12192000" cy="2709193"/>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 Placeholder 1">
            <a:extLst>
              <a:ext uri="{FF2B5EF4-FFF2-40B4-BE49-F238E27FC236}">
                <a16:creationId xmlns:a16="http://schemas.microsoft.com/office/drawing/2014/main" id="{41521101-0052-C9AE-2B42-EE4744E6012B}"/>
              </a:ext>
            </a:extLst>
          </p:cNvPr>
          <p:cNvSpPr>
            <a:spLocks noChangeArrowheads="1"/>
          </p:cNvSpPr>
          <p:nvPr/>
        </p:nvSpPr>
        <p:spPr bwMode="auto">
          <a:xfrm>
            <a:off x="184195" y="6106149"/>
            <a:ext cx="5721796" cy="440494"/>
          </a:xfrm>
          <a:prstGeom prst="rect">
            <a:avLst/>
          </a:prstGeom>
          <a:noFill/>
          <a:ln w="9525">
            <a:noFill/>
            <a:bevel/>
          </a:ln>
        </p:spPr>
        <p:txBody>
          <a:bodyPr anchor="ctr"/>
          <a:lstStyle/>
          <a:p>
            <a:pPr eaLnBrk="1" hangingPunct="1">
              <a:defRPr/>
            </a:pPr>
            <a:r>
              <a:rPr lang="en-US" altLang="zh-CN" sz="1400" b="1" dirty="0">
                <a:solidFill>
                  <a:schemeClr val="accent4">
                    <a:lumMod val="95000"/>
                    <a:lumOff val="5000"/>
                  </a:schemeClr>
                </a:solidFill>
                <a:latin typeface="Arial" panose="020B0604020202020204" pitchFamily="34" charset="0"/>
                <a:cs typeface="Arial" panose="020B0604020202020204" pitchFamily="34" charset="0"/>
              </a:rPr>
              <a:t>Prepared by AIR-Tech@ </a:t>
            </a:r>
            <a:fld id="{5853BA87-C0A4-4D40-A7D0-264FBDFF6174}" type="datetime9">
              <a:rPr lang="en-US" altLang="zh-CN" sz="1400" b="1" dirty="0" smtClean="0">
                <a:solidFill>
                  <a:schemeClr val="accent4">
                    <a:lumMod val="95000"/>
                    <a:lumOff val="5000"/>
                  </a:schemeClr>
                </a:solidFill>
                <a:latin typeface="Arial" panose="020B0604020202020204" pitchFamily="34" charset="0"/>
                <a:cs typeface="Arial" panose="020B0604020202020204" pitchFamily="34" charset="0"/>
              </a:rPr>
              <a:t>3/27/2026 12:38:15 PM</a:t>
            </a:fld>
            <a:endParaRPr lang="zh-CN" altLang="en-US" sz="1400" b="1" dirty="0">
              <a:solidFill>
                <a:schemeClr val="accent4">
                  <a:lumMod val="95000"/>
                  <a:lumOff val="5000"/>
                </a:schemeClr>
              </a:solidFill>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78611506-9CF2-CED6-0673-98E0CC70569D}"/>
              </a:ext>
            </a:extLst>
          </p:cNvPr>
          <p:cNvSpPr txBox="1"/>
          <p:nvPr/>
        </p:nvSpPr>
        <p:spPr>
          <a:xfrm>
            <a:off x="3045093" y="2249386"/>
            <a:ext cx="6094902" cy="1015663"/>
          </a:xfrm>
          <a:prstGeom prst="rect">
            <a:avLst/>
          </a:prstGeom>
          <a:noFill/>
        </p:spPr>
        <p:txBody>
          <a:bodyPr wrap="square">
            <a:spAutoFit/>
          </a:bodyPr>
          <a:lstStyle/>
          <a:p>
            <a:pPr algn="ctr"/>
            <a:r>
              <a:rPr lang="zh-CN" altLang="en-US" sz="6000" b="1" dirty="0"/>
              <a:t>总结</a:t>
            </a:r>
          </a:p>
        </p:txBody>
      </p:sp>
      <p:pic>
        <p:nvPicPr>
          <p:cNvPr id="2" name="图片 1" descr="徽标&#10;&#10;AI 生成的内容可能不正确。">
            <a:extLst>
              <a:ext uri="{FF2B5EF4-FFF2-40B4-BE49-F238E27FC236}">
                <a16:creationId xmlns:a16="http://schemas.microsoft.com/office/drawing/2014/main" id="{351C22A8-6CAD-783A-EBCF-F8A97E3CDD41}"/>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Tree>
    <p:extLst>
      <p:ext uri="{BB962C8B-B14F-4D97-AF65-F5344CB8AC3E}">
        <p14:creationId xmlns:p14="http://schemas.microsoft.com/office/powerpoint/2010/main" val="1155721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a:extLst>
            <a:ext uri="{FF2B5EF4-FFF2-40B4-BE49-F238E27FC236}">
              <a16:creationId xmlns:a16="http://schemas.microsoft.com/office/drawing/2014/main" id="{38EFB84F-8C3A-DF2B-5AB3-1A1838206962}"/>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3D6BE0FD-4A42-40D8-5892-C79B4FE45942}"/>
              </a:ext>
            </a:extLst>
          </p:cNvPr>
          <p:cNvSpPr/>
          <p:nvPr/>
        </p:nvSpPr>
        <p:spPr>
          <a:xfrm>
            <a:off x="0" y="944628"/>
            <a:ext cx="2025283" cy="5913372"/>
          </a:xfrm>
          <a:prstGeom prst="rect">
            <a:avLst/>
          </a:prstGeom>
          <a:solidFill>
            <a:srgbClr val="197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887F5B3-B8AC-FF1E-4F10-527D3E858F0B}"/>
              </a:ext>
            </a:extLst>
          </p:cNvPr>
          <p:cNvSpPr/>
          <p:nvPr/>
        </p:nvSpPr>
        <p:spPr>
          <a:xfrm>
            <a:off x="-1" y="1080655"/>
            <a:ext cx="2025283" cy="5777345"/>
          </a:xfrm>
          <a:prstGeom prst="rect">
            <a:avLst/>
          </a:prstGeom>
          <a:solidFill>
            <a:srgbClr val="0048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29962419-950E-2F5C-3A2B-CC4EE1AB3A23}"/>
              </a:ext>
            </a:extLst>
          </p:cNvPr>
          <p:cNvSpPr txBox="1">
            <a:spLocks/>
          </p:cNvSpPr>
          <p:nvPr/>
        </p:nvSpPr>
        <p:spPr>
          <a:xfrm>
            <a:off x="2231406" y="197312"/>
            <a:ext cx="4412506" cy="64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mn-ea"/>
                <a:ea typeface="+mn-ea"/>
              </a:rPr>
              <a:t>总结</a:t>
            </a:r>
          </a:p>
        </p:txBody>
      </p:sp>
      <p:pic>
        <p:nvPicPr>
          <p:cNvPr id="2" name="图片 1" descr="徽标&#10;&#10;AI 生成的内容可能不正确。">
            <a:extLst>
              <a:ext uri="{FF2B5EF4-FFF2-40B4-BE49-F238E27FC236}">
                <a16:creationId xmlns:a16="http://schemas.microsoft.com/office/drawing/2014/main" id="{BFA945D5-5DAB-1539-C436-C8B3CB522CC5}"/>
              </a:ext>
            </a:extLst>
          </p:cNvPr>
          <p:cNvPicPr>
            <a:picLocks/>
          </p:cNvPicPr>
          <p:nvPr/>
        </p:nvPicPr>
        <p:blipFill>
          <a:blip r:embed="rId2">
            <a:extLst>
              <a:ext uri="{28A0092B-C50C-407E-A947-70E740481C1C}">
                <a14:useLocalDpi xmlns:a14="http://schemas.microsoft.com/office/drawing/2010/main" val="0"/>
              </a:ext>
            </a:extLst>
          </a:blip>
          <a:srcRect t="29985" b="27316"/>
          <a:stretch>
            <a:fillRect/>
          </a:stretch>
        </p:blipFill>
        <p:spPr>
          <a:xfrm>
            <a:off x="184195" y="166221"/>
            <a:ext cx="1741461" cy="688543"/>
          </a:xfrm>
          <a:prstGeom prst="rect">
            <a:avLst/>
          </a:prstGeom>
        </p:spPr>
      </p:pic>
      <p:sp>
        <p:nvSpPr>
          <p:cNvPr id="5" name="文本框 4">
            <a:extLst>
              <a:ext uri="{FF2B5EF4-FFF2-40B4-BE49-F238E27FC236}">
                <a16:creationId xmlns:a16="http://schemas.microsoft.com/office/drawing/2014/main" id="{56A88AF1-77CE-1162-B184-E793A5EA0D94}"/>
              </a:ext>
            </a:extLst>
          </p:cNvPr>
          <p:cNvSpPr txBox="1"/>
          <p:nvPr/>
        </p:nvSpPr>
        <p:spPr>
          <a:xfrm>
            <a:off x="2231407" y="1859339"/>
            <a:ext cx="4277344" cy="3139321"/>
          </a:xfrm>
          <a:prstGeom prst="rect">
            <a:avLst/>
          </a:prstGeom>
          <a:noFill/>
        </p:spPr>
        <p:txBody>
          <a:bodyPr wrap="square">
            <a:spAutoFit/>
          </a:bodyPr>
          <a:lstStyle/>
          <a:p>
            <a:r>
              <a:rPr lang="zh-CN" altLang="en-US" b="1" dirty="0"/>
              <a:t>聚焦核心场景，应用前景广阔。</a:t>
            </a:r>
          </a:p>
          <a:p>
            <a:endParaRPr lang="en-US" altLang="zh-CN" b="1" dirty="0"/>
          </a:p>
          <a:p>
            <a:r>
              <a:rPr lang="zh-CN" altLang="en-US" b="1" dirty="0"/>
              <a:t>小巧机身，全域无盲区感知。</a:t>
            </a:r>
          </a:p>
          <a:p>
            <a:endParaRPr lang="en-US" altLang="zh-CN" b="1" dirty="0"/>
          </a:p>
          <a:p>
            <a:r>
              <a:rPr lang="zh-CN" altLang="en-US" b="1" dirty="0"/>
              <a:t>全场景功能，贴合实际需求。</a:t>
            </a:r>
          </a:p>
          <a:p>
            <a:endParaRPr lang="en-US" altLang="zh-CN" b="1" dirty="0"/>
          </a:p>
          <a:p>
            <a:r>
              <a:rPr lang="zh-CN" altLang="en-US" b="1" dirty="0"/>
              <a:t>结构创新，提升稳定运维效率。</a:t>
            </a:r>
          </a:p>
          <a:p>
            <a:endParaRPr lang="en-US" altLang="zh-CN" b="1" dirty="0"/>
          </a:p>
          <a:p>
            <a:r>
              <a:rPr lang="zh-CN" altLang="en-US" b="1" dirty="0"/>
              <a:t>续航优异，四轮结构更安全。</a:t>
            </a:r>
          </a:p>
          <a:p>
            <a:endParaRPr lang="en-US" altLang="zh-CN" b="1" dirty="0"/>
          </a:p>
          <a:p>
            <a:r>
              <a:rPr lang="zh-CN" altLang="en-US" b="1" dirty="0"/>
              <a:t>解决核心痛点，商业化能力突出。</a:t>
            </a:r>
          </a:p>
        </p:txBody>
      </p:sp>
      <p:pic>
        <p:nvPicPr>
          <p:cNvPr id="8" name="图片 7">
            <a:extLst>
              <a:ext uri="{FF2B5EF4-FFF2-40B4-BE49-F238E27FC236}">
                <a16:creationId xmlns:a16="http://schemas.microsoft.com/office/drawing/2014/main" id="{E808D603-9E17-E2B9-C3E0-58EDFBF09E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1850" y="2437245"/>
            <a:ext cx="3517900" cy="2305798"/>
          </a:xfrm>
          <a:prstGeom prst="rect">
            <a:avLst/>
          </a:prstGeom>
        </p:spPr>
      </p:pic>
    </p:spTree>
    <p:extLst>
      <p:ext uri="{BB962C8B-B14F-4D97-AF65-F5344CB8AC3E}">
        <p14:creationId xmlns:p14="http://schemas.microsoft.com/office/powerpoint/2010/main" val="4180348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3122</TotalTime>
  <Words>902</Words>
  <Application>Microsoft Office PowerPoint</Application>
  <PresentationFormat>宽屏</PresentationFormat>
  <Paragraphs>166</Paragraphs>
  <Slides>26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26</vt:i4>
      </vt:variant>
    </vt:vector>
  </HeadingPairs>
  <TitlesOfParts>
    <vt:vector size="30"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c0 ex</dc:creator>
  <cp:lastModifiedBy>煜暄 陈</cp:lastModifiedBy>
  <cp:revision>32</cp:revision>
  <dcterms:created xsi:type="dcterms:W3CDTF">2025-09-25T15:24:44Z</dcterms:created>
  <dcterms:modified xsi:type="dcterms:W3CDTF">2026-03-27T04:43:12Z</dcterms:modified>
</cp:coreProperties>
</file>