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4" r:id="rId3"/>
    <p:sldId id="257" r:id="rId4"/>
    <p:sldId id="258" r:id="rId5"/>
    <p:sldId id="259" r:id="rId6"/>
    <p:sldId id="260" r:id="rId7"/>
    <p:sldId id="262" r:id="rId8"/>
    <p:sldId id="261" r:id="rId9"/>
    <p:sldId id="265" r:id="rId10"/>
    <p:sldId id="264" r:id="rId11"/>
    <p:sldId id="267" r:id="rId12"/>
    <p:sldId id="268" r:id="rId13"/>
    <p:sldId id="269" r:id="rId14"/>
    <p:sldId id="270" r:id="rId15"/>
    <p:sldId id="278" r:id="rId16"/>
    <p:sldId id="271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BB17A-EEF8-4B29-90C2-E0EB52EB433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9438E-2DCB-4051-A465-2D5D5AD05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9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9438E-2DCB-4051-A465-2D5D5AD05BC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6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7C7A-DCAA-9076-1A07-73D020E2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A150DA-A051-A496-C321-510F5F31A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8466AD-1118-8DDB-7882-FB7EEF632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1C250F-F7E7-93F2-E9C9-FAC909FEA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9438E-2DCB-4051-A465-2D5D5AD05BC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31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9438E-2DCB-4051-A465-2D5D5AD05BC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3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E6472-9F6D-0F73-C2E5-0E0B07B6E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72CDD7-50D0-B6A1-6CC9-18D7813B2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03D15A-58B6-1FE2-1F9B-62F82F30C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F1E818-3791-5145-CD8D-A25EC587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F4DD09-5D22-0193-B586-F65EC2EA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8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5BCC9-9D71-3A70-1D6E-8F172CAC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512000-E6C4-A8B1-E5FE-28B1EE36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36D20D-5509-CDDD-136C-175524BB0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BF15E0-0DDF-16D6-65D9-2ADB8370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3BCBB-45C6-F251-69A1-A8C97E61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386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C517D-8A50-F23F-7BB8-2F67DD0C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2C07FD-860A-BFB9-12CF-33751E737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FA80EC-7B1A-92A9-87EA-589EAB45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122655-61BD-051C-41D3-78F0DFEB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B40F3B-896A-0FF7-F03E-B10F7A20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51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65C07-65CB-F59A-6736-752CE231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3CAB7-1FE8-0C6C-74CB-1CF015D90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A446CD-20C9-B495-1077-7B7522762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210FD0-02CE-CAAD-68F1-E72BB5E0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DC561C-2A97-3BD3-31AC-394E050B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5458F-A9A2-FEA1-C61C-B340D509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25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57BB8-6162-1767-E494-BC2A5A5C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2C49DC-8948-0FCC-0815-F1E9CB41B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D43626-3C9F-D20F-1BD1-799173FC2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F0DCC5-2DED-52CC-64A5-554031BDC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C922E6-6954-E1E1-D2FD-0FAB2D3BF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D271B5-6333-3C4F-81DE-41C4DCFC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55C733-7360-8655-393A-B0D28644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8085B2-DE0F-80DE-7DB9-B263F114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07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2BA5F-8710-A96A-1B13-10B87A25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95D98C-1C20-5585-65CF-8F8DF376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AE37FC-07EE-7D09-11B1-706FC651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026E01-24BF-C745-9ED0-C53884F8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24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242650-B3B5-06BB-6B33-BB2918A0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80880F-88F0-6D75-B8C6-961DAFBB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DF43B2-C726-BD8A-7103-279A64CE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C6FDA-5264-0804-1B4A-D39F7C7C3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E02B9-9C43-A02F-A15A-D8B3D660B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DDBB33-E83B-2136-E043-F9677A49C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6B2FB-156D-2931-51D1-904C281C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AF52D1-4DA2-C1DC-70AD-5EF7161F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AD6336-EB1A-B937-24FF-7BA9D79B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46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77E64-E3A1-9BCA-E8E4-CF5E76B3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4CDCB6-5872-D515-C983-06C28A00A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B43312-CB97-B0E5-4355-1C5579865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3BD86C-CC53-8FE6-215C-6E433C07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4D90CF-B628-603F-A621-328F4CCCC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DAE74-CA78-EEB2-23D8-00471AC3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44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9CC7D-4AD7-9D8D-C096-E903C828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196087-ED77-D52D-1E29-D80020928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8711B-C44F-4D25-9356-A2436BF8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CA899-E2C5-96B5-85FE-287BBC60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C661F-4D36-7BE7-C69B-8707005C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57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1DC396-7336-C2FD-5482-5CA761123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BE867E-FED5-00A2-E3A5-94A289595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58BF7-4372-6201-1899-124F2F2C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3625A-3B96-FF43-5F3E-4509C118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54693C-D7EA-BB2E-CACD-178DD2CD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59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05C79E-9678-D3A6-B5C5-6E8EB948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984DBC-88C8-081C-608D-F9936A407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07550-AE57-BE51-04FE-372FEA8F8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8FD12-8B1C-4A13-B625-6CF9F5245ADC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5E9505-11C8-2098-4038-463EA8D8A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C248F-EED8-5910-B9E8-622CCC6CF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F60C7-F468-497D-8623-E62C614C0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3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D665F4D-ED4C-04A2-429F-E8D4156FB4DB}"/>
              </a:ext>
            </a:extLst>
          </p:cNvPr>
          <p:cNvSpPr/>
          <p:nvPr/>
        </p:nvSpPr>
        <p:spPr>
          <a:xfrm>
            <a:off x="0" y="3743326"/>
            <a:ext cx="12192000" cy="62865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73AE24-C068-D674-4FFE-94345EAF56A9}"/>
              </a:ext>
            </a:extLst>
          </p:cNvPr>
          <p:cNvSpPr/>
          <p:nvPr/>
        </p:nvSpPr>
        <p:spPr>
          <a:xfrm>
            <a:off x="0" y="3509963"/>
            <a:ext cx="12192000" cy="344011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882B0D0-FDAA-459F-66BF-FC8EB73FB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3434"/>
            <a:ext cx="9144000" cy="1137057"/>
          </a:xfrm>
          <a:noFill/>
        </p:spPr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</a:rPr>
              <a:t>手套设计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B62DE1-887C-A5A3-7CA3-357E0F507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841"/>
            <a:ext cx="9144000" cy="1655762"/>
          </a:xfrm>
        </p:spPr>
        <p:txBody>
          <a:bodyPr/>
          <a:lstStyle/>
          <a:p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控制与反馈</a:t>
            </a:r>
            <a:r>
              <a:rPr lang="en-US" altLang="zh-CN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-</a:t>
            </a:r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传感器作业</a:t>
            </a:r>
            <a:endParaRPr lang="en-US" altLang="zh-CN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组员</a:t>
            </a:r>
            <a:endParaRPr lang="en-US" altLang="zh-CN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陈煜暄 王齐权 张航诚</a:t>
            </a:r>
          </a:p>
        </p:txBody>
      </p:sp>
    </p:spTree>
    <p:extLst>
      <p:ext uri="{BB962C8B-B14F-4D97-AF65-F5344CB8AC3E}">
        <p14:creationId xmlns:p14="http://schemas.microsoft.com/office/powerpoint/2010/main" val="195741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13DB-9CD9-EB64-64EA-FC08ED2D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8BC9C25-6120-0115-317B-B4E4AADB971C}"/>
              </a:ext>
            </a:extLst>
          </p:cNvPr>
          <p:cNvSpPr/>
          <p:nvPr/>
        </p:nvSpPr>
        <p:spPr>
          <a:xfrm>
            <a:off x="0" y="3509963"/>
            <a:ext cx="12192000" cy="344011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C7F87C-A7D9-79DA-30A8-D9D56545E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67025" y="2372906"/>
            <a:ext cx="9144000" cy="1137057"/>
          </a:xfrm>
          <a:noFill/>
        </p:spPr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</a:rPr>
              <a:t>任务分配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3339BB-DE4A-DCB4-50F1-9BC44A221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841"/>
            <a:ext cx="9144000" cy="1655762"/>
          </a:xfrm>
        </p:spPr>
        <p:txBody>
          <a:bodyPr/>
          <a:lstStyle/>
          <a:p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陈煜暄 ：</a:t>
            </a:r>
            <a:r>
              <a:rPr lang="en-US" altLang="zh-CN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PPT </a:t>
            </a:r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计算 软件</a:t>
            </a:r>
            <a:endParaRPr lang="en-US" altLang="zh-CN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王齐权 ：</a:t>
            </a:r>
            <a:r>
              <a:rPr lang="en-US" altLang="zh-CN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word</a:t>
            </a:r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编写 </a:t>
            </a:r>
            <a:r>
              <a:rPr lang="en-US" altLang="zh-CN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PPT</a:t>
            </a:r>
          </a:p>
          <a:p>
            <a:r>
              <a:rPr lang="zh-CN" altLang="en-US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张航诚：建模 渲染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A11EA5-0222-2DF6-3F08-85C280494E7C}"/>
              </a:ext>
            </a:extLst>
          </p:cNvPr>
          <p:cNvSpPr/>
          <p:nvPr/>
        </p:nvSpPr>
        <p:spPr>
          <a:xfrm>
            <a:off x="0" y="0"/>
            <a:ext cx="12192000" cy="252049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8827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48263-54D8-66D3-E8FD-D15F3E59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9377" cy="1325563"/>
          </a:xfrm>
        </p:spPr>
        <p:txBody>
          <a:bodyPr/>
          <a:lstStyle/>
          <a:p>
            <a:r>
              <a:rPr lang="zh-CN" altLang="zh-CN" b="1" dirty="0"/>
              <a:t>设计背景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0E71B1-5855-4B7E-E7A6-70A9A961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129377" cy="4351338"/>
          </a:xfrm>
        </p:spPr>
        <p:txBody>
          <a:bodyPr>
            <a:noAutofit/>
          </a:bodyPr>
          <a:lstStyle/>
          <a:p>
            <a:r>
              <a:rPr lang="zh-CN" altLang="en-US" sz="2400" b="1" dirty="0"/>
              <a:t>已知有力反馈手套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已知有控制手套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反馈与控制结合的手套目前较少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zh-CN" sz="2400" b="1" dirty="0"/>
              <a:t>数据手套作为灵巧手核心控制与感知终端，市场空间持续扩大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 </a:t>
            </a:r>
            <a:r>
              <a:rPr lang="zh-CN" altLang="en-US" sz="2400" b="1" dirty="0"/>
              <a:t>有必要设计一款控制与反馈结合的手套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7D3CAF-EFC8-0FDA-3937-06F727733ED4}"/>
              </a:ext>
            </a:extLst>
          </p:cNvPr>
          <p:cNvSpPr/>
          <p:nvPr/>
        </p:nvSpPr>
        <p:spPr>
          <a:xfrm>
            <a:off x="0" y="1450948"/>
            <a:ext cx="12192000" cy="4571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572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0E2B-1269-BB8B-D0D7-9A4E6777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5866673-2E3C-AED8-A407-913FE073429A}"/>
              </a:ext>
            </a:extLst>
          </p:cNvPr>
          <p:cNvSpPr/>
          <p:nvPr/>
        </p:nvSpPr>
        <p:spPr>
          <a:xfrm>
            <a:off x="7481455" y="0"/>
            <a:ext cx="4710545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B3ED544-C271-A747-3B41-F7A8E06A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9377" cy="1325563"/>
          </a:xfrm>
        </p:spPr>
        <p:txBody>
          <a:bodyPr/>
          <a:lstStyle/>
          <a:p>
            <a:r>
              <a:rPr lang="zh-CN" altLang="zh-CN" b="1" dirty="0">
                <a:solidFill>
                  <a:srgbClr val="0000FF"/>
                </a:solidFill>
              </a:rPr>
              <a:t>主要功能和性能指标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38326-E78F-90E4-A123-035200AB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6076951" cy="4715701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能实现遥操作数据手套的基本功能（感知操作员手指运动学信息）；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zh-CN" altLang="en-US" sz="2400" dirty="0">
                <a:solidFill>
                  <a:srgbClr val="0000FF"/>
                </a:solidFill>
              </a:rPr>
              <a:t>手套具备力反馈功能，能够将灵巧手感知到的操作力通过渲染后定性地反馈至手套上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zh-CN" altLang="en-US" sz="2400" dirty="0">
                <a:solidFill>
                  <a:srgbClr val="0000FF"/>
                </a:solidFill>
              </a:rPr>
              <a:t>手套为五指手套，结构尺寸适配正常成年人手部尺寸；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手套具备力感知功能，能感知操作员操作过程中指腹法向接触力，手套感知精度不低于</a:t>
            </a:r>
            <a:r>
              <a:rPr lang="en-US" altLang="zh-CN" sz="2400" dirty="0">
                <a:solidFill>
                  <a:srgbClr val="0000FF"/>
                </a:solidFill>
              </a:rPr>
              <a:t>0.5N</a:t>
            </a:r>
            <a:r>
              <a:rPr lang="zh-CN" altLang="en-US" sz="2400" dirty="0">
                <a:solidFill>
                  <a:srgbClr val="0000FF"/>
                </a:solidFill>
              </a:rPr>
              <a:t>（考虑柔性力</a:t>
            </a:r>
            <a:r>
              <a:rPr lang="en-US" altLang="zh-CN" sz="2400" dirty="0">
                <a:solidFill>
                  <a:srgbClr val="0000FF"/>
                </a:solidFill>
              </a:rPr>
              <a:t>/</a:t>
            </a:r>
            <a:r>
              <a:rPr lang="zh-CN" altLang="en-US" sz="2400" dirty="0">
                <a:solidFill>
                  <a:srgbClr val="0000FF"/>
                </a:solidFill>
              </a:rPr>
              <a:t>触觉传感器）；</a:t>
            </a:r>
          </a:p>
          <a:p>
            <a:r>
              <a:rPr lang="zh-CN" altLang="en-US" sz="2400" dirty="0">
                <a:solidFill>
                  <a:srgbClr val="0000FF"/>
                </a:solidFill>
              </a:rPr>
              <a:t>单指力反馈自由度应为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r>
              <a:rPr lang="zh-CN" altLang="en-US" sz="2400" dirty="0">
                <a:solidFill>
                  <a:srgbClr val="0000FF"/>
                </a:solidFill>
              </a:rPr>
              <a:t>自由度（大拇指为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r>
              <a:rPr lang="zh-CN" altLang="en-US" sz="2400" dirty="0">
                <a:solidFill>
                  <a:srgbClr val="0000FF"/>
                </a:solidFill>
              </a:rPr>
              <a:t>自由度）</a:t>
            </a:r>
          </a:p>
          <a:p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2DBC12-8EA6-A4D6-020E-4A172A165AE9}"/>
              </a:ext>
            </a:extLst>
          </p:cNvPr>
          <p:cNvSpPr/>
          <p:nvPr/>
        </p:nvSpPr>
        <p:spPr>
          <a:xfrm flipH="1">
            <a:off x="7707877" y="889760"/>
            <a:ext cx="45719" cy="551662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62A5-771F-4484-A5FB-D856D77C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E617393-9033-21CC-A67B-3E050B4CF8F5}"/>
              </a:ext>
            </a:extLst>
          </p:cNvPr>
          <p:cNvSpPr/>
          <p:nvPr/>
        </p:nvSpPr>
        <p:spPr>
          <a:xfrm>
            <a:off x="5886922" y="581891"/>
            <a:ext cx="6305078" cy="551662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CE9FA6F6-0E92-8D0F-4B22-57FCD7A0C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54" y="1967843"/>
            <a:ext cx="5274310" cy="379285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0579E1D-19DA-71B2-D568-F0516F11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9377" cy="1325563"/>
          </a:xfrm>
        </p:spPr>
        <p:txBody>
          <a:bodyPr/>
          <a:lstStyle/>
          <a:p>
            <a:r>
              <a:rPr lang="zh-CN" altLang="en-US" b="1" dirty="0"/>
              <a:t>力反馈的计算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17DC3-6EA1-06D6-74B7-79A4024BE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3470" y="759481"/>
            <a:ext cx="5811982" cy="5652654"/>
          </a:xfrm>
        </p:spPr>
        <p:txBody>
          <a:bodyPr>
            <a:noAutofit/>
          </a:bodyPr>
          <a:lstStyle/>
          <a:p>
            <a:r>
              <a:rPr lang="zh-CN" altLang="zh-CN" sz="2400" b="1" dirty="0">
                <a:solidFill>
                  <a:schemeClr val="bg2"/>
                </a:solidFill>
              </a:rPr>
              <a:t>为模拟人手手指的运动自由度，设计由</a:t>
            </a:r>
            <a:r>
              <a:rPr lang="en-US" altLang="zh-CN" sz="2400" b="1" dirty="0">
                <a:solidFill>
                  <a:schemeClr val="bg2"/>
                </a:solidFill>
              </a:rPr>
              <a:t>3~4 </a:t>
            </a:r>
            <a:r>
              <a:rPr lang="zh-CN" altLang="zh-CN" sz="2400" b="1" dirty="0">
                <a:solidFill>
                  <a:schemeClr val="bg2"/>
                </a:solidFill>
              </a:rPr>
              <a:t>个铰接刚体关节组成的传动链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r>
              <a:rPr lang="zh-CN" altLang="zh-CN" sz="2400" b="1" dirty="0">
                <a:solidFill>
                  <a:schemeClr val="bg2"/>
                </a:solidFill>
              </a:rPr>
              <a:t>每根手指的传动绳末端连接至力控制舵机的收放轮上。电机收放轮的扭矩与绳子拉力直接相关，通过测量电机扭矩即可反推指腹法向力。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r>
              <a:rPr lang="zh-CN" altLang="zh-CN" sz="2400" b="1" dirty="0">
                <a:solidFill>
                  <a:schemeClr val="bg2"/>
                </a:solidFill>
              </a:rPr>
              <a:t>以单指（如食指）为例，建立力学模型（ </a:t>
            </a:r>
            <a:r>
              <a:rPr lang="en-US" altLang="zh-CN" sz="2400" b="1" dirty="0">
                <a:solidFill>
                  <a:schemeClr val="bg2"/>
                </a:solidFill>
              </a:rPr>
              <a:t>“</a:t>
            </a:r>
            <a:r>
              <a:rPr lang="zh-CN" altLang="zh-CN" sz="2400" b="1" dirty="0">
                <a:solidFill>
                  <a:schemeClr val="bg2"/>
                </a:solidFill>
              </a:rPr>
              <a:t>动态三力汇交模型</a:t>
            </a:r>
            <a:r>
              <a:rPr lang="en-US" altLang="zh-CN" sz="2400" b="1" dirty="0">
                <a:solidFill>
                  <a:schemeClr val="bg2"/>
                </a:solidFill>
              </a:rPr>
              <a:t>”</a:t>
            </a:r>
            <a:r>
              <a:rPr lang="zh-CN" altLang="zh-CN" sz="2400" b="1" dirty="0">
                <a:solidFill>
                  <a:schemeClr val="bg2"/>
                </a:solidFill>
              </a:rPr>
              <a:t>）：</a:t>
            </a: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r>
              <a:rPr lang="zh-CN" altLang="zh-CN" sz="2400" b="1" dirty="0">
                <a:solidFill>
                  <a:schemeClr val="bg2"/>
                </a:solidFill>
              </a:rPr>
              <a:t>将多关节传动单元视为刚体整体，忽略关节摩擦与绳的弹性形变；</a:t>
            </a: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B48E29-9B8F-3C48-85EC-CCB190AF022C}"/>
              </a:ext>
            </a:extLst>
          </p:cNvPr>
          <p:cNvSpPr/>
          <p:nvPr/>
        </p:nvSpPr>
        <p:spPr>
          <a:xfrm flipH="1">
            <a:off x="5717152" y="581890"/>
            <a:ext cx="45719" cy="551662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0353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87BD-B220-BBE6-1776-FA41628D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807A3AF-AAE9-46D3-4C77-BAE9ED6BB4C1}"/>
              </a:ext>
            </a:extLst>
          </p:cNvPr>
          <p:cNvSpPr/>
          <p:nvPr/>
        </p:nvSpPr>
        <p:spPr>
          <a:xfrm>
            <a:off x="5886922" y="2660072"/>
            <a:ext cx="6305078" cy="9748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A74DD3C-A52B-0273-4328-B88FFA12D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54" y="1967843"/>
            <a:ext cx="5274310" cy="379285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CD93653-4ADF-EC00-842C-448E4741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9377" cy="1325563"/>
          </a:xfrm>
        </p:spPr>
        <p:txBody>
          <a:bodyPr/>
          <a:lstStyle/>
          <a:p>
            <a:r>
              <a:rPr lang="zh-CN" altLang="en-US" b="1" dirty="0"/>
              <a:t>力反馈的计算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1FD33-1FA8-FDC8-CCAA-AA5FA215C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865" y="287167"/>
            <a:ext cx="5811982" cy="6468813"/>
          </a:xfrm>
          <a:noFill/>
        </p:spPr>
        <p:txBody>
          <a:bodyPr>
            <a:noAutofit/>
          </a:bodyPr>
          <a:lstStyle/>
          <a:p>
            <a:endParaRPr lang="en-US" altLang="zh-CN" b="1" dirty="0">
              <a:solidFill>
                <a:schemeClr val="bg2"/>
              </a:solidFill>
            </a:endParaRPr>
          </a:p>
          <a:p>
            <a:r>
              <a:rPr lang="zh-CN" altLang="zh-CN" b="1" dirty="0">
                <a:solidFill>
                  <a:srgbClr val="0000FF"/>
                </a:solidFill>
              </a:rPr>
              <a:t>指腹法向力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</a:rPr>
              <a:t>Fn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zh-CN" b="1" dirty="0">
                <a:solidFill>
                  <a:srgbClr val="0000FF"/>
                </a:solidFill>
              </a:rPr>
              <a:t>沿传动绳的轴线方向传递，绳子拉力</a:t>
            </a:r>
            <a:r>
              <a:rPr lang="en-US" altLang="zh-CN" b="1" dirty="0">
                <a:solidFill>
                  <a:srgbClr val="0000FF"/>
                </a:solidFill>
              </a:rPr>
              <a:t> Fr</a:t>
            </a:r>
            <a:r>
              <a:rPr lang="zh-CN" altLang="zh-CN" b="1" dirty="0">
                <a:solidFill>
                  <a:srgbClr val="0000FF"/>
                </a:solidFill>
              </a:rPr>
              <a:t>与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</a:rPr>
              <a:t>Fn</a:t>
            </a:r>
            <a:r>
              <a:rPr lang="zh-CN" altLang="zh-CN" b="1" dirty="0">
                <a:solidFill>
                  <a:srgbClr val="0000FF"/>
                </a:solidFill>
              </a:rPr>
              <a:t>满足</a:t>
            </a:r>
            <a:r>
              <a:rPr lang="en-US" altLang="zh-CN" b="1" dirty="0">
                <a:solidFill>
                  <a:srgbClr val="0000FF"/>
                </a:solidFill>
              </a:rPr>
              <a:t> “</a:t>
            </a:r>
            <a:r>
              <a:rPr lang="zh-CN" altLang="zh-CN" b="1" dirty="0">
                <a:solidFill>
                  <a:srgbClr val="0000FF"/>
                </a:solidFill>
              </a:rPr>
              <a:t>作用与反作用</a:t>
            </a:r>
            <a:r>
              <a:rPr lang="en-US" altLang="zh-CN" b="1" dirty="0">
                <a:solidFill>
                  <a:srgbClr val="0000FF"/>
                </a:solidFill>
              </a:rPr>
              <a:t>”</a:t>
            </a:r>
            <a:r>
              <a:rPr lang="zh-CN" altLang="zh-CN" b="1" dirty="0">
                <a:solidFill>
                  <a:srgbClr val="0000FF"/>
                </a:solidFill>
              </a:rPr>
              <a:t>，即</a:t>
            </a:r>
            <a:r>
              <a:rPr lang="en-US" altLang="zh-CN" b="1" dirty="0">
                <a:solidFill>
                  <a:srgbClr val="0000FF"/>
                </a:solidFill>
              </a:rPr>
              <a:t>Fr = </a:t>
            </a:r>
            <a:r>
              <a:rPr lang="en-US" altLang="zh-CN" b="1" dirty="0" err="1">
                <a:solidFill>
                  <a:srgbClr val="0000FF"/>
                </a:solidFill>
              </a:rPr>
              <a:t>Fn</a:t>
            </a:r>
            <a:r>
              <a:rPr lang="zh-CN" altLang="zh-CN" b="1" dirty="0">
                <a:solidFill>
                  <a:srgbClr val="0000FF"/>
                </a:solidFill>
              </a:rPr>
              <a:t>（绳套与指腹无相对滑动时）</a:t>
            </a:r>
          </a:p>
          <a:p>
            <a:endParaRPr lang="en-US" altLang="zh-CN" sz="2400" b="1" dirty="0">
              <a:solidFill>
                <a:srgbClr val="0000FF"/>
              </a:solidFill>
            </a:endParaRPr>
          </a:p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T = Fr*r</a:t>
            </a:r>
          </a:p>
          <a:p>
            <a:pPr algn="ctr"/>
            <a:endParaRPr lang="en-US" altLang="zh-CN" b="1" dirty="0"/>
          </a:p>
          <a:p>
            <a:r>
              <a:rPr lang="zh-CN" altLang="zh-CN" b="1" dirty="0">
                <a:solidFill>
                  <a:srgbClr val="0000FF"/>
                </a:solidFill>
              </a:rPr>
              <a:t>电机收放轮的半径为</a:t>
            </a:r>
            <a:r>
              <a:rPr lang="en-US" altLang="zh-CN" b="1" dirty="0">
                <a:solidFill>
                  <a:srgbClr val="0000FF"/>
                </a:solidFill>
              </a:rPr>
              <a:t> r</a:t>
            </a:r>
          </a:p>
          <a:p>
            <a:r>
              <a:rPr lang="zh-CN" altLang="zh-CN" b="1" dirty="0">
                <a:solidFill>
                  <a:srgbClr val="0000FF"/>
                </a:solidFill>
              </a:rPr>
              <a:t>电机输出扭矩</a:t>
            </a:r>
            <a:r>
              <a:rPr lang="en-US" altLang="zh-CN" b="1" dirty="0">
                <a:solidFill>
                  <a:srgbClr val="0000FF"/>
                </a:solidFill>
              </a:rPr>
              <a:t> T</a:t>
            </a:r>
          </a:p>
          <a:p>
            <a:pPr algn="ctr"/>
            <a:endParaRPr lang="zh-CN" altLang="zh-CN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515063-0676-744A-678A-85088AF8409D}"/>
              </a:ext>
            </a:extLst>
          </p:cNvPr>
          <p:cNvSpPr/>
          <p:nvPr/>
        </p:nvSpPr>
        <p:spPr>
          <a:xfrm flipH="1">
            <a:off x="6160864" y="2660071"/>
            <a:ext cx="249460" cy="9748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1443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99948-0C8E-E16A-E541-733B3BEE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655E77E-16BC-1C08-1425-516DEC3C236D}"/>
              </a:ext>
            </a:extLst>
          </p:cNvPr>
          <p:cNvSpPr/>
          <p:nvPr/>
        </p:nvSpPr>
        <p:spPr>
          <a:xfrm>
            <a:off x="5886922" y="0"/>
            <a:ext cx="6305078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750DD72A-CE93-5FE3-4AB4-26B78BD6C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54" y="1967843"/>
            <a:ext cx="5274310" cy="379285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78E0A27-2787-D92A-33A4-88B2F969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9377" cy="1325563"/>
          </a:xfrm>
        </p:spPr>
        <p:txBody>
          <a:bodyPr/>
          <a:lstStyle/>
          <a:p>
            <a:r>
              <a:rPr lang="zh-CN" altLang="en-US" b="1" dirty="0"/>
              <a:t>力反馈的计算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12FA-89D1-73DB-756A-0651AF26D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865" y="287167"/>
            <a:ext cx="5811982" cy="6468813"/>
          </a:xfrm>
        </p:spPr>
        <p:txBody>
          <a:bodyPr>
            <a:noAutofit/>
          </a:bodyPr>
          <a:lstStyle/>
          <a:p>
            <a:endParaRPr lang="en-US" altLang="zh-CN" b="1" dirty="0">
              <a:solidFill>
                <a:schemeClr val="bg2"/>
              </a:solidFill>
            </a:endParaRPr>
          </a:p>
          <a:p>
            <a:r>
              <a:rPr lang="zh-CN" altLang="zh-CN" b="1" dirty="0">
                <a:solidFill>
                  <a:schemeClr val="bg2"/>
                </a:solidFill>
              </a:rPr>
              <a:t>由于手指关节运动时，传动绳与指腹法向的夹角θ会发生变化，需引入角度修正项。根据三角函数关系与图的受力分析关系，指腹法向力</a:t>
            </a:r>
            <a:r>
              <a:rPr lang="en-US" altLang="zh-CN" b="1" dirty="0" err="1">
                <a:solidFill>
                  <a:schemeClr val="bg2"/>
                </a:solidFill>
              </a:rPr>
              <a:t>Fn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zh-CN" altLang="zh-CN" b="1" dirty="0">
                <a:solidFill>
                  <a:schemeClr val="bg2"/>
                </a:solidFill>
              </a:rPr>
              <a:t>与电机扭矩</a:t>
            </a:r>
            <a:r>
              <a:rPr lang="en-US" altLang="zh-CN" b="1" dirty="0">
                <a:solidFill>
                  <a:schemeClr val="bg2"/>
                </a:solidFill>
              </a:rPr>
              <a:t> T </a:t>
            </a:r>
            <a:r>
              <a:rPr lang="zh-CN" altLang="zh-CN" b="1" dirty="0">
                <a:solidFill>
                  <a:schemeClr val="bg2"/>
                </a:solidFill>
              </a:rPr>
              <a:t>的最终关系为：</a:t>
            </a:r>
            <a:endParaRPr lang="en-US" altLang="zh-CN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pPr algn="ctr"/>
            <a:r>
              <a:rPr lang="en-US" altLang="zh-CN" b="1" dirty="0">
                <a:solidFill>
                  <a:schemeClr val="bg2"/>
                </a:solidFill>
              </a:rPr>
              <a:t>T=</a:t>
            </a:r>
            <a:r>
              <a:rPr lang="en-US" altLang="zh-CN" b="1" dirty="0" err="1">
                <a:solidFill>
                  <a:schemeClr val="bg2"/>
                </a:solidFill>
              </a:rPr>
              <a:t>fn</a:t>
            </a:r>
            <a:r>
              <a:rPr lang="en-US" altLang="zh-CN" b="1" dirty="0">
                <a:solidFill>
                  <a:schemeClr val="bg2"/>
                </a:solidFill>
              </a:rPr>
              <a:t>*r/sin</a:t>
            </a:r>
            <a:r>
              <a:rPr lang="zh-CN" altLang="zh-CN" b="1" dirty="0">
                <a:solidFill>
                  <a:schemeClr val="bg2"/>
                </a:solidFill>
              </a:rPr>
              <a:t>（</a:t>
            </a:r>
            <a:r>
              <a:rPr lang="en-US" altLang="zh-CN" b="1" dirty="0">
                <a:solidFill>
                  <a:schemeClr val="bg2"/>
                </a:solidFill>
              </a:rPr>
              <a:t>3*</a:t>
            </a:r>
            <a:r>
              <a:rPr lang="zh-CN" altLang="zh-CN" b="1" dirty="0">
                <a:solidFill>
                  <a:schemeClr val="bg2"/>
                </a:solidFill>
              </a:rPr>
              <a:t>θ</a:t>
            </a:r>
            <a:r>
              <a:rPr lang="en-US" altLang="zh-CN" b="1" dirty="0">
                <a:solidFill>
                  <a:schemeClr val="bg2"/>
                </a:solidFill>
              </a:rPr>
              <a:t>+90°</a:t>
            </a:r>
            <a:r>
              <a:rPr lang="zh-CN" altLang="zh-CN" b="1" dirty="0">
                <a:solidFill>
                  <a:schemeClr val="bg2"/>
                </a:solidFill>
              </a:rPr>
              <a:t>）</a:t>
            </a:r>
          </a:p>
          <a:p>
            <a:pPr algn="ctr"/>
            <a:endParaRPr lang="en-US" altLang="zh-CN" b="1" dirty="0">
              <a:solidFill>
                <a:schemeClr val="bg2"/>
              </a:solidFill>
            </a:endParaRPr>
          </a:p>
          <a:p>
            <a:r>
              <a:rPr lang="en-US" altLang="zh-CN" b="1" dirty="0" err="1">
                <a:solidFill>
                  <a:schemeClr val="bg2"/>
                </a:solidFill>
              </a:rPr>
              <a:t>Fn</a:t>
            </a:r>
            <a:r>
              <a:rPr lang="zh-CN" altLang="en-US" b="1" dirty="0">
                <a:solidFill>
                  <a:schemeClr val="bg2"/>
                </a:solidFill>
              </a:rPr>
              <a:t>：指腹法向力</a:t>
            </a:r>
            <a:endParaRPr lang="en-US" altLang="zh-CN" b="1" dirty="0">
              <a:solidFill>
                <a:schemeClr val="bg2"/>
              </a:solidFill>
            </a:endParaRPr>
          </a:p>
          <a:p>
            <a:r>
              <a:rPr lang="zh-CN" altLang="en-US" b="1" dirty="0">
                <a:solidFill>
                  <a:schemeClr val="bg2"/>
                </a:solidFill>
              </a:rPr>
              <a:t>电机扭矩</a:t>
            </a:r>
            <a:r>
              <a:rPr lang="en-US" altLang="zh-CN" b="1" dirty="0">
                <a:solidFill>
                  <a:schemeClr val="bg2"/>
                </a:solidFill>
              </a:rPr>
              <a:t>T</a:t>
            </a:r>
            <a:endParaRPr lang="zh-CN" altLang="zh-CN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15C86E-931B-46BD-929D-CE44DD39A258}"/>
              </a:ext>
            </a:extLst>
          </p:cNvPr>
          <p:cNvSpPr/>
          <p:nvPr/>
        </p:nvSpPr>
        <p:spPr>
          <a:xfrm>
            <a:off x="5767407" y="0"/>
            <a:ext cx="45719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0657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01C6-6124-DCBC-A44B-6C66447D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2079F4E-572E-68E2-F196-75C3ECD6DC46}"/>
              </a:ext>
            </a:extLst>
          </p:cNvPr>
          <p:cNvSpPr/>
          <p:nvPr/>
        </p:nvSpPr>
        <p:spPr>
          <a:xfrm>
            <a:off x="5886922" y="2871668"/>
            <a:ext cx="6305078" cy="120156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165818AC-1F00-6242-598C-DC1493370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53" y="1945172"/>
            <a:ext cx="5274310" cy="379285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46DFD2E-62FF-2D2A-E1F5-66A4B5A7D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9377" cy="1325563"/>
          </a:xfrm>
        </p:spPr>
        <p:txBody>
          <a:bodyPr/>
          <a:lstStyle/>
          <a:p>
            <a:r>
              <a:rPr lang="zh-CN" altLang="en-US" b="1" dirty="0"/>
              <a:t>力反馈的计算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E39FC-FDD4-2492-74AD-1EE73E9C5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865" y="287167"/>
            <a:ext cx="5811982" cy="6468813"/>
          </a:xfrm>
        </p:spPr>
        <p:txBody>
          <a:bodyPr>
            <a:noAutofit/>
          </a:bodyPr>
          <a:lstStyle/>
          <a:p>
            <a:endParaRPr lang="en-US" altLang="zh-CN" b="1" dirty="0">
              <a:solidFill>
                <a:srgbClr val="0000FF"/>
              </a:solidFill>
            </a:endParaRPr>
          </a:p>
          <a:p>
            <a:r>
              <a:rPr lang="zh-CN" altLang="zh-CN" b="1" dirty="0">
                <a:solidFill>
                  <a:srgbClr val="0000FF"/>
                </a:solidFill>
              </a:rPr>
              <a:t>由于手指关节运动时，传动绳与指腹法向的夹角θ会发生变化，需引入角度修正项。根据三角函数关系与图的受力分析关系，指腹法向力</a:t>
            </a:r>
            <a:r>
              <a:rPr lang="en-US" altLang="zh-CN" b="1" dirty="0" err="1">
                <a:solidFill>
                  <a:srgbClr val="0000FF"/>
                </a:solidFill>
              </a:rPr>
              <a:t>Fn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zh-CN" b="1" dirty="0">
                <a:solidFill>
                  <a:srgbClr val="0000FF"/>
                </a:solidFill>
              </a:rPr>
              <a:t>与电机扭矩</a:t>
            </a:r>
            <a:r>
              <a:rPr lang="en-US" altLang="zh-CN" b="1" dirty="0">
                <a:solidFill>
                  <a:srgbClr val="0000FF"/>
                </a:solidFill>
              </a:rPr>
              <a:t> T </a:t>
            </a:r>
            <a:r>
              <a:rPr lang="zh-CN" altLang="zh-CN" b="1" dirty="0">
                <a:solidFill>
                  <a:srgbClr val="0000FF"/>
                </a:solidFill>
              </a:rPr>
              <a:t>的最终关系为：</a:t>
            </a:r>
            <a:endParaRPr lang="en-US" altLang="zh-CN" b="1" dirty="0">
              <a:solidFill>
                <a:srgbClr val="0000FF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pPr algn="ctr"/>
            <a:r>
              <a:rPr lang="en-US" altLang="zh-CN" b="1" dirty="0">
                <a:solidFill>
                  <a:schemeClr val="bg2"/>
                </a:solidFill>
              </a:rPr>
              <a:t>T=</a:t>
            </a:r>
            <a:r>
              <a:rPr lang="en-US" altLang="zh-CN" b="1" dirty="0" err="1">
                <a:solidFill>
                  <a:schemeClr val="bg2"/>
                </a:solidFill>
              </a:rPr>
              <a:t>fn</a:t>
            </a:r>
            <a:r>
              <a:rPr lang="en-US" altLang="zh-CN" b="1" dirty="0">
                <a:solidFill>
                  <a:schemeClr val="bg2"/>
                </a:solidFill>
              </a:rPr>
              <a:t>*r/sin</a:t>
            </a:r>
            <a:r>
              <a:rPr lang="zh-CN" altLang="zh-CN" b="1" dirty="0">
                <a:solidFill>
                  <a:schemeClr val="bg2"/>
                </a:solidFill>
              </a:rPr>
              <a:t>（</a:t>
            </a:r>
            <a:r>
              <a:rPr lang="en-US" altLang="zh-CN" b="1" dirty="0">
                <a:solidFill>
                  <a:schemeClr val="bg2"/>
                </a:solidFill>
              </a:rPr>
              <a:t>3*</a:t>
            </a:r>
            <a:r>
              <a:rPr lang="zh-CN" altLang="zh-CN" b="1" dirty="0">
                <a:solidFill>
                  <a:schemeClr val="bg2"/>
                </a:solidFill>
              </a:rPr>
              <a:t>θ</a:t>
            </a:r>
            <a:r>
              <a:rPr lang="en-US" altLang="zh-CN" b="1" dirty="0">
                <a:solidFill>
                  <a:schemeClr val="bg2"/>
                </a:solidFill>
              </a:rPr>
              <a:t>+90°</a:t>
            </a:r>
            <a:r>
              <a:rPr lang="zh-CN" altLang="zh-CN" b="1" dirty="0">
                <a:solidFill>
                  <a:schemeClr val="bg2"/>
                </a:solidFill>
              </a:rPr>
              <a:t>）</a:t>
            </a:r>
          </a:p>
          <a:p>
            <a:pPr algn="ctr"/>
            <a:endParaRPr lang="en-US" altLang="zh-CN" b="1" dirty="0">
              <a:solidFill>
                <a:schemeClr val="bg2"/>
              </a:solidFill>
            </a:endParaRPr>
          </a:p>
          <a:p>
            <a:r>
              <a:rPr lang="en-US" altLang="zh-CN" b="1" dirty="0" err="1">
                <a:solidFill>
                  <a:srgbClr val="0000FF"/>
                </a:solidFill>
              </a:rPr>
              <a:t>Fn</a:t>
            </a:r>
            <a:r>
              <a:rPr lang="zh-CN" altLang="en-US" b="1" dirty="0">
                <a:solidFill>
                  <a:srgbClr val="0000FF"/>
                </a:solidFill>
              </a:rPr>
              <a:t>：指腹法向力</a:t>
            </a:r>
            <a:endParaRPr lang="en-US" altLang="zh-CN" b="1" dirty="0">
              <a:solidFill>
                <a:srgbClr val="0000FF"/>
              </a:solidFill>
            </a:endParaRPr>
          </a:p>
          <a:p>
            <a:r>
              <a:rPr lang="zh-CN" altLang="en-US" b="1" dirty="0">
                <a:solidFill>
                  <a:srgbClr val="0000FF"/>
                </a:solidFill>
              </a:rPr>
              <a:t>电机扭矩</a:t>
            </a:r>
            <a:r>
              <a:rPr lang="en-US" altLang="zh-CN" b="1" dirty="0">
                <a:solidFill>
                  <a:srgbClr val="0000FF"/>
                </a:solidFill>
              </a:rPr>
              <a:t>T</a:t>
            </a:r>
            <a:endParaRPr lang="zh-CN" altLang="zh-CN" b="1" dirty="0">
              <a:solidFill>
                <a:srgbClr val="0000FF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E402E4-E5FF-1C2C-D287-EC9640032CE9}"/>
              </a:ext>
            </a:extLst>
          </p:cNvPr>
          <p:cNvSpPr/>
          <p:nvPr/>
        </p:nvSpPr>
        <p:spPr>
          <a:xfrm>
            <a:off x="0" y="-2724326"/>
            <a:ext cx="12192000" cy="160413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2DBC55-0A9D-FE4A-4C90-D17321B9C8AC}"/>
              </a:ext>
            </a:extLst>
          </p:cNvPr>
          <p:cNvSpPr/>
          <p:nvPr/>
        </p:nvSpPr>
        <p:spPr>
          <a:xfrm>
            <a:off x="0" y="-53898"/>
            <a:ext cx="12192000" cy="4571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6B00DF-18FA-C660-8F9D-5BD8661C456A}"/>
              </a:ext>
            </a:extLst>
          </p:cNvPr>
          <p:cNvSpPr/>
          <p:nvPr/>
        </p:nvSpPr>
        <p:spPr>
          <a:xfrm>
            <a:off x="0" y="-881447"/>
            <a:ext cx="12192000" cy="1813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B54E11-E3DE-EAB2-5E3D-2B00ED734D06}"/>
              </a:ext>
            </a:extLst>
          </p:cNvPr>
          <p:cNvSpPr/>
          <p:nvPr/>
        </p:nvSpPr>
        <p:spPr>
          <a:xfrm>
            <a:off x="0" y="7099820"/>
            <a:ext cx="12192000" cy="55753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44A696-9687-8B68-1A59-496DB8EBDC51}"/>
              </a:ext>
            </a:extLst>
          </p:cNvPr>
          <p:cNvSpPr/>
          <p:nvPr/>
        </p:nvSpPr>
        <p:spPr>
          <a:xfrm>
            <a:off x="0" y="6858000"/>
            <a:ext cx="12192000" cy="590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D166FB-7F1C-F07E-DF7C-35B3FEE8E6E1}"/>
              </a:ext>
            </a:extLst>
          </p:cNvPr>
          <p:cNvSpPr/>
          <p:nvPr/>
        </p:nvSpPr>
        <p:spPr>
          <a:xfrm flipH="1">
            <a:off x="6160865" y="3034144"/>
            <a:ext cx="249460" cy="9748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283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AF03-36A4-BCBA-FCEF-B622568DC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70C2D8-85D8-2ECC-E4EB-8CAC20C6082D}"/>
              </a:ext>
            </a:extLst>
          </p:cNvPr>
          <p:cNvSpPr/>
          <p:nvPr/>
        </p:nvSpPr>
        <p:spPr>
          <a:xfrm>
            <a:off x="0" y="209550"/>
            <a:ext cx="12192000" cy="160413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33EDCA7-F7D3-FFD5-A6B9-31C84642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1" y="7020937"/>
            <a:ext cx="6129377" cy="1325563"/>
          </a:xfrm>
        </p:spPr>
        <p:txBody>
          <a:bodyPr/>
          <a:lstStyle/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89767-EB44-CC11-C0DC-B77A90754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16" y="2776980"/>
            <a:ext cx="8849984" cy="2153752"/>
          </a:xfrm>
        </p:spPr>
        <p:txBody>
          <a:bodyPr>
            <a:noAutofit/>
          </a:bodyPr>
          <a:lstStyle/>
          <a:p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无传感器设计：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规避了力传感器的成本</a:t>
            </a:r>
            <a:r>
              <a:rPr lang="en-US" altLang="zh-CN" dirty="0">
                <a:solidFill>
                  <a:srgbClr val="0000FF"/>
                </a:solidFill>
              </a:rPr>
              <a:t>,</a:t>
            </a:r>
            <a:r>
              <a:rPr lang="zh-CN" altLang="zh-CN" dirty="0">
                <a:solidFill>
                  <a:srgbClr val="0000FF"/>
                </a:solidFill>
              </a:rPr>
              <a:t>布线复杂度</a:t>
            </a:r>
            <a:r>
              <a:rPr lang="en-US" altLang="zh-CN" dirty="0">
                <a:solidFill>
                  <a:srgbClr val="0000FF"/>
                </a:solidFill>
              </a:rPr>
              <a:t>,</a:t>
            </a:r>
            <a:r>
              <a:rPr lang="zh-CN" altLang="zh-CN" dirty="0">
                <a:solidFill>
                  <a:srgbClr val="0000FF"/>
                </a:solidFill>
              </a:rPr>
              <a:t>柔性适配难题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大幅提升系统的可靠性与经济性；</a:t>
            </a:r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B29880-88F8-665D-D2BD-4FD63236405A}"/>
              </a:ext>
            </a:extLst>
          </p:cNvPr>
          <p:cNvSpPr/>
          <p:nvPr/>
        </p:nvSpPr>
        <p:spPr>
          <a:xfrm>
            <a:off x="0" y="5602836"/>
            <a:ext cx="12192000" cy="55753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0F2AED-2EC9-53CF-47B5-7109F2B582C0}"/>
              </a:ext>
            </a:extLst>
          </p:cNvPr>
          <p:cNvSpPr/>
          <p:nvPr/>
        </p:nvSpPr>
        <p:spPr>
          <a:xfrm>
            <a:off x="0" y="5361016"/>
            <a:ext cx="12192000" cy="590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EB5B37-F9D8-35D1-3EDD-091716FE0DBC}"/>
              </a:ext>
            </a:extLst>
          </p:cNvPr>
          <p:cNvSpPr/>
          <p:nvPr/>
        </p:nvSpPr>
        <p:spPr>
          <a:xfrm>
            <a:off x="0" y="2879978"/>
            <a:ext cx="12192000" cy="4571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9B4974-BF04-D0D7-F1C7-FE76081CAA2B}"/>
              </a:ext>
            </a:extLst>
          </p:cNvPr>
          <p:cNvSpPr/>
          <p:nvPr/>
        </p:nvSpPr>
        <p:spPr>
          <a:xfrm>
            <a:off x="0" y="2052429"/>
            <a:ext cx="12192000" cy="1813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247D124-743B-86CC-7634-7E1636A9652C}"/>
              </a:ext>
            </a:extLst>
          </p:cNvPr>
          <p:cNvSpPr txBox="1">
            <a:spLocks/>
          </p:cNvSpPr>
          <p:nvPr/>
        </p:nvSpPr>
        <p:spPr>
          <a:xfrm>
            <a:off x="151140" y="348836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86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01EB6-2311-6B83-DE05-55CF9459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白色的游戏机&#10;&#10;AI 生成的内容可能不正确。">
            <a:extLst>
              <a:ext uri="{FF2B5EF4-FFF2-40B4-BE49-F238E27FC236}">
                <a16:creationId xmlns:a16="http://schemas.microsoft.com/office/drawing/2014/main" id="{B10814F4-A52E-D8A1-AFC1-E8F50392C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854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B0D4D89-DF4D-7CF2-015F-F816EB8F3E09}"/>
              </a:ext>
            </a:extLst>
          </p:cNvPr>
          <p:cNvSpPr/>
          <p:nvPr/>
        </p:nvSpPr>
        <p:spPr>
          <a:xfrm>
            <a:off x="0" y="5112326"/>
            <a:ext cx="12192000" cy="1604136"/>
          </a:xfrm>
          <a:prstGeom prst="rect">
            <a:avLst/>
          </a:prstGeom>
          <a:solidFill>
            <a:srgbClr val="0000FF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2C38AA-20CA-34C8-9A85-3F5CECFF0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53" y="5251612"/>
            <a:ext cx="6129377" cy="1325563"/>
          </a:xfrm>
        </p:spPr>
        <p:txBody>
          <a:bodyPr/>
          <a:lstStyle/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5A86A913-457F-7B9D-B470-FBA8FEBA95E9}"/>
              </a:ext>
            </a:extLst>
          </p:cNvPr>
          <p:cNvSpPr txBox="1">
            <a:spLocks/>
          </p:cNvSpPr>
          <p:nvPr/>
        </p:nvSpPr>
        <p:spPr>
          <a:xfrm>
            <a:off x="127603" y="-1395206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93CE59-4A51-3CC2-2E91-483515739771}"/>
              </a:ext>
            </a:extLst>
          </p:cNvPr>
          <p:cNvSpPr txBox="1"/>
          <p:nvPr/>
        </p:nvSpPr>
        <p:spPr>
          <a:xfrm>
            <a:off x="5779767" y="5452728"/>
            <a:ext cx="6157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zh-CN" dirty="0">
                <a:solidFill>
                  <a:schemeClr val="bg1"/>
                </a:solidFill>
              </a:rPr>
              <a:t>无传感器设计：</a:t>
            </a:r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chemeClr val="bg1"/>
                </a:solidFill>
              </a:rPr>
              <a:t>规避了力传感器的成本</a:t>
            </a:r>
            <a:r>
              <a:rPr lang="en-US" altLang="zh-CN" dirty="0">
                <a:solidFill>
                  <a:schemeClr val="bg1"/>
                </a:solidFill>
              </a:rPr>
              <a:t>,</a:t>
            </a:r>
            <a:r>
              <a:rPr lang="zh-CN" altLang="zh-CN" dirty="0">
                <a:solidFill>
                  <a:schemeClr val="bg1"/>
                </a:solidFill>
              </a:rPr>
              <a:t>布线复杂度</a:t>
            </a:r>
            <a:r>
              <a:rPr lang="en-US" altLang="zh-CN" dirty="0">
                <a:solidFill>
                  <a:schemeClr val="bg1"/>
                </a:solidFill>
              </a:rPr>
              <a:t>,</a:t>
            </a:r>
            <a:r>
              <a:rPr lang="zh-CN" altLang="zh-CN" dirty="0">
                <a:solidFill>
                  <a:schemeClr val="bg1"/>
                </a:solidFill>
              </a:rPr>
              <a:t>柔性适配难题</a:t>
            </a:r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chemeClr val="bg1"/>
                </a:solidFill>
              </a:rPr>
              <a:t>大幅提升系统的可靠性与经济性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C8C42B3-92B7-D43A-838F-82F5528EC73D}"/>
              </a:ext>
            </a:extLst>
          </p:cNvPr>
          <p:cNvGrpSpPr/>
          <p:nvPr/>
        </p:nvGrpSpPr>
        <p:grpSpPr>
          <a:xfrm>
            <a:off x="0" y="-2716147"/>
            <a:ext cx="12192000" cy="2716147"/>
            <a:chOff x="0" y="-2716147"/>
            <a:chExt cx="12192000" cy="2716147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F149012-34D4-13C9-ACE3-FFCDB7A73FD9}"/>
                </a:ext>
              </a:extLst>
            </p:cNvPr>
            <p:cNvSpPr/>
            <p:nvPr/>
          </p:nvSpPr>
          <p:spPr>
            <a:xfrm>
              <a:off x="0" y="-2716147"/>
              <a:ext cx="12192000" cy="160413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A17901D-3497-4133-B17C-6B0D6560859C}"/>
                </a:ext>
              </a:extLst>
            </p:cNvPr>
            <p:cNvSpPr/>
            <p:nvPr/>
          </p:nvSpPr>
          <p:spPr>
            <a:xfrm>
              <a:off x="0" y="-45719"/>
              <a:ext cx="12192000" cy="4571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45CD854-65BD-EB02-F29B-B3638C7F8B98}"/>
                </a:ext>
              </a:extLst>
            </p:cNvPr>
            <p:cNvSpPr/>
            <p:nvPr/>
          </p:nvSpPr>
          <p:spPr>
            <a:xfrm>
              <a:off x="0" y="-873268"/>
              <a:ext cx="12192000" cy="18136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60A3383-CCD5-DF58-C9CF-3B606751CC85}"/>
              </a:ext>
            </a:extLst>
          </p:cNvPr>
          <p:cNvGrpSpPr/>
          <p:nvPr/>
        </p:nvGrpSpPr>
        <p:grpSpPr>
          <a:xfrm>
            <a:off x="12192000" y="0"/>
            <a:ext cx="1010292" cy="6878957"/>
            <a:chOff x="12192000" y="0"/>
            <a:chExt cx="1010292" cy="6878957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85A6083-1D08-2151-3CB8-2BD0EABFE3A4}"/>
                </a:ext>
              </a:extLst>
            </p:cNvPr>
            <p:cNvSpPr/>
            <p:nvPr/>
          </p:nvSpPr>
          <p:spPr>
            <a:xfrm>
              <a:off x="12192000" y="1"/>
              <a:ext cx="45719" cy="6858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5623805-C86C-0072-2FA8-6E348B16723D}"/>
                </a:ext>
              </a:extLst>
            </p:cNvPr>
            <p:cNvSpPr/>
            <p:nvPr/>
          </p:nvSpPr>
          <p:spPr>
            <a:xfrm flipV="1">
              <a:off x="12502513" y="0"/>
              <a:ext cx="443869" cy="687895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82ECD77-E29B-5A8E-47AD-009C994FDBEE}"/>
                </a:ext>
              </a:extLst>
            </p:cNvPr>
            <p:cNvSpPr/>
            <p:nvPr/>
          </p:nvSpPr>
          <p:spPr>
            <a:xfrm>
              <a:off x="13024482" y="1"/>
              <a:ext cx="177810" cy="6858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59164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1DE56-EE2C-DF21-4FC4-D82F8F99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EC0F8-C521-5B51-6683-BA847AB3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1" y="7001887"/>
            <a:ext cx="6129377" cy="1325563"/>
          </a:xfrm>
        </p:spPr>
        <p:txBody>
          <a:bodyPr/>
          <a:lstStyle/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A42E39-AE4B-E234-7772-7A43D464B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66" y="2786505"/>
            <a:ext cx="9735809" cy="2153752"/>
          </a:xfrm>
        </p:spPr>
        <p:txBody>
          <a:bodyPr>
            <a:noAutofit/>
          </a:bodyPr>
          <a:lstStyle/>
          <a:p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力</a:t>
            </a:r>
            <a:r>
              <a:rPr lang="en-US" altLang="zh-CN" dirty="0">
                <a:solidFill>
                  <a:srgbClr val="0000FF"/>
                </a:solidFill>
              </a:rPr>
              <a:t> - </a:t>
            </a:r>
            <a:r>
              <a:rPr lang="zh-CN" altLang="zh-CN" dirty="0">
                <a:solidFill>
                  <a:srgbClr val="0000FF"/>
                </a:solidFill>
              </a:rPr>
              <a:t>扭矩直接关联：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通过绳传动将指腹力直接转化为电机扭矩，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信号传递链路短，响应速度快（可满足实时力反馈需求）</a:t>
            </a:r>
            <a:endParaRPr lang="zh-CN" altLang="zh-CN" dirty="0"/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87E1341-2132-68DD-1FB3-C5E91BF3EE6F}"/>
              </a:ext>
            </a:extLst>
          </p:cNvPr>
          <p:cNvGrpSpPr/>
          <p:nvPr/>
        </p:nvGrpSpPr>
        <p:grpSpPr>
          <a:xfrm>
            <a:off x="0" y="209550"/>
            <a:ext cx="12192000" cy="2716147"/>
            <a:chOff x="0" y="209550"/>
            <a:chExt cx="12192000" cy="271614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7A16BD1-2A72-A247-A5AE-9B9B0A63FFB4}"/>
                </a:ext>
              </a:extLst>
            </p:cNvPr>
            <p:cNvSpPr/>
            <p:nvPr/>
          </p:nvSpPr>
          <p:spPr>
            <a:xfrm>
              <a:off x="0" y="209550"/>
              <a:ext cx="12192000" cy="160413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03DBEB6-3A62-17C4-0E22-B74AEAFA6F4B}"/>
                </a:ext>
              </a:extLst>
            </p:cNvPr>
            <p:cNvSpPr/>
            <p:nvPr/>
          </p:nvSpPr>
          <p:spPr>
            <a:xfrm>
              <a:off x="0" y="2879978"/>
              <a:ext cx="12192000" cy="4571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50F85DF-D6A0-E189-F837-E469F1D6DAA2}"/>
                </a:ext>
              </a:extLst>
            </p:cNvPr>
            <p:cNvSpPr/>
            <p:nvPr/>
          </p:nvSpPr>
          <p:spPr>
            <a:xfrm>
              <a:off x="0" y="2052429"/>
              <a:ext cx="12192000" cy="18136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28ABFEBE-2D62-F9B9-21BD-5949EE16B956}"/>
              </a:ext>
            </a:extLst>
          </p:cNvPr>
          <p:cNvSpPr txBox="1">
            <a:spLocks/>
          </p:cNvSpPr>
          <p:nvPr/>
        </p:nvSpPr>
        <p:spPr>
          <a:xfrm>
            <a:off x="151140" y="348836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67D695-7C1B-1968-7CD4-07E5B7AD75B6}"/>
              </a:ext>
            </a:extLst>
          </p:cNvPr>
          <p:cNvGrpSpPr/>
          <p:nvPr/>
        </p:nvGrpSpPr>
        <p:grpSpPr>
          <a:xfrm>
            <a:off x="10391774" y="-1"/>
            <a:ext cx="1010292" cy="6878957"/>
            <a:chOff x="10391774" y="-1"/>
            <a:chExt cx="1010292" cy="687895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5B05A31-CED4-AD11-9B97-793E6F9ED331}"/>
                </a:ext>
              </a:extLst>
            </p:cNvPr>
            <p:cNvSpPr/>
            <p:nvPr/>
          </p:nvSpPr>
          <p:spPr>
            <a:xfrm>
              <a:off x="10391774" y="0"/>
              <a:ext cx="45719" cy="6858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CF2BAC8-2F86-D870-B421-9B13808F2872}"/>
                </a:ext>
              </a:extLst>
            </p:cNvPr>
            <p:cNvSpPr/>
            <p:nvPr/>
          </p:nvSpPr>
          <p:spPr>
            <a:xfrm flipV="1">
              <a:off x="10702287" y="-1"/>
              <a:ext cx="443869" cy="687895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6E8A578-4C24-C5B3-E577-CB9E39AEF98B}"/>
                </a:ext>
              </a:extLst>
            </p:cNvPr>
            <p:cNvSpPr/>
            <p:nvPr/>
          </p:nvSpPr>
          <p:spPr>
            <a:xfrm>
              <a:off x="11224256" y="0"/>
              <a:ext cx="177810" cy="6858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65FC9F6A-494F-A36D-7C4D-52D1783B0070}"/>
              </a:ext>
            </a:extLst>
          </p:cNvPr>
          <p:cNvSpPr/>
          <p:nvPr/>
        </p:nvSpPr>
        <p:spPr>
          <a:xfrm>
            <a:off x="10382890" y="1"/>
            <a:ext cx="45719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75166D-CF5C-0C1E-315A-92435F488FD8}"/>
              </a:ext>
            </a:extLst>
          </p:cNvPr>
          <p:cNvSpPr/>
          <p:nvPr/>
        </p:nvSpPr>
        <p:spPr>
          <a:xfrm flipV="1">
            <a:off x="10693403" y="0"/>
            <a:ext cx="443869" cy="68789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DB23FD-D268-93AE-A1A1-11D6A0D83425}"/>
              </a:ext>
            </a:extLst>
          </p:cNvPr>
          <p:cNvSpPr/>
          <p:nvPr/>
        </p:nvSpPr>
        <p:spPr>
          <a:xfrm>
            <a:off x="11215372" y="1"/>
            <a:ext cx="177810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372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FD59-BCE0-5FB2-0D36-31B0255F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桌子上的装饰&#10;&#10;AI 生成的内容可能不正确。">
            <a:extLst>
              <a:ext uri="{FF2B5EF4-FFF2-40B4-BE49-F238E27FC236}">
                <a16:creationId xmlns:a16="http://schemas.microsoft.com/office/drawing/2014/main" id="{3D2DAAEB-6DE3-37C6-037A-A88ED3403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2768351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D7CAD1C-55F6-97C8-3D6F-F718B38E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1" y="7001887"/>
            <a:ext cx="6129377" cy="1325563"/>
          </a:xfrm>
        </p:spPr>
        <p:txBody>
          <a:bodyPr/>
          <a:lstStyle/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9CF0E3-65AF-ABB5-D022-3539D4632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418" y="4632957"/>
            <a:ext cx="7394357" cy="1539243"/>
          </a:xfrm>
        </p:spPr>
        <p:txBody>
          <a:bodyPr>
            <a:noAutofit/>
          </a:bodyPr>
          <a:lstStyle/>
          <a:p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sz="2000" b="1" dirty="0">
                <a:solidFill>
                  <a:srgbClr val="0000FF"/>
                </a:solidFill>
              </a:rPr>
              <a:t>力</a:t>
            </a:r>
            <a:r>
              <a:rPr lang="en-US" altLang="zh-CN" sz="2000" b="1" dirty="0">
                <a:solidFill>
                  <a:srgbClr val="0000FF"/>
                </a:solidFill>
              </a:rPr>
              <a:t> - </a:t>
            </a:r>
            <a:r>
              <a:rPr lang="zh-CN" altLang="zh-CN" sz="2000" b="1" dirty="0">
                <a:solidFill>
                  <a:srgbClr val="0000FF"/>
                </a:solidFill>
              </a:rPr>
              <a:t>扭矩直接关联：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sz="2000" b="1" dirty="0">
                <a:solidFill>
                  <a:srgbClr val="0000FF"/>
                </a:solidFill>
              </a:rPr>
              <a:t>通过绳传动将指腹力直接转化为电机扭矩，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sz="2000" b="1" dirty="0">
                <a:solidFill>
                  <a:srgbClr val="0000FF"/>
                </a:solidFill>
              </a:rPr>
              <a:t>信号传递链路短，响应速度快（可满足实时力反馈需求</a:t>
            </a:r>
            <a:r>
              <a:rPr lang="zh-CN" altLang="zh-CN" sz="1800" b="1" dirty="0">
                <a:solidFill>
                  <a:srgbClr val="0000FF"/>
                </a:solidFill>
              </a:rPr>
              <a:t>）</a:t>
            </a:r>
            <a:endParaRPr lang="zh-CN" altLang="zh-CN" sz="1800" b="1" dirty="0"/>
          </a:p>
          <a:p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DFBD559-01FE-9A0D-06C4-B7DBEA9CDCC7}"/>
              </a:ext>
            </a:extLst>
          </p:cNvPr>
          <p:cNvSpPr txBox="1">
            <a:spLocks/>
          </p:cNvSpPr>
          <p:nvPr/>
        </p:nvSpPr>
        <p:spPr>
          <a:xfrm>
            <a:off x="711417" y="4077015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方案优势与创新点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1335D5-299B-0D76-4E01-32599B7762CF}"/>
              </a:ext>
            </a:extLst>
          </p:cNvPr>
          <p:cNvSpPr/>
          <p:nvPr/>
        </p:nvSpPr>
        <p:spPr>
          <a:xfrm>
            <a:off x="10332322" y="0"/>
            <a:ext cx="139618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CC40C3-970D-BE41-8A63-EFA95F170861}"/>
              </a:ext>
            </a:extLst>
          </p:cNvPr>
          <p:cNvSpPr/>
          <p:nvPr/>
        </p:nvSpPr>
        <p:spPr>
          <a:xfrm flipV="1">
            <a:off x="10125075" y="-4"/>
            <a:ext cx="1355507" cy="68789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6281BF-CDE6-1D9F-AE11-0CC95559A311}"/>
              </a:ext>
            </a:extLst>
          </p:cNvPr>
          <p:cNvSpPr/>
          <p:nvPr/>
        </p:nvSpPr>
        <p:spPr>
          <a:xfrm>
            <a:off x="10993030" y="0"/>
            <a:ext cx="543004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86E5CBF-4477-5D0D-E0FF-A77F13BDAA1B}"/>
              </a:ext>
            </a:extLst>
          </p:cNvPr>
          <p:cNvGrpSpPr/>
          <p:nvPr/>
        </p:nvGrpSpPr>
        <p:grpSpPr>
          <a:xfrm>
            <a:off x="0" y="-2737103"/>
            <a:ext cx="12192000" cy="2716147"/>
            <a:chOff x="0" y="209550"/>
            <a:chExt cx="12192000" cy="2716147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2D6C653-7649-1092-BA84-D8A6EA37DB8F}"/>
                </a:ext>
              </a:extLst>
            </p:cNvPr>
            <p:cNvSpPr/>
            <p:nvPr/>
          </p:nvSpPr>
          <p:spPr>
            <a:xfrm>
              <a:off x="0" y="209550"/>
              <a:ext cx="12192000" cy="160413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57BEC64-0A1C-CBDA-C4BF-E96B0B0D6EA3}"/>
                </a:ext>
              </a:extLst>
            </p:cNvPr>
            <p:cNvSpPr/>
            <p:nvPr/>
          </p:nvSpPr>
          <p:spPr>
            <a:xfrm>
              <a:off x="0" y="2879978"/>
              <a:ext cx="12192000" cy="4571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9C4D4B4-12EB-238F-69CC-6FAD8E592E3C}"/>
                </a:ext>
              </a:extLst>
            </p:cNvPr>
            <p:cNvSpPr/>
            <p:nvPr/>
          </p:nvSpPr>
          <p:spPr>
            <a:xfrm>
              <a:off x="0" y="2052429"/>
              <a:ext cx="12192000" cy="18136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0EB0FF93-A66A-9A90-E4F6-026F748DD502}"/>
              </a:ext>
            </a:extLst>
          </p:cNvPr>
          <p:cNvSpPr/>
          <p:nvPr/>
        </p:nvSpPr>
        <p:spPr>
          <a:xfrm>
            <a:off x="0" y="6899905"/>
            <a:ext cx="12192000" cy="1604136"/>
          </a:xfrm>
          <a:prstGeom prst="rect">
            <a:avLst/>
          </a:prstGeom>
          <a:solidFill>
            <a:srgbClr val="0000FF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35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8F76-5F02-657E-0DA9-9AEA1D54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35F3F-C1AC-D493-6101-7943B091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1" y="7001887"/>
            <a:ext cx="6129377" cy="1325563"/>
          </a:xfrm>
        </p:spPr>
        <p:txBody>
          <a:bodyPr/>
          <a:lstStyle/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E0ACF35-DBE7-5281-5CAB-47C7BA347C89}"/>
              </a:ext>
            </a:extLst>
          </p:cNvPr>
          <p:cNvSpPr txBox="1">
            <a:spLocks/>
          </p:cNvSpPr>
          <p:nvPr/>
        </p:nvSpPr>
        <p:spPr>
          <a:xfrm>
            <a:off x="151140" y="348836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方案优势与创新点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95A434BF-4CF4-A571-EA9D-C75E80F7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949" y="2320579"/>
            <a:ext cx="9735809" cy="21537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人体工程学设计</a:t>
            </a:r>
            <a:r>
              <a:rPr lang="zh-CN" altLang="zh-CN" dirty="0">
                <a:solidFill>
                  <a:srgbClr val="0000FF"/>
                </a:solidFill>
              </a:rPr>
              <a:t>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手套外形设计贴合人体手掌，手指腹部设计有带孔皮革，可以防止手指被外壳切割摩擦，且具有透气性；手套内手掌部分设有凝胶蜂窝垫，保证操作时手掌的舒适性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D32FB97-1E13-90FC-CF85-367C96CA94D7}"/>
              </a:ext>
            </a:extLst>
          </p:cNvPr>
          <p:cNvGrpSpPr/>
          <p:nvPr/>
        </p:nvGrpSpPr>
        <p:grpSpPr>
          <a:xfrm>
            <a:off x="0" y="4183765"/>
            <a:ext cx="12192000" cy="2716147"/>
            <a:chOff x="0" y="209550"/>
            <a:chExt cx="12192000" cy="2716147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001FC6D-D54D-9075-CE0B-AD26223F4342}"/>
                </a:ext>
              </a:extLst>
            </p:cNvPr>
            <p:cNvSpPr/>
            <p:nvPr/>
          </p:nvSpPr>
          <p:spPr>
            <a:xfrm>
              <a:off x="0" y="209550"/>
              <a:ext cx="12192000" cy="160413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6B66F10-A515-A1EF-7E45-33A6ACC2371D}"/>
                </a:ext>
              </a:extLst>
            </p:cNvPr>
            <p:cNvSpPr/>
            <p:nvPr/>
          </p:nvSpPr>
          <p:spPr>
            <a:xfrm>
              <a:off x="0" y="2879978"/>
              <a:ext cx="12192000" cy="4571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5AC09FF-1FBE-14B7-5987-9CC111452FA4}"/>
                </a:ext>
              </a:extLst>
            </p:cNvPr>
            <p:cNvSpPr/>
            <p:nvPr/>
          </p:nvSpPr>
          <p:spPr>
            <a:xfrm>
              <a:off x="0" y="2052429"/>
              <a:ext cx="12192000" cy="18136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45EAA6E3-84C6-2612-4D58-F980D2544006}"/>
              </a:ext>
            </a:extLst>
          </p:cNvPr>
          <p:cNvSpPr/>
          <p:nvPr/>
        </p:nvSpPr>
        <p:spPr>
          <a:xfrm>
            <a:off x="12399247" y="-24760"/>
            <a:ext cx="139618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81325E6-CDCA-ECFB-F44A-F792897CBCBF}"/>
              </a:ext>
            </a:extLst>
          </p:cNvPr>
          <p:cNvSpPr/>
          <p:nvPr/>
        </p:nvSpPr>
        <p:spPr>
          <a:xfrm flipV="1">
            <a:off x="12192000" y="-24764"/>
            <a:ext cx="1355507" cy="68789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1DB9985-55E2-6B54-BC6B-D15F3A5E59BE}"/>
              </a:ext>
            </a:extLst>
          </p:cNvPr>
          <p:cNvSpPr/>
          <p:nvPr/>
        </p:nvSpPr>
        <p:spPr>
          <a:xfrm>
            <a:off x="13059955" y="-24760"/>
            <a:ext cx="543004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5DE589B-DFD3-949D-C31B-6CF23955EF36}"/>
              </a:ext>
            </a:extLst>
          </p:cNvPr>
          <p:cNvSpPr/>
          <p:nvPr/>
        </p:nvSpPr>
        <p:spPr>
          <a:xfrm>
            <a:off x="0" y="4141853"/>
            <a:ext cx="12192000" cy="160413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55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F00C8-A31E-E6DE-6C8D-3D98C277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室内, 蛋糕, 水槽, 镜子&#10;&#10;AI 生成的内容可能不正确。">
            <a:extLst>
              <a:ext uri="{FF2B5EF4-FFF2-40B4-BE49-F238E27FC236}">
                <a16:creationId xmlns:a16="http://schemas.microsoft.com/office/drawing/2014/main" id="{FB83B6BC-33A5-D24C-8425-AE2B7A9A3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90650" cy="686997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E8ED865-128C-3642-48B5-6D8D9531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41" y="7001887"/>
            <a:ext cx="6129377" cy="1325563"/>
          </a:xfrm>
        </p:spPr>
        <p:txBody>
          <a:bodyPr/>
          <a:lstStyle/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B20A4DDE-4F3D-3C5A-3F63-A4C2D5EC6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066" y="5845066"/>
            <a:ext cx="9735809" cy="1012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人体工程学设计</a:t>
            </a:r>
            <a:r>
              <a:rPr lang="zh-CN" altLang="zh-CN" sz="2000" dirty="0">
                <a:solidFill>
                  <a:srgbClr val="0000FF"/>
                </a:solidFill>
              </a:rPr>
              <a:t>：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0000FF"/>
                </a:solidFill>
              </a:rPr>
              <a:t>手套外形设计贴合人体手掌，手指腹部设计有带孔皮革，可以防止手指被外壳切割摩擦，且具有透气性；手套内手掌部分设有凝胶蜂窝垫，保证操作时手掌的舒适性</a:t>
            </a:r>
            <a:endParaRPr lang="en-US" altLang="zh-CN" sz="16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24112C0-CFE6-0EEE-7257-FC114BBFEBC9}"/>
              </a:ext>
            </a:extLst>
          </p:cNvPr>
          <p:cNvSpPr/>
          <p:nvPr/>
        </p:nvSpPr>
        <p:spPr>
          <a:xfrm>
            <a:off x="0" y="4141853"/>
            <a:ext cx="12192000" cy="160413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17136A-CB3A-88E1-A0D0-0276180A200D}"/>
              </a:ext>
            </a:extLst>
          </p:cNvPr>
          <p:cNvSpPr/>
          <p:nvPr/>
        </p:nvSpPr>
        <p:spPr>
          <a:xfrm>
            <a:off x="0" y="5254035"/>
            <a:ext cx="12192000" cy="4571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3DD6B0-BC9C-2057-F172-3FC1F1C572AA}"/>
              </a:ext>
            </a:extLst>
          </p:cNvPr>
          <p:cNvSpPr/>
          <p:nvPr/>
        </p:nvSpPr>
        <p:spPr>
          <a:xfrm>
            <a:off x="0" y="4902775"/>
            <a:ext cx="12192000" cy="1813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D5D86BB-456D-7680-3364-D8C28AB6FED9}"/>
              </a:ext>
            </a:extLst>
          </p:cNvPr>
          <p:cNvSpPr txBox="1">
            <a:spLocks/>
          </p:cNvSpPr>
          <p:nvPr/>
        </p:nvSpPr>
        <p:spPr>
          <a:xfrm>
            <a:off x="313066" y="4375616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6704F5-608F-FE1C-C5CF-FF9E67A5CFE4}"/>
              </a:ext>
            </a:extLst>
          </p:cNvPr>
          <p:cNvSpPr/>
          <p:nvPr/>
        </p:nvSpPr>
        <p:spPr>
          <a:xfrm>
            <a:off x="12399247" y="-24760"/>
            <a:ext cx="139618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C0A621-BE1E-EC5F-9D6D-926E01249E13}"/>
              </a:ext>
            </a:extLst>
          </p:cNvPr>
          <p:cNvSpPr/>
          <p:nvPr/>
        </p:nvSpPr>
        <p:spPr>
          <a:xfrm flipV="1">
            <a:off x="12192000" y="-24764"/>
            <a:ext cx="1355507" cy="68789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8FA7F9-5590-3C5C-C14E-642545D588E1}"/>
              </a:ext>
            </a:extLst>
          </p:cNvPr>
          <p:cNvSpPr/>
          <p:nvPr/>
        </p:nvSpPr>
        <p:spPr>
          <a:xfrm>
            <a:off x="13059955" y="-24760"/>
            <a:ext cx="543004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941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桌子, 电脑, 键盘, 游戏机&#10;&#10;AI 生成的内容可能不正确。">
            <a:extLst>
              <a:ext uri="{FF2B5EF4-FFF2-40B4-BE49-F238E27FC236}">
                <a16:creationId xmlns:a16="http://schemas.microsoft.com/office/drawing/2014/main" id="{1A0C0440-E6AE-A5F1-F91F-8F44C8315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68351" cy="6858000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FE724D2-83D5-4474-7D20-03CB69CD4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066" y="5845066"/>
            <a:ext cx="9735809" cy="1012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人体工程学设计</a:t>
            </a:r>
            <a:r>
              <a:rPr lang="zh-CN" altLang="zh-CN" sz="2000" dirty="0">
                <a:solidFill>
                  <a:srgbClr val="0000FF"/>
                </a:solidFill>
              </a:rPr>
              <a:t>：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0000FF"/>
                </a:solidFill>
              </a:rPr>
              <a:t>手套外形设计贴合人体手掌，手指腹部设计有带孔皮革，可以防止手指被外壳切割摩擦，且具有透气性；手套内手掌部分设有凝胶蜂窝垫，保证操作时手掌的舒适性</a:t>
            </a:r>
            <a:endParaRPr lang="en-US" altLang="zh-CN" sz="1600" b="1" dirty="0">
              <a:solidFill>
                <a:schemeClr val="bg2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AFECC0-B17D-5BAB-504C-6E955E2DF002}"/>
              </a:ext>
            </a:extLst>
          </p:cNvPr>
          <p:cNvSpPr/>
          <p:nvPr/>
        </p:nvSpPr>
        <p:spPr>
          <a:xfrm>
            <a:off x="0" y="4141853"/>
            <a:ext cx="12192000" cy="160413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8E76D-3F07-2A4B-FC43-8D25156AA9C2}"/>
              </a:ext>
            </a:extLst>
          </p:cNvPr>
          <p:cNvSpPr/>
          <p:nvPr/>
        </p:nvSpPr>
        <p:spPr>
          <a:xfrm>
            <a:off x="0" y="5254035"/>
            <a:ext cx="12192000" cy="4571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AEF201-C688-521E-14DC-32F8D60F86F4}"/>
              </a:ext>
            </a:extLst>
          </p:cNvPr>
          <p:cNvSpPr/>
          <p:nvPr/>
        </p:nvSpPr>
        <p:spPr>
          <a:xfrm>
            <a:off x="0" y="4902775"/>
            <a:ext cx="12192000" cy="1813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7C97329-4516-27E7-688D-2EB328D299BE}"/>
              </a:ext>
            </a:extLst>
          </p:cNvPr>
          <p:cNvSpPr txBox="1">
            <a:spLocks/>
          </p:cNvSpPr>
          <p:nvPr/>
        </p:nvSpPr>
        <p:spPr>
          <a:xfrm>
            <a:off x="313066" y="4375616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chemeClr val="bg1"/>
                </a:solidFill>
              </a:rPr>
              <a:t>方案优势与创新点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0DA038-18F1-E63D-72F4-F7F6EBEF951B}"/>
              </a:ext>
            </a:extLst>
          </p:cNvPr>
          <p:cNvSpPr/>
          <p:nvPr/>
        </p:nvSpPr>
        <p:spPr>
          <a:xfrm>
            <a:off x="12399247" y="-24760"/>
            <a:ext cx="139618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32D441-6F61-8C8B-9EC5-149477B25456}"/>
              </a:ext>
            </a:extLst>
          </p:cNvPr>
          <p:cNvSpPr/>
          <p:nvPr/>
        </p:nvSpPr>
        <p:spPr>
          <a:xfrm flipV="1">
            <a:off x="12192000" y="-24764"/>
            <a:ext cx="1355507" cy="687895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2A6295-1AAE-932C-B11B-E3695E27C828}"/>
              </a:ext>
            </a:extLst>
          </p:cNvPr>
          <p:cNvSpPr/>
          <p:nvPr/>
        </p:nvSpPr>
        <p:spPr>
          <a:xfrm>
            <a:off x="13059955" y="-24760"/>
            <a:ext cx="543004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0216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3564-D2CD-73B6-021F-73D185CB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092EDE94-00B4-A481-6658-925F66C6D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16" y="1774445"/>
            <a:ext cx="9735809" cy="21784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灵巧手的操控这部分我们设计了一套算法通过舵机来实现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rgbClr val="0000FF"/>
                </a:solidFill>
              </a:rPr>
              <a:t>选用了飞特</a:t>
            </a:r>
            <a:r>
              <a:rPr lang="en-US" altLang="zh-CN" dirty="0">
                <a:solidFill>
                  <a:srgbClr val="0000FF"/>
                </a:solidFill>
              </a:rPr>
              <a:t>HLS</a:t>
            </a:r>
            <a:r>
              <a:rPr lang="zh-CN" altLang="zh-CN" dirty="0">
                <a:solidFill>
                  <a:srgbClr val="0000FF"/>
                </a:solidFill>
              </a:rPr>
              <a:t>系列的力控舵机，该舵机能实时显示与改变旋转角度、扭矩大小，刚好满足我们的需求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E2910E-08F3-4D27-6250-D61491E9E893}"/>
              </a:ext>
            </a:extLst>
          </p:cNvPr>
          <p:cNvSpPr/>
          <p:nvPr/>
        </p:nvSpPr>
        <p:spPr>
          <a:xfrm rot="20362092">
            <a:off x="-1508398" y="5622234"/>
            <a:ext cx="15368284" cy="160413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90C967-B296-63DE-F49A-9AC1AB0E568B}"/>
              </a:ext>
            </a:extLst>
          </p:cNvPr>
          <p:cNvSpPr/>
          <p:nvPr/>
        </p:nvSpPr>
        <p:spPr>
          <a:xfrm rot="20400523">
            <a:off x="-470766" y="4956888"/>
            <a:ext cx="13318139" cy="4966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A1B131-5A99-4C54-C2C8-6167B940C9CA}"/>
              </a:ext>
            </a:extLst>
          </p:cNvPr>
          <p:cNvSpPr/>
          <p:nvPr/>
        </p:nvSpPr>
        <p:spPr>
          <a:xfrm rot="20400523">
            <a:off x="-468767" y="4605276"/>
            <a:ext cx="13318139" cy="19700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2A59859-F74B-6724-38DD-8FA0007129E7}"/>
              </a:ext>
            </a:extLst>
          </p:cNvPr>
          <p:cNvSpPr txBox="1">
            <a:spLocks/>
          </p:cNvSpPr>
          <p:nvPr/>
        </p:nvSpPr>
        <p:spPr>
          <a:xfrm>
            <a:off x="379741" y="298754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灵巧手操控方案设计</a:t>
            </a:r>
            <a:endParaRPr lang="zh-CN" altLang="zh-C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43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6F67-CFB5-3385-6656-01C31DED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44B30CEB-2653-D886-6F99-0ACFF8CB8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17" y="1774444"/>
            <a:ext cx="6062702" cy="26642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b="1" dirty="0">
                <a:solidFill>
                  <a:srgbClr val="0000FF"/>
                </a:solidFill>
              </a:rPr>
              <a:t>受限于绳驱式力反馈手套自由度的限制，我们假定每个指关节旋转角度一样。通过下图所示程序能将绳长换算成指关节弯曲的角度。</a:t>
            </a:r>
            <a:endParaRPr lang="en-US" altLang="zh-CN" b="1" dirty="0">
              <a:solidFill>
                <a:srgbClr val="0000FF"/>
              </a:solidFill>
            </a:endParaRP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   </a:t>
            </a:r>
            <a:r>
              <a:rPr lang="en-US" altLang="zh-CN" b="1" dirty="0" err="1">
                <a:solidFill>
                  <a:srgbClr val="0000FF"/>
                </a:solidFill>
              </a:rPr>
              <a:t>sita</a:t>
            </a:r>
            <a:r>
              <a:rPr lang="en-US" altLang="zh-CN" b="1" dirty="0">
                <a:solidFill>
                  <a:srgbClr val="0000FF"/>
                </a:solidFill>
              </a:rPr>
              <a:t>=l-</a:t>
            </a:r>
            <a:r>
              <a:rPr lang="zh-CN" altLang="zh-CN" b="1" dirty="0">
                <a:solidFill>
                  <a:srgbClr val="0000FF"/>
                </a:solidFill>
              </a:rPr>
              <a:t>（</a:t>
            </a:r>
            <a:r>
              <a:rPr lang="en-US" altLang="zh-CN" b="1" dirty="0" err="1">
                <a:solidFill>
                  <a:srgbClr val="0000FF"/>
                </a:solidFill>
              </a:rPr>
              <a:t>lb+lc+ld+le</a:t>
            </a:r>
            <a:r>
              <a:rPr lang="zh-CN" altLang="zh-CN" b="1" dirty="0">
                <a:solidFill>
                  <a:srgbClr val="0000FF"/>
                </a:solidFill>
              </a:rPr>
              <a:t>）</a:t>
            </a:r>
            <a:r>
              <a:rPr lang="en-US" altLang="zh-CN" b="1" dirty="0">
                <a:solidFill>
                  <a:srgbClr val="0000FF"/>
                </a:solidFill>
              </a:rPr>
              <a:t>/2pir/3</a:t>
            </a:r>
            <a:endParaRPr lang="zh-CN" altLang="zh-CN" b="1" dirty="0">
              <a:solidFill>
                <a:srgbClr val="0000FF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1FA68F-0876-90DB-95A7-7C743A6374DC}"/>
              </a:ext>
            </a:extLst>
          </p:cNvPr>
          <p:cNvSpPr/>
          <p:nvPr/>
        </p:nvSpPr>
        <p:spPr>
          <a:xfrm rot="17902793">
            <a:off x="1653902" y="5555558"/>
            <a:ext cx="15368284" cy="160413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F5E7F1-AAF0-2C5A-4722-4FEBB70E3BAF}"/>
              </a:ext>
            </a:extLst>
          </p:cNvPr>
          <p:cNvSpPr/>
          <p:nvPr/>
        </p:nvSpPr>
        <p:spPr>
          <a:xfrm rot="17941224">
            <a:off x="2691534" y="4890212"/>
            <a:ext cx="13318139" cy="4966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4ACC86-6154-AE90-4037-CCF232F85A43}"/>
              </a:ext>
            </a:extLst>
          </p:cNvPr>
          <p:cNvSpPr/>
          <p:nvPr/>
        </p:nvSpPr>
        <p:spPr>
          <a:xfrm rot="17941224">
            <a:off x="2693533" y="4538600"/>
            <a:ext cx="13318139" cy="19700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12D1D0D-952B-927F-8F00-4DB391B0EC09}"/>
              </a:ext>
            </a:extLst>
          </p:cNvPr>
          <p:cNvSpPr txBox="1">
            <a:spLocks/>
          </p:cNvSpPr>
          <p:nvPr/>
        </p:nvSpPr>
        <p:spPr>
          <a:xfrm>
            <a:off x="379741" y="298754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灵巧手操控方案设计</a:t>
            </a:r>
            <a:endParaRPr lang="zh-CN" altLang="zh-CN" dirty="0">
              <a:solidFill>
                <a:srgbClr val="0000FF"/>
              </a:solidFill>
            </a:endParaRPr>
          </a:p>
        </p:txBody>
      </p:sp>
      <p:pic>
        <p:nvPicPr>
          <p:cNvPr id="4" name="图片 3" descr="电脑萤幕画面&#10;&#10;AI 生成的内容可能不正确。">
            <a:extLst>
              <a:ext uri="{FF2B5EF4-FFF2-40B4-BE49-F238E27FC236}">
                <a16:creationId xmlns:a16="http://schemas.microsoft.com/office/drawing/2014/main" id="{4BC39129-9CD3-37C9-837F-209D3FD2B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1418844"/>
            <a:ext cx="5274310" cy="1127125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A26BCAD1-7816-CB1A-1F4D-2466E1BE3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985" y="3644454"/>
            <a:ext cx="526732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6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CC1E3-309C-1309-2649-4E423A15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C23E53BC-99BC-F358-37E9-8359C93AC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17" y="1774444"/>
            <a:ext cx="5487658" cy="26642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b="1" dirty="0">
                <a:solidFill>
                  <a:srgbClr val="0000FF"/>
                </a:solidFill>
              </a:rPr>
              <a:t>受限于绳驱式力反馈手套自由度的限制，我们假定每个指关节旋转角度一样。通过下图所示程序能将绳长换算成指关节弯曲的角度。</a:t>
            </a:r>
            <a:endParaRPr lang="en-US" altLang="zh-CN" b="1" dirty="0">
              <a:solidFill>
                <a:srgbClr val="0000FF"/>
              </a:solidFill>
            </a:endParaRP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   </a:t>
            </a:r>
            <a:r>
              <a:rPr lang="en-US" altLang="zh-CN" b="1" dirty="0" err="1">
                <a:solidFill>
                  <a:srgbClr val="0000FF"/>
                </a:solidFill>
              </a:rPr>
              <a:t>sita</a:t>
            </a:r>
            <a:r>
              <a:rPr lang="en-US" altLang="zh-CN" b="1" dirty="0">
                <a:solidFill>
                  <a:srgbClr val="0000FF"/>
                </a:solidFill>
              </a:rPr>
              <a:t>=l-</a:t>
            </a:r>
            <a:r>
              <a:rPr lang="zh-CN" altLang="zh-CN" b="1" dirty="0">
                <a:solidFill>
                  <a:srgbClr val="0000FF"/>
                </a:solidFill>
              </a:rPr>
              <a:t>（</a:t>
            </a:r>
            <a:r>
              <a:rPr lang="en-US" altLang="zh-CN" b="1" dirty="0" err="1">
                <a:solidFill>
                  <a:srgbClr val="0000FF"/>
                </a:solidFill>
              </a:rPr>
              <a:t>lb+lc+ld+le</a:t>
            </a:r>
            <a:r>
              <a:rPr lang="zh-CN" altLang="zh-CN" b="1" dirty="0">
                <a:solidFill>
                  <a:srgbClr val="0000FF"/>
                </a:solidFill>
              </a:rPr>
              <a:t>）</a:t>
            </a:r>
            <a:r>
              <a:rPr lang="en-US" altLang="zh-CN" b="1" dirty="0">
                <a:solidFill>
                  <a:srgbClr val="0000FF"/>
                </a:solidFill>
              </a:rPr>
              <a:t>/2pir/3</a:t>
            </a:r>
            <a:endParaRPr lang="zh-CN" altLang="zh-CN" b="1" dirty="0">
              <a:solidFill>
                <a:srgbClr val="0000FF"/>
              </a:solidFill>
            </a:endParaRPr>
          </a:p>
          <a:p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631089-9239-21ED-3471-7540374E5789}"/>
              </a:ext>
            </a:extLst>
          </p:cNvPr>
          <p:cNvSpPr/>
          <p:nvPr/>
        </p:nvSpPr>
        <p:spPr>
          <a:xfrm rot="16200000">
            <a:off x="-340193" y="6526372"/>
            <a:ext cx="14079868" cy="102712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9F9CD5-E1FF-C895-D3C6-F7B9C4D6DEA3}"/>
              </a:ext>
            </a:extLst>
          </p:cNvPr>
          <p:cNvSpPr/>
          <p:nvPr/>
        </p:nvSpPr>
        <p:spPr>
          <a:xfrm rot="16238431">
            <a:off x="919367" y="5488494"/>
            <a:ext cx="12201599" cy="4571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6CE59D-0912-AFB8-E8EA-9A05438639CE}"/>
              </a:ext>
            </a:extLst>
          </p:cNvPr>
          <p:cNvSpPr/>
          <p:nvPr/>
        </p:nvSpPr>
        <p:spPr>
          <a:xfrm rot="16238431">
            <a:off x="815083" y="5156361"/>
            <a:ext cx="12201599" cy="17293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3E88BDB-96BE-7D08-E85C-11291164B16E}"/>
              </a:ext>
            </a:extLst>
          </p:cNvPr>
          <p:cNvSpPr txBox="1">
            <a:spLocks/>
          </p:cNvSpPr>
          <p:nvPr/>
        </p:nvSpPr>
        <p:spPr>
          <a:xfrm>
            <a:off x="379741" y="298754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灵巧手操控方案设计</a:t>
            </a:r>
            <a:endParaRPr lang="zh-CN" altLang="zh-CN" dirty="0">
              <a:solidFill>
                <a:srgbClr val="0000FF"/>
              </a:solidFill>
            </a:endParaRPr>
          </a:p>
        </p:txBody>
      </p:sp>
      <p:pic>
        <p:nvPicPr>
          <p:cNvPr id="2" name="图片 1" descr="电脑萤幕画面&#10;&#10;AI 生成的内容可能不正确。">
            <a:extLst>
              <a:ext uri="{FF2B5EF4-FFF2-40B4-BE49-F238E27FC236}">
                <a16:creationId xmlns:a16="http://schemas.microsoft.com/office/drawing/2014/main" id="{6E66E4BA-AAD0-B5F3-1657-A7CC68386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319" y="647319"/>
            <a:ext cx="5274310" cy="1127125"/>
          </a:xfrm>
          <a:prstGeom prst="rect">
            <a:avLst/>
          </a:prstGeom>
        </p:spPr>
      </p:pic>
      <p:pic>
        <p:nvPicPr>
          <p:cNvPr id="3" name="drawing">
            <a:extLst>
              <a:ext uri="{FF2B5EF4-FFF2-40B4-BE49-F238E27FC236}">
                <a16:creationId xmlns:a16="http://schemas.microsoft.com/office/drawing/2014/main" id="{EBC307B5-FDFF-BFD3-4F79-433E6C048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304" y="2872929"/>
            <a:ext cx="526732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7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7D4A-97F2-510A-66F2-C37D603E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64FB663E-B4F6-3AE1-4C3F-8D4A458DA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17" y="1774444"/>
            <a:ext cx="5487658" cy="4035806"/>
          </a:xfrm>
        </p:spPr>
        <p:txBody>
          <a:bodyPr>
            <a:noAutofit/>
          </a:bodyPr>
          <a:lstStyle/>
          <a:p>
            <a:endParaRPr lang="en-US" altLang="zh-CN" sz="2400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3BB335-B452-DC0D-B583-4194FB003884}"/>
              </a:ext>
            </a:extLst>
          </p:cNvPr>
          <p:cNvSpPr/>
          <p:nvPr/>
        </p:nvSpPr>
        <p:spPr>
          <a:xfrm rot="16200000">
            <a:off x="5367338" y="33334"/>
            <a:ext cx="1457324" cy="1219200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EC0DDCD-B80A-0C86-0EC5-B90C2C2D10B2}"/>
              </a:ext>
            </a:extLst>
          </p:cNvPr>
          <p:cNvSpPr txBox="1">
            <a:spLocks/>
          </p:cNvSpPr>
          <p:nvPr/>
        </p:nvSpPr>
        <p:spPr>
          <a:xfrm>
            <a:off x="379741" y="298754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灵巧手力反馈方案设计</a:t>
            </a:r>
            <a:endParaRPr lang="zh-CN" altLang="zh-CN" dirty="0">
              <a:solidFill>
                <a:srgbClr val="0000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25C342-F352-74EE-EB6E-1C4188D0B444}"/>
              </a:ext>
            </a:extLst>
          </p:cNvPr>
          <p:cNvSpPr txBox="1"/>
          <p:nvPr/>
        </p:nvSpPr>
        <p:spPr>
          <a:xfrm>
            <a:off x="446416" y="1774444"/>
            <a:ext cx="10888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1.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首先在灵巧手的指腹上粘贴力传感器，于是我们就得到了灵巧手要求我们的手套反馈多少力的数值。</a:t>
            </a:r>
            <a:endParaRPr lang="zh-CN" altLang="zh-CN" sz="1800" b="1" kern="100" dirty="0">
              <a:solidFill>
                <a:srgbClr val="0000FF"/>
              </a:solidFill>
              <a:effectLst/>
              <a:latin typeface="Adobe 宋体 Std L" panose="02020300000000000000" pitchFamily="18" charset="-122"/>
              <a:ea typeface="Adobe 宋体 Std L" panose="020203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E726D7-5FF1-5A54-A191-6F4D9779A15F}"/>
              </a:ext>
            </a:extLst>
          </p:cNvPr>
          <p:cNvSpPr txBox="1"/>
          <p:nvPr/>
        </p:nvSpPr>
        <p:spPr>
          <a:xfrm>
            <a:off x="446416" y="2782669"/>
            <a:ext cx="10697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2.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力的数值通过电信号传递到电脑上的灵巧手的驱动软件，</a:t>
            </a: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C#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COM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接口调用得到力的数值</a:t>
            </a:r>
            <a:endParaRPr lang="zh-CN" altLang="zh-CN" sz="1800" b="1" kern="100" dirty="0">
              <a:solidFill>
                <a:srgbClr val="0000FF"/>
              </a:solidFill>
              <a:effectLst/>
              <a:latin typeface="Adobe 宋体 Std L" panose="02020300000000000000" pitchFamily="18" charset="-122"/>
              <a:ea typeface="Adobe 宋体 Std L" panose="020203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01F15-09E8-D72C-BF08-58869927D272}"/>
              </a:ext>
            </a:extLst>
          </p:cNvPr>
          <p:cNvSpPr txBox="1"/>
          <p:nvPr/>
        </p:nvSpPr>
        <p:spPr>
          <a:xfrm>
            <a:off x="446416" y="3705908"/>
            <a:ext cx="1088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3.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这个力的大小其实就是我们程序中的</a:t>
            </a: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f1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，程序计算得到</a:t>
            </a: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f2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如图</a:t>
            </a:r>
            <a:endParaRPr lang="zh-CN" altLang="zh-CN" sz="1800" b="1" kern="100" dirty="0">
              <a:solidFill>
                <a:srgbClr val="0000FF"/>
              </a:solidFill>
              <a:effectLst/>
              <a:latin typeface="Adobe 宋体 Std L" panose="02020300000000000000" pitchFamily="18" charset="-122"/>
              <a:ea typeface="Adobe 宋体 Std L" panose="020203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CB4FBA-3B21-D53D-3E31-DC6AA2BE0EB2}"/>
              </a:ext>
            </a:extLst>
          </p:cNvPr>
          <p:cNvSpPr txBox="1"/>
          <p:nvPr/>
        </p:nvSpPr>
        <p:spPr>
          <a:xfrm>
            <a:off x="446416" y="46291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Adobe 宋体 Std L" panose="02020300000000000000" pitchFamily="18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4.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Adobe 宋体 Std L" panose="02020300000000000000" pitchFamily="18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得到了</a:t>
            </a: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Adobe 宋体 Std L" panose="02020300000000000000" pitchFamily="18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f2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Adobe 宋体 Std L" panose="02020300000000000000" pitchFamily="18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以后只要再乘</a:t>
            </a:r>
            <a:r>
              <a:rPr lang="en-US" altLang="zh-CN" sz="1800" b="1" kern="100" dirty="0">
                <a:solidFill>
                  <a:srgbClr val="0000FF"/>
                </a:solidFill>
                <a:effectLst/>
                <a:latin typeface="Adobe 宋体 Std L" panose="02020300000000000000" pitchFamily="18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r</a:t>
            </a:r>
            <a:r>
              <a:rPr lang="zh-CN" altLang="zh-CN" sz="1800" b="1" kern="100" dirty="0">
                <a:solidFill>
                  <a:srgbClr val="0000FF"/>
                </a:solidFill>
                <a:effectLst/>
                <a:latin typeface="Adobe 宋体 Std L" panose="02020300000000000000" pitchFamily="18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就得到扭矩电机的力的大小。</a:t>
            </a:r>
          </a:p>
        </p:txBody>
      </p:sp>
    </p:spTree>
    <p:extLst>
      <p:ext uri="{BB962C8B-B14F-4D97-AF65-F5344CB8AC3E}">
        <p14:creationId xmlns:p14="http://schemas.microsoft.com/office/powerpoint/2010/main" val="419603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C6DC-E42B-4F90-B3DB-BC3D7CEE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3D5ABAA2-01D7-EB77-DBC6-223BE11F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17" y="1774444"/>
            <a:ext cx="5487658" cy="4035806"/>
          </a:xfrm>
        </p:spPr>
        <p:txBody>
          <a:bodyPr>
            <a:noAutofit/>
          </a:bodyPr>
          <a:lstStyle/>
          <a:p>
            <a:endParaRPr lang="en-US" altLang="zh-CN" sz="2400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05812C-C1A6-315F-DAD6-0E1C98006DB5}"/>
              </a:ext>
            </a:extLst>
          </p:cNvPr>
          <p:cNvSpPr/>
          <p:nvPr/>
        </p:nvSpPr>
        <p:spPr>
          <a:xfrm rot="16200000">
            <a:off x="5367338" y="33334"/>
            <a:ext cx="1457324" cy="1219200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CF1A326-9F08-29C0-EBD8-1E45E272AC2F}"/>
              </a:ext>
            </a:extLst>
          </p:cNvPr>
          <p:cNvSpPr txBox="1">
            <a:spLocks/>
          </p:cNvSpPr>
          <p:nvPr/>
        </p:nvSpPr>
        <p:spPr>
          <a:xfrm>
            <a:off x="379741" y="298754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灵巧手力反馈方案设计</a:t>
            </a:r>
            <a:endParaRPr lang="zh-CN" altLang="zh-CN" dirty="0">
              <a:solidFill>
                <a:srgbClr val="0000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1795CC-9D7E-ACA4-BD46-71AF1AFC8A84}"/>
              </a:ext>
            </a:extLst>
          </p:cNvPr>
          <p:cNvSpPr txBox="1"/>
          <p:nvPr/>
        </p:nvSpPr>
        <p:spPr>
          <a:xfrm>
            <a:off x="446417" y="1514715"/>
            <a:ext cx="1088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kern="10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3.</a:t>
            </a:r>
            <a:r>
              <a:rPr lang="zh-CN" altLang="zh-CN" sz="1800" b="1" kern="10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这个力的大小其实就是我们程序中的</a:t>
            </a:r>
            <a:r>
              <a:rPr lang="en-US" altLang="zh-CN" sz="1800" b="1" kern="10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f1</a:t>
            </a:r>
            <a:r>
              <a:rPr lang="zh-CN" altLang="zh-CN" sz="1800" b="1" kern="10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，程序计算得到</a:t>
            </a:r>
            <a:r>
              <a:rPr lang="en-US" altLang="zh-CN" sz="1800" b="1" kern="10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f2</a:t>
            </a:r>
            <a:r>
              <a:rPr lang="zh-CN" altLang="zh-CN" sz="1800" b="1" kern="100">
                <a:solidFill>
                  <a:srgbClr val="0000FF"/>
                </a:solidFill>
                <a:effectLst/>
                <a:latin typeface="宋体" panose="02010600030101010101" pitchFamily="2" charset="-122"/>
                <a:ea typeface="Adobe 宋体 Std L" panose="02020300000000000000" pitchFamily="18" charset="-122"/>
                <a:cs typeface="Times New Roman" panose="02020603050405020304" pitchFamily="18" charset="0"/>
              </a:rPr>
              <a:t>如图</a:t>
            </a:r>
            <a:endParaRPr lang="zh-CN" altLang="zh-CN" sz="1800" b="1" kern="100" dirty="0">
              <a:solidFill>
                <a:srgbClr val="0000FF"/>
              </a:solidFill>
              <a:effectLst/>
              <a:latin typeface="Adobe 宋体 Std L" panose="02020300000000000000" pitchFamily="18" charset="-122"/>
              <a:ea typeface="Adobe 宋体 Std L" panose="02020300000000000000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AED793C9-D512-57FC-B072-14B8E5DBC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2339784"/>
            <a:ext cx="526732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98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4EC4-D7DB-DDC0-1F17-AD0879B4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145E8E06-08FD-72B5-6100-3127987F5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17" y="1774444"/>
            <a:ext cx="5487658" cy="4035806"/>
          </a:xfrm>
        </p:spPr>
        <p:txBody>
          <a:bodyPr>
            <a:noAutofit/>
          </a:bodyPr>
          <a:lstStyle/>
          <a:p>
            <a:endParaRPr lang="en-US" altLang="zh-CN" sz="2400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6F63F2A-1D18-767B-531C-2133340FC6A1}"/>
              </a:ext>
            </a:extLst>
          </p:cNvPr>
          <p:cNvSpPr txBox="1">
            <a:spLocks/>
          </p:cNvSpPr>
          <p:nvPr/>
        </p:nvSpPr>
        <p:spPr>
          <a:xfrm>
            <a:off x="379741" y="298754"/>
            <a:ext cx="61293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b="1" dirty="0">
                <a:solidFill>
                  <a:srgbClr val="0000FF"/>
                </a:solidFill>
              </a:rPr>
              <a:t>灵巧手力反馈方案设计</a:t>
            </a:r>
            <a:endParaRPr lang="zh-CN" altLang="zh-CN" dirty="0">
              <a:solidFill>
                <a:srgbClr val="0000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80EA30-0256-4223-936B-EBD7CA99BB06}"/>
              </a:ext>
            </a:extLst>
          </p:cNvPr>
          <p:cNvSpPr txBox="1"/>
          <p:nvPr/>
        </p:nvSpPr>
        <p:spPr>
          <a:xfrm>
            <a:off x="446417" y="1513302"/>
            <a:ext cx="10888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FF"/>
                </a:solidFill>
              </a:rPr>
              <a:t>这里我们通过</a:t>
            </a:r>
            <a:r>
              <a:rPr lang="en-US" altLang="zh-CN" dirty="0" err="1">
                <a:solidFill>
                  <a:srgbClr val="0000FF"/>
                </a:solidFill>
              </a:rPr>
              <a:t>winform</a:t>
            </a:r>
            <a:r>
              <a:rPr lang="zh-CN" altLang="zh-CN" dirty="0">
                <a:solidFill>
                  <a:srgbClr val="0000FF"/>
                </a:solidFill>
              </a:rPr>
              <a:t>来</a:t>
            </a:r>
            <a:r>
              <a:rPr lang="zh-CN" altLang="en-US" dirty="0">
                <a:solidFill>
                  <a:srgbClr val="0000FF"/>
                </a:solidFill>
              </a:rPr>
              <a:t>画</a:t>
            </a:r>
            <a:r>
              <a:rPr lang="zh-CN" altLang="zh-CN" dirty="0">
                <a:solidFill>
                  <a:srgbClr val="0000FF"/>
                </a:solidFill>
              </a:rPr>
              <a:t>出每个状态的时候手套指腹的力的大小对应电机输出多少</a:t>
            </a:r>
            <a:r>
              <a:rPr lang="en-US" altLang="zh-CN" dirty="0">
                <a:solidFill>
                  <a:srgbClr val="0000FF"/>
                </a:solidFill>
              </a:rPr>
              <a:t>f2</a:t>
            </a:r>
            <a:endParaRPr lang="zh-CN" altLang="zh-CN" dirty="0">
              <a:solidFill>
                <a:srgbClr val="0000FF"/>
              </a:solidFill>
            </a:endParaRPr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AE70F4B0-494F-D5DD-3EB5-74745427C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39643"/>
            <a:ext cx="4084753" cy="4618357"/>
          </a:xfrm>
          <a:prstGeom prst="rect">
            <a:avLst/>
          </a:prstGeom>
        </p:spPr>
      </p:pic>
      <p:pic>
        <p:nvPicPr>
          <p:cNvPr id="7" name="drawing">
            <a:extLst>
              <a:ext uri="{FF2B5EF4-FFF2-40B4-BE49-F238E27FC236}">
                <a16:creationId xmlns:a16="http://schemas.microsoft.com/office/drawing/2014/main" id="{81A3D446-DC61-1F67-503D-24811C56D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8963" y="2239643"/>
            <a:ext cx="4704036" cy="4618357"/>
          </a:xfrm>
          <a:prstGeom prst="rect">
            <a:avLst/>
          </a:prstGeom>
        </p:spPr>
      </p:pic>
      <p:pic>
        <p:nvPicPr>
          <p:cNvPr id="8" name="drawing">
            <a:extLst>
              <a:ext uri="{FF2B5EF4-FFF2-40B4-BE49-F238E27FC236}">
                <a16:creationId xmlns:a16="http://schemas.microsoft.com/office/drawing/2014/main" id="{D4CC8791-57BA-DC49-3073-EEAB03965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0255" y="1774444"/>
            <a:ext cx="2531745" cy="2898775"/>
          </a:xfrm>
          <a:prstGeom prst="rect">
            <a:avLst/>
          </a:prstGeom>
        </p:spPr>
      </p:pic>
      <p:pic>
        <p:nvPicPr>
          <p:cNvPr id="9" name="drawing">
            <a:extLst>
              <a:ext uri="{FF2B5EF4-FFF2-40B4-BE49-F238E27FC236}">
                <a16:creationId xmlns:a16="http://schemas.microsoft.com/office/drawing/2014/main" id="{45529803-DBEC-889B-A605-DF7EBB68E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2999" y="4095750"/>
            <a:ext cx="2247265" cy="27622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3DE0BC4-4BAD-8648-499D-0ED72A4A3FC3}"/>
              </a:ext>
            </a:extLst>
          </p:cNvPr>
          <p:cNvSpPr/>
          <p:nvPr/>
        </p:nvSpPr>
        <p:spPr>
          <a:xfrm rot="16200000">
            <a:off x="5367336" y="1518996"/>
            <a:ext cx="1457324" cy="1219200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197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1168</Words>
  <Application>Microsoft Office PowerPoint</Application>
  <PresentationFormat>宽屏</PresentationFormat>
  <Paragraphs>115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Adobe 宋体 Std L</vt:lpstr>
      <vt:lpstr>等线</vt:lpstr>
      <vt:lpstr>等线 Light</vt:lpstr>
      <vt:lpstr>宋体</vt:lpstr>
      <vt:lpstr>Arial</vt:lpstr>
      <vt:lpstr>Office 主题​​</vt:lpstr>
      <vt:lpstr>手套设计</vt:lpstr>
      <vt:lpstr>任务分配</vt:lpstr>
      <vt:lpstr>设计背景</vt:lpstr>
      <vt:lpstr>主要功能和性能指标</vt:lpstr>
      <vt:lpstr>力反馈的计算</vt:lpstr>
      <vt:lpstr>力反馈的计算</vt:lpstr>
      <vt:lpstr>力反馈的计算</vt:lpstr>
      <vt:lpstr>力反馈的计算</vt:lpstr>
      <vt:lpstr>方案优势与创新点</vt:lpstr>
      <vt:lpstr>方案优势与创新点</vt:lpstr>
      <vt:lpstr>方案优势与创新点</vt:lpstr>
      <vt:lpstr>方案优势与创新点</vt:lpstr>
      <vt:lpstr>方案优势与创新点</vt:lpstr>
      <vt:lpstr>方案优势与创新点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煜暄 陈</dc:creator>
  <cp:lastModifiedBy>齐权 王</cp:lastModifiedBy>
  <cp:revision>4</cp:revision>
  <dcterms:created xsi:type="dcterms:W3CDTF">2026-01-08T12:40:08Z</dcterms:created>
  <dcterms:modified xsi:type="dcterms:W3CDTF">2026-01-09T08:34:46Z</dcterms:modified>
</cp:coreProperties>
</file>