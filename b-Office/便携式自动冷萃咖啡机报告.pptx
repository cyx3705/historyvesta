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2"/>
  </p:notesMasterIdLst>
  <p:handoutMasterIdLst>
    <p:handoutMasterId r:id="rId13"/>
  </p:handoutMasterIdLst>
  <p:sldIdLst>
    <p:sldId id="259" r:id="rId2"/>
    <p:sldId id="258" r:id="rId3"/>
    <p:sldId id="260" r:id="rId4"/>
    <p:sldId id="269" r:id="rId5"/>
    <p:sldId id="261" r:id="rId6"/>
    <p:sldId id="262" r:id="rId7"/>
    <p:sldId id="263" r:id="rId8"/>
    <p:sldId id="270" r:id="rId9"/>
    <p:sldId id="271" r:id="rId10"/>
    <p:sldId id="267" r:id="rId1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zh-CN" altLang="en-US" sz="3200" dirty="0">
              <a:latin typeface="新宋体" panose="02010609030101010101" pitchFamily="49" charset="-122"/>
              <a:ea typeface="新宋体" panose="02010609030101010101" pitchFamily="49" charset="-122"/>
            </a:rPr>
            <a:t>整体外观展示</a:t>
          </a:r>
          <a:endParaRPr lang="zh-cn" sz="32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gm:t>
    </dgm:pt>
    <dgm:pt modelId="{53742231-981F-480A-940F-203EC2F7423F}">
      <dgm:prSet custT="1"/>
      <dgm:spPr/>
      <dgm:t>
        <a:bodyPr rtlCol="0"/>
        <a:lstStyle/>
        <a:p>
          <a:pPr rtl="0">
            <a:defRPr cap="all"/>
          </a:pPr>
          <a:r>
            <a:rPr lang="zh-CN" altLang="en-US" sz="3200" dirty="0">
              <a:latin typeface="新宋体" panose="02010609030101010101" pitchFamily="49" charset="-122"/>
              <a:ea typeface="新宋体" panose="02010609030101010101" pitchFamily="49" charset="-122"/>
            </a:rPr>
            <a:t>具体结构展示</a:t>
          </a:r>
          <a:endParaRPr lang="zh-cn" sz="32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9EF41CC5-EF3B-4A6D-8229-3F1333EADFB3}">
      <dgm:prSet custT="1"/>
      <dgm:spPr/>
      <dgm:t>
        <a:bodyPr rtlCol="0"/>
        <a:lstStyle/>
        <a:p>
          <a:pPr rtl="0">
            <a:defRPr cap="all"/>
          </a:pPr>
          <a:r>
            <a:rPr lang="zh-CN" altLang="en-US" sz="3200" dirty="0">
              <a:latin typeface="新宋体" panose="02010609030101010101" pitchFamily="49" charset="-122"/>
              <a:ea typeface="新宋体" panose="02010609030101010101" pitchFamily="49" charset="-122"/>
            </a:rPr>
            <a:t>原理说明</a:t>
          </a:r>
          <a:endParaRPr lang="zh-cn" sz="32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3200" kern="1200" dirty="0">
              <a:latin typeface="新宋体" panose="02010609030101010101" pitchFamily="49" charset="-122"/>
              <a:ea typeface="新宋体" panose="02010609030101010101" pitchFamily="49" charset="-122"/>
            </a:rPr>
            <a:t>整体外观展示</a:t>
          </a:r>
          <a:endParaRPr lang="zh-cn" sz="32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3200" kern="1200" dirty="0">
              <a:latin typeface="新宋体" panose="02010609030101010101" pitchFamily="49" charset="-122"/>
              <a:ea typeface="新宋体" panose="02010609030101010101" pitchFamily="49" charset="-122"/>
            </a:rPr>
            <a:t>具体结构展示</a:t>
          </a:r>
          <a:endParaRPr lang="zh-cn" sz="32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3200" kern="1200" dirty="0">
              <a:latin typeface="新宋体" panose="02010609030101010101" pitchFamily="49" charset="-122"/>
              <a:ea typeface="新宋体" panose="02010609030101010101" pitchFamily="49" charset="-122"/>
            </a:rPr>
            <a:t>原理说明</a:t>
          </a:r>
          <a:endParaRPr lang="zh-cn" sz="32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098C1-0776-4557-9D46-1B787E688456}" type="datetime1">
              <a:rPr lang="zh-CN" altLang="en-US" smtClean="0"/>
              <a:t>2026/6/14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F446B9-0BA7-440C-9491-EFEE44B7DCB7}" type="datetime1">
              <a:rPr lang="zh-CN" altLang="en-US" smtClean="0"/>
              <a:t>2026/6/14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8E8BE3-72DE-4BA9-940E-B3214E2A4FBC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61884-1233-44DE-95EA-687917CD0720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DD9908-788A-4C9F-9B82-38760DCE99A2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F8C3A-E456-4019-B9D3-D27A657A074F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907AA-E66F-456D-8ABA-1CC838498840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15656-9C52-4530-B9B0-471CBD4A032C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3893B8-6395-4039-AAC4-F8E54DB39C70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F0827-5F6F-49F9-9E39-E700438688FE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D902FE-1817-4BA0-AB93-2732E2F941ED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​​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A75C24-54DF-4A37-B566-5D4504915616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B8EFA-D326-482A-835B-35244CC8D335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4DE457-3CDB-46E6-BCC2-0DB87A7AB97D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5E2E9F-6F2A-4603-A42F-23C3B9EC2542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AD336-3C25-4874-9EA7-D9A8F29C3DE6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ADDF4-C7DF-4425-A02C-99D8158E8998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115FF-7F57-454B-BC07-3D5B5B3B2E36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76A30-68C3-4742-871E-C4BFB5BF037D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B4EFF9AB-85BE-4B1F-BA1B-A157C8C43628}" type="datetime1">
              <a:rPr lang="zh-CN" altLang="en-US" smtClean="0"/>
              <a:t>2026/6/14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新宋体" panose="02010609030101010101" pitchFamily="49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351" y="1093383"/>
            <a:ext cx="10108504" cy="2648381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7200" dirty="0"/>
              <a:t>自动冷萃咖啡机</a:t>
            </a:r>
            <a:endParaRPr lang="zh-cn" sz="7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2800" dirty="0"/>
              <a:t>组长：张航诚 </a:t>
            </a:r>
            <a:endParaRPr lang="en-US" altLang="zh-CN" sz="2800" dirty="0"/>
          </a:p>
          <a:p>
            <a:pPr rtl="0"/>
            <a:r>
              <a:rPr lang="zh-CN" altLang="en-US" sz="2800" dirty="0"/>
              <a:t>组员：陈煜暄 王齐权 徐匡植</a:t>
            </a:r>
            <a:endParaRPr lang="zh-cn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目录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210013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ACC6A5B-FF59-FB1A-B996-E9CC5256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828" y="1254911"/>
            <a:ext cx="5004753" cy="691879"/>
          </a:xfrm>
        </p:spPr>
        <p:txBody>
          <a:bodyPr anchor="b">
            <a:normAutofit fontScale="90000"/>
          </a:bodyPr>
          <a:lstStyle/>
          <a:p>
            <a:r>
              <a:rPr lang="zh-CN" altLang="en-US" sz="4600" dirty="0"/>
              <a:t>设计理念</a:t>
            </a:r>
            <a:endParaRPr lang="en-US" sz="46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0B9DDBA-1C59-C62E-B91E-AB21EE5184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277559" y="972589"/>
            <a:ext cx="2173923" cy="491282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B35E398-FF53-C9D5-7F77-BE22C4EB7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20202" y="2266340"/>
            <a:ext cx="5338006" cy="3727364"/>
          </a:xfrm>
        </p:spPr>
        <p:txBody>
          <a:bodyPr anchor="t">
            <a:normAutofit fontScale="4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altLang="zh-CN" sz="3800" dirty="0"/>
              <a:t>    </a:t>
            </a:r>
            <a:r>
              <a:rPr lang="zh-CN" altLang="zh-CN" sz="3800" dirty="0"/>
              <a:t>本设计以“</a:t>
            </a:r>
            <a:r>
              <a:rPr lang="zh-CN" altLang="en-US" sz="3800" dirty="0"/>
              <a:t>简约、创新</a:t>
            </a:r>
            <a:r>
              <a:rPr lang="zh-CN" altLang="zh-CN" sz="3800" dirty="0"/>
              <a:t>”为核心</a:t>
            </a:r>
            <a:r>
              <a:rPr lang="zh-CN" altLang="en-US" sz="3800" dirty="0"/>
              <a:t>。</a:t>
            </a:r>
            <a:r>
              <a:rPr lang="zh-CN" altLang="zh-CN" sz="3800" dirty="0"/>
              <a:t>强调轴向对称的结构美学与克制的外观表达，通过功能与结构的高度整合，尽可能减少零件数</a:t>
            </a:r>
            <a:r>
              <a:rPr lang="zh-CN" altLang="en-US" sz="3800" dirty="0"/>
              <a:t>，</a:t>
            </a:r>
            <a:r>
              <a:rPr lang="zh-CN" altLang="zh-CN" sz="3800" dirty="0"/>
              <a:t>使整体呈现</a:t>
            </a:r>
            <a:r>
              <a:rPr lang="zh-CN" altLang="en-US" sz="3800" dirty="0"/>
              <a:t>简约、一体化</a:t>
            </a:r>
            <a:r>
              <a:rPr lang="zh-CN" altLang="zh-CN" sz="3800" dirty="0"/>
              <a:t>的视觉特征。</a:t>
            </a:r>
            <a:endParaRPr lang="en-US" altLang="zh-CN" sz="3800" dirty="0"/>
          </a:p>
          <a:p>
            <a:pPr algn="l">
              <a:lnSpc>
                <a:spcPct val="150000"/>
              </a:lnSpc>
            </a:pPr>
            <a:r>
              <a:rPr lang="en-US" altLang="zh-CN" sz="3800" dirty="0"/>
              <a:t>    </a:t>
            </a:r>
            <a:r>
              <a:rPr lang="zh-CN" altLang="en-US" sz="3800" dirty="0"/>
              <a:t>为了区别于市面上传统自动冷萃咖啡机，我们设计了一套环形流道循环系统进行重复冷萃，加快了萃取速度，且保证了咖啡口感；具有防堵塞功能等。</a:t>
            </a:r>
            <a:endParaRPr lang="en-US" altLang="zh-CN" sz="3800" dirty="0"/>
          </a:p>
          <a:p>
            <a:pPr algn="l"/>
            <a:r>
              <a:rPr lang="en-US" altLang="zh-CN" sz="3800" dirty="0"/>
              <a:t>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7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B4322-6F1D-A033-07F4-EEF6F9F9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625" y="1494744"/>
            <a:ext cx="4721287" cy="796314"/>
          </a:xfrm>
        </p:spPr>
        <p:txBody>
          <a:bodyPr anchor="b">
            <a:normAutofit/>
          </a:bodyPr>
          <a:lstStyle/>
          <a:p>
            <a:r>
              <a:rPr lang="zh-CN" altLang="en-US" sz="4600" dirty="0"/>
              <a:t>具体结构展示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0A66EC6-4F7A-5678-881B-300E9C0F1F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203766" y="835891"/>
            <a:ext cx="2198487" cy="491282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13F04DC-7800-2F21-2D0A-73708ECA3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78626" y="2573492"/>
            <a:ext cx="4721287" cy="3175221"/>
          </a:xfrm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/>
              <a:t>    </a:t>
            </a:r>
            <a:r>
              <a:rPr lang="zh-CN" altLang="en-US" sz="2000" dirty="0"/>
              <a:t>该产品整体分为两个对称一致液体仓和一个电器仓。液体仓主要由内外两层塑料容器和一个顶盖组成，电器仓由一个主体外壳、粉仓、液体流道、蓄电池、启动按钮和两个泵等组成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3394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35CEDB6E-3183-7F82-05EE-9EA13B9DA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392" y="818906"/>
            <a:ext cx="2394350" cy="4953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EFFF91D-5422-D98E-BEC2-A141A5EFC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253" y="2546162"/>
            <a:ext cx="3332528" cy="3226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标题 24">
            <a:extLst>
              <a:ext uri="{FF2B5EF4-FFF2-40B4-BE49-F238E27FC236}">
                <a16:creationId xmlns:a16="http://schemas.microsoft.com/office/drawing/2014/main" id="{87F0B17E-3847-CC12-E3AA-19195DC0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814" y="818906"/>
            <a:ext cx="4115405" cy="1356986"/>
          </a:xfrm>
        </p:spPr>
        <p:txBody>
          <a:bodyPr/>
          <a:lstStyle/>
          <a:p>
            <a:r>
              <a:rPr lang="zh-CN" altLang="en-US" dirty="0"/>
              <a:t>液体仓结构</a:t>
            </a:r>
          </a:p>
        </p:txBody>
      </p:sp>
    </p:spTree>
    <p:extLst>
      <p:ext uri="{BB962C8B-B14F-4D97-AF65-F5344CB8AC3E}">
        <p14:creationId xmlns:p14="http://schemas.microsoft.com/office/powerpoint/2010/main" val="245224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0263B-A073-F143-48A2-C649ED34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608" y="2031757"/>
            <a:ext cx="4175991" cy="971164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电器仓结构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B0A8E06-D1D4-3DA9-8D8C-34E6A052E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609" y="3600684"/>
            <a:ext cx="4175991" cy="1368358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sz="2400" dirty="0"/>
              <a:t>电器仓由一个主体外壳、粉仓、液体流道、蓄电池、启动按钮和两个泵等组成。</a:t>
            </a:r>
            <a:endParaRPr 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3483B0-B813-9028-4652-33B06D43FB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12" y="1617664"/>
            <a:ext cx="4175991" cy="3622672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01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587C6-C0D1-31CE-9C06-8A2560FB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753" y="820153"/>
            <a:ext cx="4548542" cy="1257300"/>
          </a:xfrm>
        </p:spPr>
        <p:txBody>
          <a:bodyPr/>
          <a:lstStyle/>
          <a:p>
            <a:r>
              <a:rPr lang="zh-CN" altLang="en-US" dirty="0"/>
              <a:t>咖啡机原理</a:t>
            </a:r>
          </a:p>
        </p:txBody>
      </p:sp>
      <p:pic>
        <p:nvPicPr>
          <p:cNvPr id="5" name="图片 4" descr="图片包含 室内, 小, 房间, 桌子&#10;&#10;描述已自动生成">
            <a:extLst>
              <a:ext uri="{FF2B5EF4-FFF2-40B4-BE49-F238E27FC236}">
                <a16:creationId xmlns:a16="http://schemas.microsoft.com/office/drawing/2014/main" id="{96EE520E-85C2-2816-7C57-CBC5C7A2B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085" y="536306"/>
            <a:ext cx="2422068" cy="57853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6CF64E-94C2-573E-E49F-294366C5B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0493" y="2343383"/>
            <a:ext cx="5427061" cy="369446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zh-CN" altLang="en-US" dirty="0"/>
              <a:t>第一阶段开始</a:t>
            </a:r>
            <a:r>
              <a:rPr lang="en-US" altLang="zh-CN" dirty="0"/>
              <a:t>: </a:t>
            </a:r>
            <a:r>
              <a:rPr lang="zh-CN" altLang="en-US" dirty="0"/>
              <a:t>气泵抽气到液仓的气压增大</a:t>
            </a:r>
            <a:r>
              <a:rPr lang="en-US" altLang="zh-CN" dirty="0"/>
              <a:t>,</a:t>
            </a:r>
            <a:r>
              <a:rPr lang="zh-CN" altLang="en-US" dirty="0"/>
              <a:t>液体通过环形流道升到冰块仓。</a:t>
            </a:r>
            <a:endParaRPr lang="en-US" altLang="zh-CN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zh-CN" altLang="en-US" dirty="0"/>
              <a:t>第一阶段结束</a:t>
            </a:r>
            <a:r>
              <a:rPr lang="en-US" altLang="zh-CN" dirty="0"/>
              <a:t>: </a:t>
            </a:r>
            <a:r>
              <a:rPr lang="zh-CN" altLang="en-US" dirty="0"/>
              <a:t>液体全部升到冰块仓，冰块仓对外联通气压下降。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8DA4D3-9760-90CC-0869-30D9701050DD}"/>
              </a:ext>
            </a:extLst>
          </p:cNvPr>
          <p:cNvSpPr txBox="1"/>
          <p:nvPr/>
        </p:nvSpPr>
        <p:spPr>
          <a:xfrm>
            <a:off x="8578517" y="4343400"/>
            <a:ext cx="77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液仓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7EAAB0-2ED0-7F7C-6F59-D6FAAF3E4D26}"/>
              </a:ext>
            </a:extLst>
          </p:cNvPr>
          <p:cNvSpPr txBox="1"/>
          <p:nvPr/>
        </p:nvSpPr>
        <p:spPr>
          <a:xfrm>
            <a:off x="8506327" y="1877652"/>
            <a:ext cx="92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冰块仓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49BAF2C-7CBA-CCE7-4FC3-03582DE88CC3}"/>
              </a:ext>
            </a:extLst>
          </p:cNvPr>
          <p:cNvCxnSpPr/>
          <p:nvPr/>
        </p:nvCxnSpPr>
        <p:spPr>
          <a:xfrm flipV="1">
            <a:off x="9763626" y="1185111"/>
            <a:ext cx="0" cy="439754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E4AFD25-F987-E784-9C54-A9A2DEBA47C5}"/>
              </a:ext>
            </a:extLst>
          </p:cNvPr>
          <p:cNvCxnSpPr/>
          <p:nvPr/>
        </p:nvCxnSpPr>
        <p:spPr>
          <a:xfrm flipV="1">
            <a:off x="8045116" y="1230229"/>
            <a:ext cx="0" cy="439754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94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9F6D-690F-0A86-A272-F90976D3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B39A8-4011-2F96-D70F-1629EB6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753" y="820153"/>
            <a:ext cx="4548542" cy="1257300"/>
          </a:xfrm>
        </p:spPr>
        <p:txBody>
          <a:bodyPr/>
          <a:lstStyle/>
          <a:p>
            <a:r>
              <a:rPr lang="zh-CN" altLang="en-US" dirty="0"/>
              <a:t>咖啡机原理</a:t>
            </a:r>
          </a:p>
        </p:txBody>
      </p:sp>
      <p:pic>
        <p:nvPicPr>
          <p:cNvPr id="5" name="图片 4" descr="图片包含 室内, 小, 房间, 桌子&#10;&#10;描述已自动生成">
            <a:extLst>
              <a:ext uri="{FF2B5EF4-FFF2-40B4-BE49-F238E27FC236}">
                <a16:creationId xmlns:a16="http://schemas.microsoft.com/office/drawing/2014/main" id="{3E9A834C-AFCD-48B0-EB9E-C0BAFDC94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085" y="536306"/>
            <a:ext cx="2422068" cy="57853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1D021B-A26E-25F8-FD18-4C638DC1B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0493" y="2343383"/>
            <a:ext cx="5427061" cy="369446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zh-CN" altLang="en-US" dirty="0"/>
              <a:t>第二阶段开始</a:t>
            </a:r>
            <a:r>
              <a:rPr lang="en-US" altLang="zh-CN" dirty="0"/>
              <a:t>:</a:t>
            </a:r>
            <a:r>
              <a:rPr lang="zh-CN" altLang="en-US" dirty="0"/>
              <a:t>液体全部升到冰块仓，冰块仓和液仓连通液仓气压下降，由于重力，冰块仓内的液体经过咖啡粉饼降到液仓</a:t>
            </a: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zh-CN" altLang="en-US" dirty="0"/>
              <a:t>第二阶段结束</a:t>
            </a:r>
            <a:r>
              <a:rPr lang="en-US" altLang="zh-CN" dirty="0"/>
              <a:t>:</a:t>
            </a:r>
            <a:r>
              <a:rPr lang="zh-CN" altLang="en-US" dirty="0"/>
              <a:t>液体初步下降到液仓，液面到达红线处，液仓与冰块仓不联通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7637D1-31EB-15D0-DC15-55C24044E7BD}"/>
              </a:ext>
            </a:extLst>
          </p:cNvPr>
          <p:cNvSpPr txBox="1"/>
          <p:nvPr/>
        </p:nvSpPr>
        <p:spPr>
          <a:xfrm>
            <a:off x="8966535" y="4794584"/>
            <a:ext cx="77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液仓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5966E1-2499-B83B-BBC8-2F99A8EB744E}"/>
              </a:ext>
            </a:extLst>
          </p:cNvPr>
          <p:cNvSpPr txBox="1"/>
          <p:nvPr/>
        </p:nvSpPr>
        <p:spPr>
          <a:xfrm>
            <a:off x="8887327" y="1878750"/>
            <a:ext cx="92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冰块仓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B413A1-A9A7-ACB4-5AB7-74415A5A3475}"/>
              </a:ext>
            </a:extLst>
          </p:cNvPr>
          <p:cNvCxnSpPr/>
          <p:nvPr/>
        </p:nvCxnSpPr>
        <p:spPr>
          <a:xfrm>
            <a:off x="7483643" y="5504447"/>
            <a:ext cx="2767263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AFA4A43-336A-8B9C-DCDC-092F87717BB9}"/>
              </a:ext>
            </a:extLst>
          </p:cNvPr>
          <p:cNvCxnSpPr>
            <a:cxnSpLocks/>
          </p:cNvCxnSpPr>
          <p:nvPr/>
        </p:nvCxnSpPr>
        <p:spPr>
          <a:xfrm>
            <a:off x="8887327" y="1720515"/>
            <a:ext cx="0" cy="378393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72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2F68-3479-12C6-B304-09AF4AE3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4FC5E-5667-12BB-D50D-BCFFD797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753" y="820153"/>
            <a:ext cx="4548542" cy="1257300"/>
          </a:xfrm>
        </p:spPr>
        <p:txBody>
          <a:bodyPr/>
          <a:lstStyle/>
          <a:p>
            <a:r>
              <a:rPr lang="zh-CN" altLang="en-US" dirty="0"/>
              <a:t>咖啡机原理</a:t>
            </a:r>
          </a:p>
        </p:txBody>
      </p:sp>
      <p:pic>
        <p:nvPicPr>
          <p:cNvPr id="5" name="图片 4" descr="图片包含 室内, 小, 房间, 桌子&#10;&#10;描述已自动生成">
            <a:extLst>
              <a:ext uri="{FF2B5EF4-FFF2-40B4-BE49-F238E27FC236}">
                <a16:creationId xmlns:a16="http://schemas.microsoft.com/office/drawing/2014/main" id="{CF2B633A-8DE2-F488-A5EE-6421EA38C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085" y="536306"/>
            <a:ext cx="2422068" cy="578538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531475-4093-A889-96AA-60C61B611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0493" y="2343383"/>
            <a:ext cx="5427061" cy="369446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zh-CN" altLang="en-US" dirty="0"/>
              <a:t>第三阶段开始</a:t>
            </a:r>
            <a:r>
              <a:rPr lang="en-US" altLang="zh-CN" dirty="0"/>
              <a:t>:</a:t>
            </a:r>
            <a:r>
              <a:rPr lang="zh-CN" altLang="en-US" dirty="0"/>
              <a:t>液体全部液面到达红线处，液仓与冰块仓不联通，气泵开始将液仓抽取到外部，液仓负压，加速液体下流</a:t>
            </a:r>
            <a:endParaRPr lang="en-US" altLang="zh-CN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zh-CN" altLang="en-US" dirty="0"/>
              <a:t>第三阶段结束</a:t>
            </a:r>
            <a:r>
              <a:rPr lang="en-US" altLang="zh-CN" dirty="0"/>
              <a:t>:</a:t>
            </a:r>
            <a:r>
              <a:rPr lang="zh-CN" altLang="en-US" dirty="0"/>
              <a:t>冰块仓的液体全部下降到液仓，一次循环完成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377F51-8129-E4C3-FB5E-2C25DD376615}"/>
              </a:ext>
            </a:extLst>
          </p:cNvPr>
          <p:cNvSpPr txBox="1"/>
          <p:nvPr/>
        </p:nvSpPr>
        <p:spPr>
          <a:xfrm>
            <a:off x="8578517" y="4343400"/>
            <a:ext cx="77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液仓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D02269-9CD3-9E18-9F72-5DEF26C3AEDF}"/>
              </a:ext>
            </a:extLst>
          </p:cNvPr>
          <p:cNvSpPr txBox="1"/>
          <p:nvPr/>
        </p:nvSpPr>
        <p:spPr>
          <a:xfrm>
            <a:off x="8506327" y="1877652"/>
            <a:ext cx="92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冰块仓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266245-ABF3-9120-BA64-781DC58279FD}"/>
              </a:ext>
            </a:extLst>
          </p:cNvPr>
          <p:cNvCxnSpPr/>
          <p:nvPr/>
        </p:nvCxnSpPr>
        <p:spPr>
          <a:xfrm>
            <a:off x="7579896" y="4343400"/>
            <a:ext cx="2767263" cy="0"/>
          </a:xfrm>
          <a:prstGeom prst="line">
            <a:avLst/>
          </a:prstGeom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83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600E0-2D81-C1BF-ED9D-6B4139DC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C2421-B4F5-5613-ADFC-998FA7EDC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412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6_TF12214701.potx" id="{11CCF850-A106-4C83-9778-04C2F532D32F}" vid="{0B8A0E20-82B4-435B-92AB-957BEAB0242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{F1D53A6F-CEF2-477C-B079-8629EE8C8A40}tf12214701_win32</Template>
  <TotalTime>253</TotalTime>
  <Words>588</Words>
  <Application>Microsoft Office PowerPoint</Application>
  <PresentationFormat>宽屏</PresentationFormat>
  <Paragraphs>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新宋体</vt:lpstr>
      <vt:lpstr>Calibri</vt:lpstr>
      <vt:lpstr>Wingdings 2</vt:lpstr>
      <vt:lpstr>SlateVTI</vt:lpstr>
      <vt:lpstr>自动冷萃咖啡机</vt:lpstr>
      <vt:lpstr>目录</vt:lpstr>
      <vt:lpstr>设计理念</vt:lpstr>
      <vt:lpstr>具体结构展示</vt:lpstr>
      <vt:lpstr>液体仓结构</vt:lpstr>
      <vt:lpstr>电器仓结构</vt:lpstr>
      <vt:lpstr>咖啡机原理</vt:lpstr>
      <vt:lpstr>咖啡机原理</vt:lpstr>
      <vt:lpstr>咖啡机原理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c0 ex</dc:creator>
  <cp:lastModifiedBy>煜暄 陈</cp:lastModifiedBy>
  <cp:revision>6</cp:revision>
  <dcterms:created xsi:type="dcterms:W3CDTF">2026-06-14T10:48:03Z</dcterms:created>
  <dcterms:modified xsi:type="dcterms:W3CDTF">2026-06-14T15:06:16Z</dcterms:modified>
</cp:coreProperties>
</file>