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tags/tag8.xml" ContentType="application/vnd.openxmlformats-officedocument.presentationml.tags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4.xml" ContentType="application/vnd.openxmlformats-officedocument.presentationml.tags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49.xml" ContentType="application/vnd.openxmlformats-officedocument.presentationml.tags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Layouts/slideLayout13.xml" ContentType="application/vnd.openxmlformats-officedocument.presentationml.slideLayout+xml"/>
  <Override PartName="/ppt/tags/tag38.xml" ContentType="application/vnd.openxmlformats-officedocument.presentationml.tags+xml"/>
  <Override PartName="/ppt/tags/tag56.xml" ContentType="application/vnd.openxmlformats-officedocument.presentationml.tags+xml"/>
  <Override PartName="/ppt/tags/tag67.xml" ContentType="application/vnd.openxmlformats-officedocument.presentationml.tags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tags/tag16.xml" ContentType="application/vnd.openxmlformats-officedocument.presentationml.tags+xml"/>
  <Override PartName="/ppt/tags/tag27.xml" ContentType="application/vnd.openxmlformats-officedocument.presentationml.tags+xml"/>
  <Override PartName="/ppt/tags/tag45.xml" ContentType="application/vnd.openxmlformats-officedocument.presentationml.tags+xml"/>
  <Override PartName="/ppt/tags/tag63.xml" ContentType="application/vnd.openxmlformats-officedocument.presentationml.tags+xml"/>
  <Override PartName="/docProps/custom.xml" ContentType="application/vnd.openxmlformats-officedocument.custom-properties+xml"/>
  <Override PartName="/ppt/tags/tag34.xml" ContentType="application/vnd.openxmlformats-officedocument.presentationml.tags+xml"/>
  <Override PartName="/ppt/tags/tag52.xml" ContentType="application/vnd.openxmlformats-officedocument.presentationml.tags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tags/tag41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tags/tag30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tags/tag7.xml" ContentType="application/vnd.openxmlformats-officedocument.presentationml.tags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5.xml" ContentType="application/vnd.openxmlformats-officedocument.presentationml.tags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3.xml" ContentType="application/vnd.openxmlformats-officedocument.presentationml.tags+xml"/>
  <Override PartName="/ppt/tags/tag39.xml" ContentType="application/vnd.openxmlformats-officedocument.presentationml.tags+xml"/>
  <Override PartName="/ppt/tags/tag59.xml" ContentType="application/vnd.openxmlformats-officedocument.presentationml.tags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9.xml" ContentType="application/vnd.openxmlformats-officedocument.presentationml.tags+xml"/>
  <Override PartName="/ppt/tags/tag28.xml" ContentType="application/vnd.openxmlformats-officedocument.presentationml.tags+xml"/>
  <Override PartName="/ppt/tags/tag37.xml" ContentType="application/vnd.openxmlformats-officedocument.presentationml.tags+xml"/>
  <Override PartName="/ppt/tags/tag48.xml" ContentType="application/vnd.openxmlformats-officedocument.presentationml.tags+xml"/>
  <Override PartName="/ppt/tags/tag57.xml" ContentType="application/vnd.openxmlformats-officedocument.presentationml.tags+xml"/>
  <Override PartName="/ppt/tags/tag66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tags/tag17.xml" ContentType="application/vnd.openxmlformats-officedocument.presentationml.tags+xml"/>
  <Override PartName="/ppt/tags/tag26.xml" ContentType="application/vnd.openxmlformats-officedocument.presentationml.tags+xml"/>
  <Override PartName="/ppt/tags/tag35.xml" ContentType="application/vnd.openxmlformats-officedocument.presentationml.tags+xml"/>
  <Override PartName="/ppt/tags/tag46.xml" ContentType="application/vnd.openxmlformats-officedocument.presentationml.tags+xml"/>
  <Override PartName="/ppt/tags/tag55.xml" ContentType="application/vnd.openxmlformats-officedocument.presentationml.tags+xml"/>
  <Override PartName="/ppt/tags/tag64.xml" ContentType="application/vnd.openxmlformats-officedocument.presentationml.tags+xml"/>
  <Override PartName="/ppt/slideLayouts/slideLayout10.xml" ContentType="application/vnd.openxmlformats-officedocument.presentationml.slideLayout+xml"/>
  <Override PartName="/ppt/tags/tag15.xml" ContentType="application/vnd.openxmlformats-officedocument.presentationml.tags+xml"/>
  <Override PartName="/ppt/tags/tag24.xml" ContentType="application/vnd.openxmlformats-officedocument.presentationml.tags+xml"/>
  <Override PartName="/ppt/tags/tag33.xml" ContentType="application/vnd.openxmlformats-officedocument.presentationml.tags+xml"/>
  <Override PartName="/ppt/tags/tag44.xml" ContentType="application/vnd.openxmlformats-officedocument.presentationml.tags+xml"/>
  <Override PartName="/ppt/tags/tag53.xml" ContentType="application/vnd.openxmlformats-officedocument.presentationml.tags+xml"/>
  <Override PartName="/ppt/tags/tag62.xml" ContentType="application/vnd.openxmlformats-officedocument.presentationml.tags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tags/tag31.xml" ContentType="application/vnd.openxmlformats-officedocument.presentationml.tags+xml"/>
  <Override PartName="/ppt/tags/tag40.xml" ContentType="application/vnd.openxmlformats-officedocument.presentationml.tags+xml"/>
  <Override PartName="/ppt/tags/tag42.xml" ContentType="application/vnd.openxmlformats-officedocument.presentationml.tags+xml"/>
  <Override PartName="/ppt/tags/tag51.xml" ContentType="application/vnd.openxmlformats-officedocument.presentationml.tags+xml"/>
  <Override PartName="/ppt/tags/tag60.xml" ContentType="application/vnd.openxmlformats-officedocument.presentationml.tags+xml"/>
  <Override PartName="/ppt/slides/slide8.xml" ContentType="application/vnd.openxmlformats-officedocument.presentationml.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58.xml" ContentType="application/vnd.openxmlformats-officedocument.presentationml.tags+xml"/>
  <Default Extension="rels" ContentType="application/vnd.openxmlformats-package.relationships+xml"/>
  <Override PartName="/ppt/slides/slide23.xml" ContentType="application/vnd.openxmlformats-officedocument.presentationml.slide+xml"/>
  <Override PartName="/ppt/tags/tag29.xml" ContentType="application/vnd.openxmlformats-officedocument.presentationml.tags+xml"/>
  <Override PartName="/ppt/tags/tag47.xml" ContentType="application/vnd.openxmlformats-officedocument.presentationml.tags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tags/tag18.xml" ContentType="application/vnd.openxmlformats-officedocument.presentationml.tags+xml"/>
  <Override PartName="/ppt/tags/tag36.xml" ContentType="application/vnd.openxmlformats-officedocument.presentationml.tags+xml"/>
  <Override PartName="/ppt/tags/tag54.xml" ContentType="application/vnd.openxmlformats-officedocument.presentationml.tags+xml"/>
  <Override PartName="/ppt/tags/tag65.xml" ContentType="application/vnd.openxmlformats-officedocument.presentationml.tags+xml"/>
  <Override PartName="/ppt/tags/tag14.xml" ContentType="application/vnd.openxmlformats-officedocument.presentationml.tags+xml"/>
  <Override PartName="/ppt/tags/tag25.xml" ContentType="application/vnd.openxmlformats-officedocument.presentationml.tags+xml"/>
  <Override PartName="/ppt/tags/tag43.xml" ContentType="application/vnd.openxmlformats-officedocument.presentationml.tags+xml"/>
  <Override PartName="/ppt/tags/tag61.xml" ContentType="application/vnd.openxmlformats-officedocument.presentationml.tags+xml"/>
  <Override PartName="/ppt/tags/tag32.xml" ContentType="application/vnd.openxmlformats-officedocument.presentationml.tags+xml"/>
  <Override PartName="/ppt/tags/tag5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7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9" r:id="rId30"/>
    <p:sldId id="290" r:id="rId31"/>
    <p:sldId id="291" r:id="rId32"/>
    <p:sldId id="287" r:id="rId33"/>
    <p:sldId id="288" r:id="rId34"/>
    <p:sldId id="286" r:id="rId35"/>
    <p:sldId id="285" r:id="rId36"/>
    <p:sldId id="284" r:id="rId37"/>
  </p:sldIdLst>
  <p:sldSz cx="9144000" cy="6858000" type="screen4x3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596" y="-84"/>
      </p:cViewPr>
      <p:guideLst>
        <p:guide orient="horz" pos="215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5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26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0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7" Type="http://schemas.openxmlformats.org/officeDocument/2006/relationships/image" Target="../media/image2.png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49.xml"/><Relationship Id="rId4" Type="http://schemas.openxmlformats.org/officeDocument/2006/relationships/tags" Target="../tags/tag48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3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4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9.xml"/><Relationship Id="rId4" Type="http://schemas.openxmlformats.org/officeDocument/2006/relationships/tags" Target="../tags/tag58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3" Type="http://schemas.openxmlformats.org/officeDocument/2006/relationships/tags" Target="../tags/tag62.xml"/><Relationship Id="rId7" Type="http://schemas.openxmlformats.org/officeDocument/2006/relationships/tags" Target="../tags/tag66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pattFill prst="openDmnd">
          <a:fgClr>
            <a:srgbClr val="D9D9D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rcRect r="6975"/>
          <a:stretch>
            <a:fillRect/>
          </a:stretch>
        </p:blipFill>
        <p:spPr>
          <a:xfrm>
            <a:off x="3917950" y="0"/>
            <a:ext cx="52260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0" y="3416064"/>
            <a:ext cx="4580165" cy="904863"/>
          </a:xfrm>
        </p:spPr>
        <p:txBody>
          <a:bodyPr wrap="square" anchor="b">
            <a:normAutofit/>
          </a:bodyPr>
          <a:lstStyle>
            <a:lvl1pPr algn="ctr">
              <a:defRPr sz="3300" b="1">
                <a:solidFill>
                  <a:schemeClr val="accent1"/>
                </a:solidFill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0" y="4413002"/>
            <a:ext cx="4580165" cy="535531"/>
          </a:xfrm>
        </p:spPr>
        <p:txBody>
          <a:bodyPr wrap="square">
            <a:normAutofit/>
          </a:bodyPr>
          <a:lstStyle>
            <a:lvl1pPr marL="0" indent="0" algn="ctr">
              <a:buNone/>
              <a:defRPr sz="1500">
                <a:solidFill>
                  <a:schemeClr val="accent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trike="noStrike" noProof="1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51331504-6814-4C6A-8266-9050E53F7B55}" type="datetimeFigureOut">
              <a:rPr lang="zh-CN" altLang="en-US" smtClean="0"/>
              <a:pPr/>
              <a:t>2023/12/1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7F888942-8CDE-4D6C-97F8-11E5807CE1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1504-6814-4C6A-8266-9050E53F7B55}" type="datetimeFigureOut">
              <a:rPr lang="zh-CN" altLang="en-US" smtClean="0"/>
              <a:pPr/>
              <a:t>2023/12/1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88942-8CDE-4D6C-97F8-11E5807CE1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pattFill prst="openDmnd">
          <a:fgClr>
            <a:srgbClr val="D9D9D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rcRect r="6975"/>
          <a:stretch>
            <a:fillRect/>
          </a:stretch>
        </p:blipFill>
        <p:spPr>
          <a:xfrm>
            <a:off x="3917950" y="0"/>
            <a:ext cx="52260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5725" y="2576192"/>
            <a:ext cx="4102553" cy="1202510"/>
          </a:xfrm>
        </p:spPr>
        <p:txBody>
          <a:bodyPr anchor="b">
            <a:normAutofit/>
          </a:bodyPr>
          <a:lstStyle>
            <a:lvl1pPr algn="ctr">
              <a:defRPr sz="3600" b="1"/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5725" y="3805690"/>
            <a:ext cx="4102553" cy="537712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51331504-6814-4C6A-8266-9050E53F7B55}" type="datetimeFigureOut">
              <a:rPr lang="zh-CN" altLang="en-US" smtClean="0"/>
              <a:pPr/>
              <a:t>2023/12/1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7F888942-8CDE-4D6C-97F8-11E5807CE1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1504-6814-4C6A-8266-9050E53F7B55}" type="datetimeFigureOut">
              <a:rPr lang="zh-CN" altLang="en-US" smtClean="0"/>
              <a:pPr/>
              <a:t>2023/12/1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88942-8CDE-4D6C-97F8-11E5807CE1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2256"/>
            <a:ext cx="78867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1504-6814-4C6A-8266-9050E53F7B55}" type="datetimeFigureOut">
              <a:rPr lang="zh-CN" altLang="en-US" smtClean="0"/>
              <a:pPr/>
              <a:t>2023/12/1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88942-8CDE-4D6C-97F8-11E5807CE1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bg>
      <p:bgPr>
        <a:pattFill prst="openDmnd">
          <a:fgClr>
            <a:srgbClr val="D9D9D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51331504-6814-4C6A-8266-9050E53F7B55}" type="datetimeFigureOut">
              <a:rPr lang="zh-CN" altLang="en-US" smtClean="0"/>
              <a:pPr/>
              <a:t>2023/12/1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fld id="{7F888942-8CDE-4D6C-97F8-11E5807CE1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1504-6814-4C6A-8266-9050E53F7B55}" type="datetimeFigureOut">
              <a:rPr lang="zh-CN" altLang="en-US" smtClean="0"/>
              <a:pPr/>
              <a:t>2023/12/1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88942-8CDE-4D6C-97F8-11E5807CE1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0" y="457200"/>
            <a:ext cx="3123900" cy="1600200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3888000" y="457200"/>
            <a:ext cx="4627800" cy="54036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auto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0" y="2057400"/>
            <a:ext cx="3123900" cy="381158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1504-6814-4C6A-8266-9050E53F7B55}" type="datetimeFigureOut">
              <a:rPr lang="zh-CN" altLang="en-US" smtClean="0"/>
              <a:pPr/>
              <a:t>2023/12/1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88942-8CDE-4D6C-97F8-11E5807CE1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710617" y="365125"/>
            <a:ext cx="804734" cy="5811838"/>
          </a:xfr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7007826" cy="5811838"/>
          </a:xfrm>
        </p:spPr>
        <p:txBody>
          <a:bodyPr vert="eaVert"/>
          <a:lstStyle>
            <a:lvl1pPr>
              <a:defRPr/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31504-6814-4C6A-8266-9050E53F7B55}" type="datetimeFigureOut">
              <a:rPr lang="zh-CN" altLang="en-US" smtClean="0"/>
              <a:pPr/>
              <a:t>2023/12/1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88942-8CDE-4D6C-97F8-11E5807CE1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3"/>
            <a:ext cx="78867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4C673B6C-4284-405C-963D-BB07F2087A0B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2023/12/1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9D00EC9D-7FD2-4C5C-AB54-92EC8DA70D1E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pattFill prst="openDmnd">
          <a:fgClr>
            <a:srgbClr val="D9D9D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9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rcRect r="6975"/>
          <a:stretch>
            <a:fillRect/>
          </a:stretch>
        </p:blipFill>
        <p:spPr>
          <a:xfrm>
            <a:off x="3917950" y="0"/>
            <a:ext cx="52260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800" y="3517200"/>
            <a:ext cx="4330800" cy="1324800"/>
          </a:xfrm>
        </p:spPr>
        <p:txBody>
          <a:bodyPr vert="horz" lIns="90000" tIns="38100" rIns="90000" bIns="381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20000"/>
              </a:lnSpc>
              <a:buNone/>
              <a:defRPr kumimoji="0" lang="zh-CN" altLang="en-US" sz="4050" b="1" i="0" u="none" strike="noStrike" kern="1200" cap="none" spc="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z="4050" strike="noStrike" noProof="1">
                <a:sym typeface="+mn-ea"/>
              </a:rPr>
              <a:t>单击此处编辑标题</a:t>
            </a:r>
            <a:endParaRPr strike="noStrike" noProof="1">
              <a:sym typeface="+mn-ea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286200" y="1677600"/>
            <a:ext cx="3915000" cy="1720800"/>
          </a:xfrm>
        </p:spPr>
        <p:txBody>
          <a:bodyPr anchor="b" anchorCtr="0">
            <a:normAutofit/>
          </a:bodyPr>
          <a:lstStyle>
            <a:lvl1pPr marL="0" indent="0" algn="ctr">
              <a:buNone/>
              <a:defRPr sz="6600">
                <a:solidFill>
                  <a:schemeClr val="accent1"/>
                </a:solidFill>
              </a:defRPr>
            </a:lvl1pPr>
            <a:lvl2pPr marL="342900" indent="0">
              <a:buNone/>
              <a:defRPr/>
            </a:lvl2pPr>
          </a:lstStyle>
          <a:p>
            <a:pPr lvl="0" fontAlgn="auto"/>
            <a:r>
              <a:rPr lang="zh-CN" altLang="en-US" strike="noStrike" noProof="1"/>
              <a:t>编辑文本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微软雅黑" panose="020B0503020204020204" charset="-122"/>
                <a:ea typeface="微软雅黑" panose="020B0503020204020204" charset="-122"/>
                <a:cs typeface="+mn-cs"/>
              </a:rPr>
              <a:pPr fontAlgn="auto"/>
              <a:t>2023/12/1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微软雅黑" panose="020B0503020204020204" charset="-122"/>
                <a:ea typeface="微软雅黑" panose="020B0503020204020204" charset="-122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rcRect r="6975"/>
          <a:stretch>
            <a:fillRect/>
          </a:stretch>
        </p:blipFill>
        <p:spPr>
          <a:xfrm flipH="1">
            <a:off x="0" y="0"/>
            <a:ext cx="522605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2023/12/1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219075" y="304800"/>
            <a:ext cx="870585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760" strike="noStrike" noProof="1"/>
          </a:p>
        </p:txBody>
      </p:sp>
      <p:grpSp>
        <p:nvGrpSpPr>
          <p:cNvPr id="7178" name="组合 5"/>
          <p:cNvGrpSpPr/>
          <p:nvPr/>
        </p:nvGrpSpPr>
        <p:grpSpPr>
          <a:xfrm>
            <a:off x="0" y="0"/>
            <a:ext cx="242888" cy="425450"/>
            <a:chOff x="-28353" y="1"/>
            <a:chExt cx="687388" cy="903286"/>
          </a:xfrm>
        </p:grpSpPr>
        <p:sp>
          <p:nvSpPr>
            <p:cNvPr id="9" name="等腰三角形 1"/>
            <p:cNvSpPr>
              <a:spLocks noChangeArrowheads="1"/>
            </p:cNvSpPr>
            <p:nvPr userDrawn="1">
              <p:custDataLst>
                <p:tags r:id="rId7"/>
              </p:custDataLst>
            </p:nvPr>
          </p:nvSpPr>
          <p:spPr bwMode="auto">
            <a:xfrm rot="5400000">
              <a:off x="-82719" y="54367"/>
              <a:ext cx="790680" cy="6819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10" name="等腰三角形 10"/>
            <p:cNvSpPr>
              <a:spLocks noChangeArrowheads="1"/>
            </p:cNvSpPr>
            <p:nvPr userDrawn="1">
              <p:custDataLst>
                <p:tags r:id="rId8"/>
              </p:custDataLst>
            </p:nvPr>
          </p:nvSpPr>
          <p:spPr bwMode="auto">
            <a:xfrm rot="5400000">
              <a:off x="83150" y="327403"/>
              <a:ext cx="618405" cy="53336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7181" name="组合 10"/>
          <p:cNvGrpSpPr/>
          <p:nvPr/>
        </p:nvGrpSpPr>
        <p:grpSpPr>
          <a:xfrm flipH="1" flipV="1">
            <a:off x="8901113" y="6432550"/>
            <a:ext cx="242887" cy="425450"/>
            <a:chOff x="-28353" y="1"/>
            <a:chExt cx="687388" cy="903286"/>
          </a:xfrm>
        </p:grpSpPr>
        <p:sp>
          <p:nvSpPr>
            <p:cNvPr id="12" name="等腰三角形 1"/>
            <p:cNvSpPr>
              <a:spLocks noChangeArrowheads="1"/>
            </p:cNvSpPr>
            <p:nvPr userDrawn="1">
              <p:custDataLst>
                <p:tags r:id="rId5"/>
              </p:custDataLst>
            </p:nvPr>
          </p:nvSpPr>
          <p:spPr bwMode="auto">
            <a:xfrm rot="5400000">
              <a:off x="-82719" y="54367"/>
              <a:ext cx="790680" cy="6819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等腰三角形 10"/>
            <p:cNvSpPr>
              <a:spLocks noChangeArrowheads="1"/>
            </p:cNvSpPr>
            <p:nvPr userDrawn="1">
              <p:custDataLst>
                <p:tags r:id="rId6"/>
              </p:custDataLst>
            </p:nvPr>
          </p:nvSpPr>
          <p:spPr bwMode="auto">
            <a:xfrm rot="5400000">
              <a:off x="83150" y="327403"/>
              <a:ext cx="618405" cy="53336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61200" y="1249200"/>
            <a:ext cx="7219800" cy="723600"/>
          </a:xfrm>
        </p:spPr>
        <p:txBody>
          <a:bodyPr anchor="ctr"/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960835" y="2163600"/>
            <a:ext cx="721995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2023/12/1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0"/>
            <a:ext cx="3617913" cy="68659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/>
            <a:endParaRPr lang="en-US" altLang="zh-CN" sz="760" strike="noStrike" noProof="1">
              <a:sym typeface="+mn-ea"/>
            </a:endParaRPr>
          </a:p>
        </p:txBody>
      </p:sp>
      <p:grpSp>
        <p:nvGrpSpPr>
          <p:cNvPr id="8202" name="组合 5"/>
          <p:cNvGrpSpPr/>
          <p:nvPr/>
        </p:nvGrpSpPr>
        <p:grpSpPr>
          <a:xfrm>
            <a:off x="0" y="922338"/>
            <a:ext cx="396875" cy="693737"/>
            <a:chOff x="100637" y="715919"/>
            <a:chExt cx="687388" cy="903286"/>
          </a:xfrm>
        </p:grpSpPr>
        <p:sp>
          <p:nvSpPr>
            <p:cNvPr id="10" name="等腰三角形 1"/>
            <p:cNvSpPr>
              <a:spLocks noChangeArrowheads="1"/>
            </p:cNvSpPr>
            <p:nvPr userDrawn="1">
              <p:custDataLst>
                <p:tags r:id="rId5"/>
              </p:custDataLst>
            </p:nvPr>
          </p:nvSpPr>
          <p:spPr bwMode="auto">
            <a:xfrm rot="5400000">
              <a:off x="46271" y="770285"/>
              <a:ext cx="790680" cy="68194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等腰三角形 10"/>
            <p:cNvSpPr>
              <a:spLocks noChangeArrowheads="1"/>
            </p:cNvSpPr>
            <p:nvPr userDrawn="1">
              <p:custDataLst>
                <p:tags r:id="rId6"/>
              </p:custDataLst>
            </p:nvPr>
          </p:nvSpPr>
          <p:spPr bwMode="auto">
            <a:xfrm rot="5400000">
              <a:off x="212140" y="1043321"/>
              <a:ext cx="618405" cy="533364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37400" y="770400"/>
            <a:ext cx="2970000" cy="882000"/>
          </a:xfrm>
        </p:spPr>
        <p:txBody>
          <a:bodyPr anchor="ctr"/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440100" y="1764000"/>
            <a:ext cx="29673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3825900" y="769938"/>
            <a:ext cx="486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2023/12/1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/>
            <a:endParaRPr lang="en-US" altLang="zh-CN" sz="760" strike="noStrike" noProof="1">
              <a:sym typeface="+mn-ea"/>
            </a:endParaRPr>
          </a:p>
        </p:txBody>
      </p:sp>
      <p:pic>
        <p:nvPicPr>
          <p:cNvPr id="9226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rcRect r="6975"/>
          <a:stretch>
            <a:fillRect/>
          </a:stretch>
        </p:blipFill>
        <p:spPr>
          <a:xfrm flipH="1">
            <a:off x="0" y="0"/>
            <a:ext cx="2030413" cy="2663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9000" y="781200"/>
            <a:ext cx="8232300" cy="626400"/>
          </a:xfrm>
        </p:spPr>
        <p:txBody>
          <a:bodyPr anchor="ctr"/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459000" y="1659600"/>
            <a:ext cx="8231981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459581" y="2808000"/>
            <a:ext cx="82242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2023/12/1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0" y="5029200"/>
            <a:ext cx="9144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/>
            <a:endParaRPr lang="en-US" altLang="zh-CN" sz="760" strike="noStrike" noProof="1">
              <a:sym typeface="+mn-ea"/>
            </a:endParaRPr>
          </a:p>
        </p:txBody>
      </p:sp>
      <p:pic>
        <p:nvPicPr>
          <p:cNvPr id="10250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rcRect r="6975"/>
          <a:stretch>
            <a:fillRect/>
          </a:stretch>
        </p:blipFill>
        <p:spPr>
          <a:xfrm>
            <a:off x="7745413" y="5029200"/>
            <a:ext cx="1397000" cy="18335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600" y="669600"/>
            <a:ext cx="8232300" cy="565200"/>
          </a:xfrm>
        </p:spPr>
        <p:txBody>
          <a:bodyPr anchor="ctr"/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53628" y="1681200"/>
            <a:ext cx="82431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45500" y="5180400"/>
            <a:ext cx="82512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2023/12/1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/>
            <a:endParaRPr lang="en-US" altLang="zh-CN" sz="760" strike="noStrike" noProof="1">
              <a:sym typeface="+mn-ea"/>
            </a:endParaRPr>
          </a:p>
        </p:txBody>
      </p:sp>
      <p:pic>
        <p:nvPicPr>
          <p:cNvPr id="11274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/>
          <a:srcRect r="6975"/>
          <a:stretch>
            <a:fillRect/>
          </a:stretch>
        </p:blipFill>
        <p:spPr>
          <a:xfrm>
            <a:off x="8450263" y="-9525"/>
            <a:ext cx="693737" cy="911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4700" y="237600"/>
            <a:ext cx="82782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34700" y="1663200"/>
            <a:ext cx="40068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4681800" y="1663200"/>
            <a:ext cx="40257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429300" y="4816800"/>
            <a:ext cx="40068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4689900" y="4813200"/>
            <a:ext cx="40257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2023/12/1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0" y="958850"/>
            <a:ext cx="9144000" cy="49403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auto"/>
            <a:endParaRPr lang="en-US" altLang="zh-CN" sz="760" strike="noStrike" noProof="1">
              <a:sym typeface="+mn-ea"/>
            </a:endParaRPr>
          </a:p>
        </p:txBody>
      </p:sp>
      <p:grpSp>
        <p:nvGrpSpPr>
          <p:cNvPr id="12298" name="组合 5"/>
          <p:cNvGrpSpPr/>
          <p:nvPr/>
        </p:nvGrpSpPr>
        <p:grpSpPr>
          <a:xfrm>
            <a:off x="0" y="73025"/>
            <a:ext cx="465138" cy="857250"/>
            <a:chOff x="1503363" y="2020888"/>
            <a:chExt cx="1557337" cy="2152650"/>
          </a:xfrm>
        </p:grpSpPr>
        <p:sp>
          <p:nvSpPr>
            <p:cNvPr id="11" name="等腰三角形 12"/>
            <p:cNvSpPr>
              <a:spLocks noChangeArrowheads="1"/>
            </p:cNvSpPr>
            <p:nvPr userDrawn="1">
              <p:custDataLst>
                <p:tags r:id="rId7"/>
              </p:custDataLst>
            </p:nvPr>
          </p:nvSpPr>
          <p:spPr bwMode="auto">
            <a:xfrm rot="5400000" flipH="1">
              <a:off x="1219201" y="2305050"/>
              <a:ext cx="2017712" cy="1449387"/>
            </a:xfrm>
            <a:prstGeom prst="triangle">
              <a:avLst>
                <a:gd name="adj" fmla="val 50000"/>
              </a:avLst>
            </a:prstGeom>
            <a:noFill/>
            <a:ln w="12700" cmpd="sng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等腰三角形 13"/>
            <p:cNvSpPr>
              <a:spLocks noChangeArrowheads="1"/>
            </p:cNvSpPr>
            <p:nvPr userDrawn="1">
              <p:custDataLst>
                <p:tags r:id="rId8"/>
              </p:custDataLst>
            </p:nvPr>
          </p:nvSpPr>
          <p:spPr bwMode="auto">
            <a:xfrm rot="5400000" flipH="1">
              <a:off x="2039938" y="3152775"/>
              <a:ext cx="1187450" cy="854075"/>
            </a:xfrm>
            <a:prstGeom prst="triangle">
              <a:avLst>
                <a:gd name="adj" fmla="val 50000"/>
              </a:avLst>
            </a:prstGeom>
            <a:noFill/>
            <a:ln w="12700" cmpd="sng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2301" name="组合 12"/>
          <p:cNvGrpSpPr/>
          <p:nvPr/>
        </p:nvGrpSpPr>
        <p:grpSpPr>
          <a:xfrm flipH="1">
            <a:off x="8678863" y="6002338"/>
            <a:ext cx="465137" cy="855662"/>
            <a:chOff x="1503363" y="2020888"/>
            <a:chExt cx="1557337" cy="2152650"/>
          </a:xfrm>
        </p:grpSpPr>
        <p:sp>
          <p:nvSpPr>
            <p:cNvPr id="14" name="等腰三角形 12"/>
            <p:cNvSpPr>
              <a:spLocks noChangeArrowheads="1"/>
            </p:cNvSpPr>
            <p:nvPr userDrawn="1">
              <p:custDataLst>
                <p:tags r:id="rId5"/>
              </p:custDataLst>
            </p:nvPr>
          </p:nvSpPr>
          <p:spPr bwMode="auto">
            <a:xfrm rot="5400000" flipH="1">
              <a:off x="1219201" y="2305050"/>
              <a:ext cx="2017712" cy="1449387"/>
            </a:xfrm>
            <a:prstGeom prst="triangle">
              <a:avLst>
                <a:gd name="adj" fmla="val 50000"/>
              </a:avLst>
            </a:prstGeom>
            <a:noFill/>
            <a:ln w="12700" cmpd="sng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等腰三角形 13"/>
            <p:cNvSpPr>
              <a:spLocks noChangeArrowheads="1"/>
            </p:cNvSpPr>
            <p:nvPr userDrawn="1">
              <p:custDataLst>
                <p:tags r:id="rId6"/>
              </p:custDataLst>
            </p:nvPr>
          </p:nvSpPr>
          <p:spPr bwMode="auto">
            <a:xfrm rot="5400000" flipH="1">
              <a:off x="2039938" y="3152775"/>
              <a:ext cx="1187450" cy="854075"/>
            </a:xfrm>
            <a:prstGeom prst="triangle">
              <a:avLst>
                <a:gd name="adj" fmla="val 50000"/>
              </a:avLst>
            </a:prstGeom>
            <a:noFill/>
            <a:ln w="12700" cmpd="sng">
              <a:solidFill>
                <a:schemeClr val="accent1">
                  <a:lumMod val="60000"/>
                  <a:lumOff val="40000"/>
                </a:schemeClr>
              </a:solidFill>
              <a:miter lim="800000"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charset="0"/>
                  <a:ea typeface="微软雅黑" panose="020B0503020204020204" charset="-122"/>
                </a:defRPr>
              </a:lvl9pPr>
            </a:lstStyle>
            <a:p>
              <a:pPr algn="ctr" eaLnBrk="1" fontAlgn="auto" hangingPunct="1"/>
              <a:endParaRPr lang="zh-CN" altLang="en-US" sz="760" strike="noStrike" noProof="1">
                <a:solidFill>
                  <a:srgbClr val="FFFFFF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42100" y="1339200"/>
            <a:ext cx="6858000" cy="2386800"/>
          </a:xfrm>
        </p:spPr>
        <p:txBody>
          <a:bodyPr anchor="b"/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41810" y="3862800"/>
            <a:ext cx="6858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2023/12/1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+mn-ea"/>
                <a:ea typeface="+mn-ea"/>
                <a:cs typeface="+mn-cs"/>
              </a:rPr>
              <a:pPr fontAlgn="auto"/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29" Type="http://schemas.openxmlformats.org/officeDocument/2006/relationships/tags" Target="../tags/tag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28" Type="http://schemas.openxmlformats.org/officeDocument/2006/relationships/tags" Target="../tags/tag10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Relationship Id="rId27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openDmnd">
          <a:fgClr>
            <a:srgbClr val="D9D9D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3"/>
          <p:cNvGrpSpPr/>
          <p:nvPr/>
        </p:nvGrpSpPr>
        <p:grpSpPr>
          <a:xfrm flipH="1">
            <a:off x="8386763" y="0"/>
            <a:ext cx="757237" cy="1009650"/>
            <a:chOff x="0" y="0"/>
            <a:chExt cx="3600450" cy="3600450"/>
          </a:xfrm>
        </p:grpSpPr>
        <p:sp>
          <p:nvSpPr>
            <p:cNvPr id="8" name="直角三角形 7"/>
            <p:cNvSpPr/>
            <p:nvPr>
              <p:custDataLst>
                <p:tags r:id="rId28"/>
              </p:custDataLst>
            </p:nvPr>
          </p:nvSpPr>
          <p:spPr>
            <a:xfrm rot="5400000">
              <a:off x="0" y="0"/>
              <a:ext cx="3600450" cy="3600450"/>
            </a:xfrm>
            <a:prstGeom prst="rtTriangle">
              <a:avLst/>
            </a:prstGeom>
            <a:solidFill>
              <a:schemeClr val="accent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760" strike="noStrike" noProof="1"/>
            </a:p>
          </p:txBody>
        </p:sp>
        <p:sp>
          <p:nvSpPr>
            <p:cNvPr id="9" name="直角三角形 8"/>
            <p:cNvSpPr/>
            <p:nvPr>
              <p:custDataLst>
                <p:tags r:id="rId29"/>
              </p:custDataLst>
            </p:nvPr>
          </p:nvSpPr>
          <p:spPr>
            <a:xfrm rot="5400000">
              <a:off x="-4" y="1"/>
              <a:ext cx="2972071" cy="2972068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760" strike="noStrike" noProof="1"/>
            </a:p>
          </p:txBody>
        </p:sp>
      </p:grpSp>
      <p:grpSp>
        <p:nvGrpSpPr>
          <p:cNvPr id="1029" name="组合 14"/>
          <p:cNvGrpSpPr/>
          <p:nvPr/>
        </p:nvGrpSpPr>
        <p:grpSpPr>
          <a:xfrm flipV="1">
            <a:off x="0" y="5829300"/>
            <a:ext cx="771525" cy="1028700"/>
            <a:chOff x="0" y="0"/>
            <a:chExt cx="3600450" cy="3600450"/>
          </a:xfrm>
        </p:grpSpPr>
        <p:sp>
          <p:nvSpPr>
            <p:cNvPr id="11" name="直角三角形 10"/>
            <p:cNvSpPr/>
            <p:nvPr>
              <p:custDataLst>
                <p:tags r:id="rId26"/>
              </p:custDataLst>
            </p:nvPr>
          </p:nvSpPr>
          <p:spPr>
            <a:xfrm rot="5400000">
              <a:off x="0" y="0"/>
              <a:ext cx="3600450" cy="3600450"/>
            </a:xfrm>
            <a:prstGeom prst="rtTriangle">
              <a:avLst/>
            </a:prstGeom>
            <a:solidFill>
              <a:schemeClr val="accent2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760" strike="noStrike" noProof="1"/>
            </a:p>
          </p:txBody>
        </p:sp>
        <p:sp>
          <p:nvSpPr>
            <p:cNvPr id="12" name="直角三角形 11"/>
            <p:cNvSpPr/>
            <p:nvPr>
              <p:custDataLst>
                <p:tags r:id="rId27"/>
              </p:custDataLst>
            </p:nvPr>
          </p:nvSpPr>
          <p:spPr>
            <a:xfrm rot="5400000">
              <a:off x="4" y="0"/>
              <a:ext cx="2972592" cy="2972596"/>
            </a:xfrm>
            <a:prstGeom prst="rtTriangl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lang="zh-CN" altLang="en-US" sz="760" strike="noStrike" noProof="1"/>
            </a:p>
          </p:txBody>
        </p:sp>
      </p:grpSp>
      <p:sp>
        <p:nvSpPr>
          <p:cNvPr id="103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z="1350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z="1350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z="135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51331504-6814-4C6A-8266-9050E53F7B55}" type="datetimeFigureOut">
              <a:rPr lang="zh-CN" altLang="en-US" smtClean="0"/>
              <a:pPr/>
              <a:t>2023/12/1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lnSpc>
                <a:spcPct val="120000"/>
              </a:lnSpc>
              <a:defRPr sz="9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fld id="{7F888942-8CDE-4D6C-97F8-11E5807CE1AF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3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z="76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l" defTabSz="685800" rtl="0" eaLnBrk="1" latinLnBrk="0" hangingPunct="1">
        <a:lnSpc>
          <a:spcPct val="12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0" y="3416300"/>
            <a:ext cx="4821555" cy="904875"/>
          </a:xfrm>
        </p:spPr>
        <p:txBody>
          <a:bodyPr>
            <a:noAutofit/>
          </a:bodyPr>
          <a:lstStyle/>
          <a:p>
            <a:r>
              <a:rPr lang="zh-CN" altLang="en-US" sz="4400" b="1" dirty="0" smtClean="0"/>
              <a:t>机械设计</a:t>
            </a:r>
            <a:br>
              <a:rPr lang="zh-CN" altLang="en-US" sz="4400" b="1" dirty="0" smtClean="0"/>
            </a:br>
            <a:r>
              <a:rPr lang="zh-CN" altLang="en-US" sz="4400" b="1" dirty="0" smtClean="0"/>
              <a:t>课程设计辅导</a:t>
            </a:r>
            <a:br>
              <a:rPr lang="zh-CN" altLang="en-US" sz="4400" b="1" dirty="0" smtClean="0"/>
            </a:br>
            <a:r>
              <a:rPr lang="zh-CN" altLang="en-US" sz="3200" b="1" dirty="0" smtClean="0"/>
              <a:t> 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张海运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1</a:t>
            </a:r>
            <a:r>
              <a:rPr lang="zh-CN" altLang="en-US" sz="3600" b="1" dirty="0"/>
              <a:t>、机械设计制造及其</a:t>
            </a:r>
            <a:r>
              <a:rPr lang="zh-CN" altLang="en-US" sz="3600" b="1" dirty="0" smtClean="0"/>
              <a:t>自动化专业要求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机械设计制造</a:t>
            </a:r>
            <a:r>
              <a:rPr lang="en-US" sz="2400" dirty="0"/>
              <a:t>=</a:t>
            </a:r>
            <a:r>
              <a:rPr lang="zh-CN" altLang="en-US" sz="2400" dirty="0"/>
              <a:t>机械设计</a:t>
            </a:r>
            <a:r>
              <a:rPr lang="en-US" sz="2400" dirty="0"/>
              <a:t>+</a:t>
            </a:r>
            <a:r>
              <a:rPr lang="zh-CN" altLang="en-US" sz="2400" dirty="0"/>
              <a:t>机械制造</a:t>
            </a:r>
          </a:p>
          <a:p>
            <a:r>
              <a:rPr lang="zh-CN" altLang="en-US" sz="2400" dirty="0"/>
              <a:t>机械设计：机械产品设计、机械机构（结构）设计</a:t>
            </a:r>
          </a:p>
          <a:p>
            <a:r>
              <a:rPr lang="zh-CN" altLang="en-US" sz="2400" dirty="0"/>
              <a:t>机械制造：制造</a:t>
            </a:r>
            <a:r>
              <a:rPr lang="en-US" sz="2400" dirty="0"/>
              <a:t>=</a:t>
            </a:r>
            <a:r>
              <a:rPr lang="zh-CN" altLang="en-US" sz="2400" dirty="0"/>
              <a:t>加工</a:t>
            </a:r>
            <a:r>
              <a:rPr lang="en-US" sz="2400" dirty="0"/>
              <a:t>+</a:t>
            </a:r>
            <a:r>
              <a:rPr lang="zh-CN" altLang="en-US" sz="2400" dirty="0"/>
              <a:t>装配而成为产品或成品</a:t>
            </a:r>
          </a:p>
          <a:p>
            <a:r>
              <a:rPr lang="zh-CN" altLang="en-US" sz="2400" dirty="0"/>
              <a:t>自动化</a:t>
            </a:r>
            <a:r>
              <a:rPr lang="en-US" sz="2400" dirty="0"/>
              <a:t>=</a:t>
            </a:r>
            <a:r>
              <a:rPr lang="zh-CN" altLang="en-US" sz="2400" dirty="0"/>
              <a:t>机械</a:t>
            </a:r>
            <a:r>
              <a:rPr lang="en-US" sz="2400" dirty="0"/>
              <a:t>+</a:t>
            </a:r>
            <a:r>
              <a:rPr lang="zh-CN" altLang="en-US" sz="2400" dirty="0"/>
              <a:t>电气控制（控制方式：继电器接触器控制、</a:t>
            </a:r>
            <a:r>
              <a:rPr lang="en-US" sz="2400" dirty="0"/>
              <a:t>PLC</a:t>
            </a:r>
            <a:r>
              <a:rPr lang="zh-CN" altLang="en-US" sz="2400" dirty="0"/>
              <a:t>控制、微机控制、工控机控制</a:t>
            </a:r>
            <a:r>
              <a:rPr lang="zh-CN" altLang="en-US" sz="2400" dirty="0" smtClean="0"/>
              <a:t>）（内容：系统设计与编程）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ym typeface="+mn-ea"/>
              </a:rPr>
              <a:t>1</a:t>
            </a:r>
            <a:r>
              <a:rPr lang="zh-CN" altLang="en-US" sz="3600" b="1" dirty="0">
                <a:sym typeface="+mn-ea"/>
              </a:rPr>
              <a:t>、机械设计制造及其</a:t>
            </a:r>
            <a:r>
              <a:rPr lang="zh-CN" altLang="en-US" sz="3600" b="1" dirty="0" smtClean="0">
                <a:sym typeface="+mn-ea"/>
              </a:rPr>
              <a:t>自动化专业要求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400" dirty="0"/>
              <a:t>机械设计要求：满足使用要求（使用场合、强度、刚度、可靠性、使用的经济性等）、产品制造的可能性和经济性（工艺性）</a:t>
            </a:r>
          </a:p>
          <a:p>
            <a:r>
              <a:rPr lang="zh-CN" altLang="en-US" sz="2400" dirty="0"/>
              <a:t>机械制造要求：能方便、经济、可靠地制造出来。涉及具体的制造方法和制造技术、达到产品所需要的精度要求。</a:t>
            </a:r>
          </a:p>
          <a:p>
            <a:r>
              <a:rPr lang="zh-CN" altLang="en-US" sz="2400" dirty="0"/>
              <a:t>所学知识都是非常有用的，要学会将所学知识应用的工程实际（理论指导实际、用于实践）、解决工程实际问题。切不可将理论学习与实际应用分离，这种学习是失败的。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2</a:t>
            </a:r>
            <a:r>
              <a:rPr lang="zh-CN" altLang="en-US" sz="3600" b="1" dirty="0"/>
              <a:t>、实践环节</a:t>
            </a:r>
            <a:r>
              <a:rPr lang="zh-CN" altLang="en-US" sz="3600" b="1" dirty="0" smtClean="0"/>
              <a:t>目标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1</a:t>
            </a:r>
            <a:r>
              <a:rPr lang="zh-CN" altLang="en-US" sz="2400" dirty="0"/>
              <a:t>）机械设计课程设计：核心内容是减速器设计。要求是掌握零部件的设计过程。零件结构要素和强度、性能方面满足使用要求，消化和巩固机械原理和机械设计的理论知识，增强应用能力。</a:t>
            </a:r>
          </a:p>
          <a:p>
            <a:pPr marL="0" indent="0">
              <a:buNone/>
            </a:pPr>
            <a:r>
              <a:rPr lang="en-US" sz="2400" dirty="0"/>
              <a:t>2</a:t>
            </a:r>
            <a:r>
              <a:rPr lang="zh-CN" altLang="en-US" sz="2400" dirty="0"/>
              <a:t>）机械制造课程设计：核心是机械零件的加工技术问题。掌握零件的加工工艺过程的组织安排，</a:t>
            </a:r>
            <a:r>
              <a:rPr lang="zh-CN" altLang="en-US" sz="2400" dirty="0" smtClean="0"/>
              <a:t>方便、经济</a:t>
            </a:r>
            <a:r>
              <a:rPr lang="zh-CN" altLang="en-US" sz="2400" dirty="0"/>
              <a:t>地达到零件图的要求；有一定的加工装备的设计能力，重点是消化巩固机床、刀具、夹具和加工工艺的应用能力。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3</a:t>
            </a:r>
            <a:r>
              <a:rPr lang="zh-CN" altLang="en-US" sz="3600" b="1" dirty="0"/>
              <a:t>、</a:t>
            </a:r>
            <a:r>
              <a:rPr lang="zh-CN" altLang="en-US" sz="3600" b="1" dirty="0" smtClean="0"/>
              <a:t>机械</a:t>
            </a:r>
            <a:r>
              <a:rPr lang="zh-CN" altLang="en-US" sz="3600" b="1" dirty="0"/>
              <a:t>设计课程设计</a:t>
            </a:r>
            <a:r>
              <a:rPr lang="zh-CN" altLang="en-US" sz="3600" b="1" dirty="0" smtClean="0"/>
              <a:t>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时间：</a:t>
            </a:r>
            <a:r>
              <a:rPr lang="en-US" sz="2800" dirty="0"/>
              <a:t>3</a:t>
            </a:r>
            <a:r>
              <a:rPr lang="zh-CN" altLang="en-US" sz="2800" dirty="0"/>
              <a:t>周</a:t>
            </a:r>
          </a:p>
          <a:p>
            <a:r>
              <a:rPr lang="zh-CN" altLang="en-US" sz="2800" dirty="0"/>
              <a:t>内容</a:t>
            </a:r>
            <a:r>
              <a:rPr lang="zh-CN" altLang="en-US" sz="2800" dirty="0" smtClean="0"/>
              <a:t>：完成</a:t>
            </a:r>
            <a:r>
              <a:rPr lang="zh-CN" altLang="en-US" sz="2800" dirty="0"/>
              <a:t>一个两级减速器的全部零部件设计；</a:t>
            </a:r>
          </a:p>
          <a:p>
            <a:r>
              <a:rPr lang="zh-CN" altLang="en-US" sz="2800" dirty="0"/>
              <a:t>安排：</a:t>
            </a:r>
          </a:p>
          <a:p>
            <a:pPr lvl="1"/>
            <a:r>
              <a:rPr lang="zh-CN" altLang="en-US" sz="2400" dirty="0"/>
              <a:t>第</a:t>
            </a:r>
            <a:r>
              <a:rPr lang="en-US" sz="2400" dirty="0"/>
              <a:t>1</a:t>
            </a:r>
            <a:r>
              <a:rPr lang="zh-CN" altLang="en-US" sz="2400" dirty="0"/>
              <a:t>周：齿轮、轴尺寸估算与草图设计</a:t>
            </a:r>
          </a:p>
          <a:p>
            <a:pPr lvl="1"/>
            <a:r>
              <a:rPr lang="zh-CN" altLang="en-US" sz="2400" dirty="0" smtClean="0"/>
              <a:t>第</a:t>
            </a:r>
            <a:r>
              <a:rPr lang="en-US" sz="2400" dirty="0" smtClean="0"/>
              <a:t>2</a:t>
            </a:r>
            <a:r>
              <a:rPr lang="zh-CN" altLang="en-US" sz="2400" dirty="0"/>
              <a:t>周：零件强度、寿命等的计算和校核，装配图、零件图绘制；</a:t>
            </a:r>
          </a:p>
          <a:p>
            <a:pPr lvl="1"/>
            <a:r>
              <a:rPr lang="zh-CN" altLang="en-US" sz="2400" dirty="0"/>
              <a:t>第</a:t>
            </a:r>
            <a:r>
              <a:rPr lang="en-US" sz="2400" dirty="0"/>
              <a:t>3</a:t>
            </a:r>
            <a:r>
              <a:rPr lang="zh-CN" altLang="en-US" sz="2400" dirty="0"/>
              <a:t>周：说明书整理、图纸审校，答辩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z="3600" b="1" dirty="0" smtClean="0"/>
              <a:t>设计分组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zh-CN" altLang="en-US" sz="2400" dirty="0" smtClean="0"/>
              <a:t>分析：共同</a:t>
            </a:r>
            <a:r>
              <a:rPr lang="zh-CN" altLang="en-US" sz="2400" dirty="0"/>
              <a:t>讨论技术方案和具体结构，相互补充和促进完善，各写各的设计计算书、绘制各自的图纸；</a:t>
            </a:r>
          </a:p>
          <a:p>
            <a:pPr lvl="0"/>
            <a:r>
              <a:rPr lang="zh-CN" altLang="en-US" sz="2400" dirty="0" smtClean="0"/>
              <a:t>设计：高速</a:t>
            </a:r>
            <a:r>
              <a:rPr lang="zh-CN" altLang="en-US" sz="2400" dirty="0"/>
              <a:t>级传动，设计相关的齿轮、轴、轴承、键、联轴器、</a:t>
            </a:r>
            <a:r>
              <a:rPr lang="zh-CN" altLang="en-US" sz="2400" dirty="0" smtClean="0"/>
              <a:t>箱体、（高速轴和大齿轮）；设计低速级，</a:t>
            </a:r>
            <a:r>
              <a:rPr lang="zh-CN" altLang="en-US" sz="2400" dirty="0"/>
              <a:t>设计相关的齿轮、轴、轴承、键、联轴器、</a:t>
            </a:r>
            <a:r>
              <a:rPr lang="zh-CN" altLang="en-US" sz="2400" dirty="0" smtClean="0"/>
              <a:t>箱盖、润滑系统、（中间轴和大齿轮） ；</a:t>
            </a:r>
            <a:endParaRPr lang="zh-CN" altLang="en-US" sz="2400" dirty="0"/>
          </a:p>
          <a:p>
            <a:pPr lvl="0"/>
            <a:r>
              <a:rPr lang="zh-CN" altLang="en-US" sz="2400" dirty="0"/>
              <a:t>选题：从题目</a:t>
            </a:r>
            <a:r>
              <a:rPr lang="en-US" altLang="zh-CN" sz="2400" dirty="0"/>
              <a:t>Ⅰ</a:t>
            </a:r>
            <a:r>
              <a:rPr lang="zh-CN" altLang="en-US" sz="2400" dirty="0"/>
              <a:t>、</a:t>
            </a:r>
            <a:r>
              <a:rPr lang="en-US" altLang="zh-CN" sz="2400" dirty="0"/>
              <a:t>Ⅱ</a:t>
            </a:r>
            <a:r>
              <a:rPr lang="zh-CN" altLang="en-US" sz="2400" dirty="0"/>
              <a:t>、（</a:t>
            </a:r>
            <a:r>
              <a:rPr lang="en-US" altLang="zh-CN" sz="2400" dirty="0"/>
              <a:t>Ⅲ</a:t>
            </a:r>
            <a:r>
              <a:rPr lang="zh-CN" altLang="en-US" sz="2400" dirty="0"/>
              <a:t>）中选</a:t>
            </a:r>
            <a:r>
              <a:rPr lang="en-US" sz="2400" dirty="0"/>
              <a:t>1</a:t>
            </a:r>
            <a:r>
              <a:rPr lang="zh-CN" altLang="en-US" sz="2400" dirty="0"/>
              <a:t>题，参数为其表格提供数据，结构建议选封闭式二级齿轮（直齿轮）减速器（主要是从课堂教学时数少所学机械设计知识内容不全面考虑，独立工作影响整体进度）。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z="3600" b="1" dirty="0"/>
              <a:t>设计</a:t>
            </a:r>
            <a:r>
              <a:rPr lang="zh-CN" altLang="en-US" sz="3600" b="1" dirty="0" smtClean="0"/>
              <a:t>依据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800" dirty="0"/>
              <a:t>1</a:t>
            </a:r>
            <a:r>
              <a:rPr lang="zh-CN" altLang="en-US" sz="2800" dirty="0"/>
              <a:t>）解决工程实际问题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/>
              <a:t>任何情况下的设计依据都是根据生产现场的作业要求作为设计依据，通常所谓负载。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/>
              <a:t>负载的表达形式：力、力矩、功率，速度（转速）、加速度、位移（行程）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/>
              <a:t>参数关系：功率</a:t>
            </a:r>
            <a:r>
              <a:rPr lang="en-US" sz="2400" dirty="0"/>
              <a:t>=</a:t>
            </a:r>
            <a:r>
              <a:rPr lang="zh-CN" altLang="en-US" sz="2400" dirty="0"/>
              <a:t>力矩</a:t>
            </a:r>
            <a:r>
              <a:rPr lang="en-US" sz="2400" dirty="0"/>
              <a:t>×</a:t>
            </a:r>
            <a:r>
              <a:rPr lang="zh-CN" altLang="en-US" sz="2400" dirty="0"/>
              <a:t>角速度</a:t>
            </a:r>
            <a:r>
              <a:rPr lang="en-US" sz="2400" dirty="0"/>
              <a:t>=</a:t>
            </a:r>
            <a:r>
              <a:rPr lang="zh-CN" altLang="en-US" sz="2400" dirty="0"/>
              <a:t>力</a:t>
            </a:r>
            <a:r>
              <a:rPr lang="en-US" sz="2400" dirty="0"/>
              <a:t>×</a:t>
            </a:r>
            <a:r>
              <a:rPr lang="zh-CN" altLang="en-US" sz="2400" dirty="0"/>
              <a:t>力臂</a:t>
            </a:r>
            <a:r>
              <a:rPr lang="en-US" sz="2400" dirty="0"/>
              <a:t>×</a:t>
            </a:r>
            <a:r>
              <a:rPr lang="zh-CN" altLang="en-US" sz="2400" dirty="0"/>
              <a:t>角速度</a:t>
            </a:r>
            <a:r>
              <a:rPr lang="en-US" sz="2400" dirty="0"/>
              <a:t>=</a:t>
            </a:r>
            <a:r>
              <a:rPr lang="zh-CN" altLang="en-US" sz="2400" dirty="0"/>
              <a:t>力</a:t>
            </a:r>
            <a:r>
              <a:rPr lang="en-US" sz="2400" dirty="0"/>
              <a:t>×</a:t>
            </a:r>
            <a:r>
              <a:rPr lang="zh-CN" altLang="en-US" sz="2400" dirty="0"/>
              <a:t>线速度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/>
              <a:t>在转动运动中，应用较多的是力矩（转矩），力臂往往通过传动件的直径获得；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/>
              <a:t>处理好相互关系及角速度与转速关系。</a:t>
            </a:r>
          </a:p>
          <a:p>
            <a:pPr>
              <a:spcBef>
                <a:spcPts val="0"/>
              </a:spcBef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z="3600" b="1" dirty="0"/>
              <a:t>设计</a:t>
            </a:r>
            <a:r>
              <a:rPr lang="zh-CN" altLang="en-US" sz="3600" b="1" dirty="0" smtClean="0"/>
              <a:t>依据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2800" dirty="0"/>
              <a:t>2</a:t>
            </a:r>
            <a:r>
              <a:rPr lang="zh-CN" altLang="en-US" sz="2800" dirty="0"/>
              <a:t>）系列化、规格化设计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/>
              <a:t>对于通用产品，使用量大，为方便下游企业设计时选择使用（而不必再从头开始设计、减小设计工作量和生产成本），往往不是从负载出发设计，相反从功率和输出作为依据，方便客户选择使用。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/>
              <a:t>如减速器：功率（扭矩）、速比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/>
              <a:t>发动机：功率（额定功率、最大功率、有效功率）、排量、最大扭矩等。不同汽车企业可选择使用。</a:t>
            </a:r>
          </a:p>
          <a:p>
            <a:pPr lvl="1">
              <a:spcBef>
                <a:spcPts val="0"/>
              </a:spcBef>
            </a:pPr>
            <a:r>
              <a:rPr lang="zh-CN" altLang="en-US" sz="2400" dirty="0"/>
              <a:t>电动机：功率、额定转速、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z="3600" b="1" dirty="0"/>
              <a:t>概念</a:t>
            </a:r>
            <a:r>
              <a:rPr lang="zh-CN" altLang="en-US" sz="3600" b="1" dirty="0" smtClean="0"/>
              <a:t>把握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1</a:t>
            </a:r>
            <a:r>
              <a:rPr lang="zh-CN" altLang="en-US" sz="2400" dirty="0"/>
              <a:t>）小批生产，指生产的量比较少，</a:t>
            </a:r>
          </a:p>
          <a:p>
            <a:pPr>
              <a:buNone/>
            </a:pPr>
            <a:r>
              <a:rPr lang="en-US" sz="2400" dirty="0"/>
              <a:t>2</a:t>
            </a:r>
            <a:r>
              <a:rPr lang="zh-CN" altLang="en-US" sz="2400" dirty="0"/>
              <a:t>）与设计关系：很少采用先进高效的制造方法，</a:t>
            </a:r>
          </a:p>
          <a:p>
            <a:pPr lvl="1"/>
            <a:r>
              <a:rPr lang="zh-CN" altLang="en-US" sz="2000" dirty="0"/>
              <a:t>特别注意的是毛坯制造方法：轴类通常采用棒料加工而不是采用成型毛坯；箱体采用砂型铸造而不是采用金属模或其它高效铸造</a:t>
            </a:r>
            <a:r>
              <a:rPr lang="zh-CN" altLang="en-US" sz="2000" dirty="0" smtClean="0"/>
              <a:t>技术；，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与</a:t>
            </a:r>
            <a:r>
              <a:rPr lang="zh-CN" altLang="en-US" sz="2000" dirty="0"/>
              <a:t>零件的结构要素关系不大，但设计要兼顾零件是否方便加工等工艺性问题又有联系。</a:t>
            </a:r>
          </a:p>
          <a:p>
            <a:pPr>
              <a:buNone/>
            </a:pPr>
            <a:r>
              <a:rPr lang="en-US" sz="2400" dirty="0"/>
              <a:t>3</a:t>
            </a:r>
            <a:r>
              <a:rPr lang="zh-CN" altLang="en-US" sz="2400" dirty="0"/>
              <a:t>）使用期限</a:t>
            </a:r>
            <a:r>
              <a:rPr lang="en-US" sz="2400" dirty="0"/>
              <a:t>10</a:t>
            </a:r>
            <a:r>
              <a:rPr lang="zh-CN" altLang="en-US" sz="2400" dirty="0"/>
              <a:t>年，大修期</a:t>
            </a:r>
            <a:r>
              <a:rPr lang="en-US" sz="2400" dirty="0"/>
              <a:t>3</a:t>
            </a:r>
            <a:r>
              <a:rPr lang="zh-CN" altLang="en-US" sz="2400" dirty="0"/>
              <a:t>年：用于寿命，循环次数计算。</a:t>
            </a:r>
          </a:p>
          <a:p>
            <a:r>
              <a:rPr lang="zh-CN" altLang="en-US" sz="2400" dirty="0"/>
              <a:t>主要零件，如齿轮、轴等要</a:t>
            </a:r>
            <a:r>
              <a:rPr lang="en-US" sz="2400" dirty="0"/>
              <a:t>10</a:t>
            </a:r>
            <a:r>
              <a:rPr lang="zh-CN" altLang="en-US" sz="2400" dirty="0"/>
              <a:t>年不能破坏，轴承等易损易坏零件要用</a:t>
            </a:r>
            <a:r>
              <a:rPr lang="en-US" sz="2400" dirty="0"/>
              <a:t>3</a:t>
            </a:r>
            <a:r>
              <a:rPr lang="zh-CN" altLang="en-US" sz="2400" dirty="0"/>
              <a:t>年，再更换，时间寿命不到</a:t>
            </a:r>
            <a:r>
              <a:rPr lang="en-US" sz="2400" dirty="0"/>
              <a:t>3</a:t>
            </a:r>
            <a:r>
              <a:rPr lang="zh-CN" altLang="en-US" sz="2400" dirty="0"/>
              <a:t>年就不合适。</a:t>
            </a:r>
          </a:p>
          <a:p>
            <a:pPr marL="0" indent="0">
              <a:buNone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 smtClean="0"/>
              <a:t>4</a:t>
            </a:r>
            <a:r>
              <a:rPr lang="zh-CN" altLang="en-US" sz="3600" b="1" dirty="0" smtClean="0"/>
              <a:t>、</a:t>
            </a:r>
            <a:r>
              <a:rPr lang="zh-CN" altLang="en-US" sz="3600" b="1" dirty="0"/>
              <a:t>设计</a:t>
            </a:r>
            <a:r>
              <a:rPr lang="zh-CN" altLang="en-US" sz="3600" b="1" dirty="0" smtClean="0"/>
              <a:t>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zh-CN" altLang="en-US" sz="2400" dirty="0"/>
              <a:t>传动方案的分析的</a:t>
            </a:r>
            <a:r>
              <a:rPr lang="zh-CN" altLang="en-US" sz="2400" dirty="0" smtClean="0"/>
              <a:t>拟订</a:t>
            </a:r>
            <a:endParaRPr lang="en-US" altLang="zh-CN" sz="2400" dirty="0" smtClean="0"/>
          </a:p>
          <a:p>
            <a:pPr lvl="1">
              <a:buNone/>
            </a:pPr>
            <a:r>
              <a:rPr lang="zh-CN" altLang="en-US" sz="2000" dirty="0" smtClean="0"/>
              <a:t>（</a:t>
            </a:r>
            <a:r>
              <a:rPr lang="zh-CN" altLang="en-US" sz="2000" dirty="0"/>
              <a:t>对任何设计这一步非常重要，不能缺少。方案合理与否影响整体质量（体积大小、零件数量、加工装配的工艺性等）、生产成本（材料消耗、加工工时、加工难度）、使用成本（经济性）（能耗）、可靠性（维护保养、寿命）等；同时给设计者确定一个设计方向目标、为阅读审批者展示一个总体全貌。为下一步具体设计奠定基础。</a:t>
            </a:r>
          </a:p>
          <a:p>
            <a:pPr lvl="0"/>
            <a:r>
              <a:rPr lang="zh-CN" altLang="en-US" sz="2400" dirty="0"/>
              <a:t>电动机的的选择与传动装置运动和动力参数的计算</a:t>
            </a:r>
          </a:p>
          <a:p>
            <a:pPr lvl="0"/>
            <a:r>
              <a:rPr lang="zh-CN" altLang="en-US" sz="2400" dirty="0"/>
              <a:t>传动件（如齿轮或蜗杆传动、带传动等）的设计；</a:t>
            </a:r>
          </a:p>
          <a:p>
            <a:pPr lvl="0"/>
            <a:r>
              <a:rPr lang="zh-CN" altLang="en-US" sz="2400" dirty="0"/>
              <a:t>轴的设计</a:t>
            </a:r>
            <a:r>
              <a:rPr lang="zh-CN" altLang="en-US" sz="2400" dirty="0" smtClean="0"/>
              <a:t>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 smtClean="0">
                <a:sym typeface="+mn-ea"/>
              </a:rPr>
              <a:t>4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</a:t>
            </a:r>
            <a:r>
              <a:rPr lang="zh-CN" altLang="en-US" sz="3600" b="1" dirty="0" smtClean="0">
                <a:sym typeface="+mn-ea"/>
              </a:rPr>
              <a:t>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zh-CN" altLang="en-US" sz="2400" dirty="0"/>
              <a:t>轴承及其组合部件的设计；</a:t>
            </a:r>
          </a:p>
          <a:p>
            <a:pPr lvl="0"/>
            <a:r>
              <a:rPr lang="zh-CN" altLang="en-US" sz="2400" dirty="0"/>
              <a:t>键联接的联轴器的选择与校核；</a:t>
            </a:r>
          </a:p>
          <a:p>
            <a:pPr lvl="0"/>
            <a:r>
              <a:rPr lang="zh-CN" altLang="en-US" sz="2400" dirty="0"/>
              <a:t>润滑设计；</a:t>
            </a:r>
          </a:p>
          <a:p>
            <a:pPr lvl="0"/>
            <a:r>
              <a:rPr lang="zh-CN" altLang="en-US" sz="2400" dirty="0"/>
              <a:t>箱体、机架及附件的设计；</a:t>
            </a:r>
          </a:p>
          <a:p>
            <a:pPr lvl="0"/>
            <a:r>
              <a:rPr lang="zh-CN" altLang="en-US" sz="2400" dirty="0"/>
              <a:t>装配图和零件图的设计和绘制；</a:t>
            </a:r>
          </a:p>
          <a:p>
            <a:pPr lvl="0"/>
            <a:r>
              <a:rPr lang="zh-CN" altLang="en-US" sz="2400" dirty="0"/>
              <a:t>设计计算书的编写。</a:t>
            </a:r>
          </a:p>
          <a:p>
            <a:pPr>
              <a:buNone/>
            </a:pPr>
            <a:r>
              <a:rPr lang="zh-CN" altLang="en-US" sz="2400" dirty="0" smtClean="0"/>
              <a:t>    </a:t>
            </a:r>
            <a:r>
              <a:rPr lang="zh-CN" altLang="en-US" sz="2400" dirty="0" smtClean="0">
                <a:latin typeface="华文隶书" panose="02010800040101010101" pitchFamily="2" charset="-122"/>
                <a:ea typeface="华文隶书" panose="02010800040101010101" pitchFamily="2" charset="-122"/>
              </a:rPr>
              <a:t>设计</a:t>
            </a:r>
            <a:r>
              <a:rPr lang="zh-CN" altLang="en-US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分二大块：总体设计（方案</a:t>
            </a:r>
            <a:r>
              <a:rPr lang="en-US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+</a:t>
            </a:r>
            <a:r>
              <a:rPr lang="zh-CN" altLang="en-US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零部件计算</a:t>
            </a:r>
            <a:r>
              <a:rPr lang="zh-CN" altLang="en-US" sz="2400" dirty="0" smtClean="0">
                <a:latin typeface="华文隶书" panose="02010800040101010101" pitchFamily="2" charset="-122"/>
                <a:ea typeface="华文隶书" panose="02010800040101010101" pitchFamily="2" charset="-122"/>
              </a:rPr>
              <a:t>选择、总装图）</a:t>
            </a:r>
            <a:r>
              <a:rPr lang="zh-CN" altLang="en-US" sz="2400" dirty="0">
                <a:latin typeface="华文隶书" panose="02010800040101010101" pitchFamily="2" charset="-122"/>
                <a:ea typeface="华文隶书" panose="02010800040101010101" pitchFamily="2" charset="-122"/>
              </a:rPr>
              <a:t>、零件设计（自制件设计，标准件通用件选择）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b="1" dirty="0" smtClean="0"/>
              <a:t>名词辨析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1</a:t>
            </a:r>
            <a:r>
              <a:rPr lang="zh-CN" altLang="en-US" sz="2400" dirty="0"/>
              <a:t>）选择：指一些通用件，已经系列化、规格化，并且在专业角度与本设计属不同专业或在质量成本</a:t>
            </a:r>
            <a:r>
              <a:rPr lang="zh-CN" altLang="en-US" sz="2400" dirty="0" smtClean="0"/>
              <a:t>上自己制造不经济</a:t>
            </a:r>
            <a:r>
              <a:rPr lang="zh-CN" altLang="en-US" sz="2400" dirty="0"/>
              <a:t>的零部件，市场有现成产品可售直接购买，只要根据使用要求进行必要的计算，取一种接近的合适产品，这在设计中称选择。（如</a:t>
            </a:r>
            <a:r>
              <a:rPr lang="en-US" sz="2400" dirty="0"/>
              <a:t>2</a:t>
            </a:r>
            <a:r>
              <a:rPr lang="zh-CN" altLang="en-US" sz="2400" dirty="0"/>
              <a:t>、</a:t>
            </a:r>
            <a:r>
              <a:rPr lang="en-US" sz="2400" dirty="0"/>
              <a:t>6</a:t>
            </a:r>
            <a:r>
              <a:rPr lang="zh-CN" altLang="en-US" sz="2400" dirty="0"/>
              <a:t>）</a:t>
            </a:r>
          </a:p>
          <a:p>
            <a:r>
              <a:rPr lang="en-US" sz="2400" dirty="0"/>
              <a:t>2</a:t>
            </a:r>
            <a:r>
              <a:rPr lang="zh-CN" altLang="en-US" sz="2400" dirty="0"/>
              <a:t>）设计：按使用要求从头进行，每个结构要素都必须根据实际情况进行规划确定的。（如</a:t>
            </a:r>
            <a:r>
              <a:rPr lang="en-US" sz="2400" dirty="0"/>
              <a:t>3</a:t>
            </a:r>
            <a:r>
              <a:rPr lang="zh-CN" altLang="en-US" sz="2400" dirty="0"/>
              <a:t>、</a:t>
            </a:r>
            <a:r>
              <a:rPr lang="en-US" sz="2400" dirty="0"/>
              <a:t>4</a:t>
            </a:r>
            <a:r>
              <a:rPr lang="zh-CN" altLang="en-US" sz="2400" dirty="0"/>
              <a:t>、</a:t>
            </a:r>
            <a:r>
              <a:rPr lang="en-US" sz="2400" dirty="0"/>
              <a:t>5</a:t>
            </a:r>
            <a:r>
              <a:rPr lang="zh-CN" altLang="en-US" sz="2400" dirty="0"/>
              <a:t>、</a:t>
            </a:r>
            <a:r>
              <a:rPr lang="en-US" sz="2400" dirty="0"/>
              <a:t>8</a:t>
            </a:r>
            <a:r>
              <a:rPr lang="zh-CN" altLang="en-US" sz="2400" dirty="0"/>
              <a:t>）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 smtClean="0"/>
              <a:t>5</a:t>
            </a:r>
            <a:r>
              <a:rPr lang="zh-CN" altLang="en-US" sz="3600" b="1" dirty="0" smtClean="0"/>
              <a:t>、</a:t>
            </a:r>
            <a:r>
              <a:rPr lang="zh-CN" altLang="en-US" sz="3600" b="1" dirty="0"/>
              <a:t>设计</a:t>
            </a:r>
            <a:r>
              <a:rPr lang="zh-CN" altLang="en-US" sz="3600" b="1" dirty="0" smtClean="0"/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2800" dirty="0"/>
              <a:t>1</a:t>
            </a:r>
            <a:r>
              <a:rPr lang="zh-CN" altLang="en-US" sz="2800" dirty="0"/>
              <a:t>、电动机转速和减速器速比（课程设计</a:t>
            </a:r>
            <a:r>
              <a:rPr lang="en-US" sz="2800" dirty="0"/>
              <a:t>P18/P20</a:t>
            </a:r>
            <a:r>
              <a:rPr lang="zh-CN" altLang="en-US" sz="2800" dirty="0"/>
              <a:t>）</a:t>
            </a:r>
          </a:p>
          <a:p>
            <a:pPr lvl="1"/>
            <a:r>
              <a:rPr lang="en-US" sz="2400" dirty="0"/>
              <a:t>P18</a:t>
            </a:r>
            <a:r>
              <a:rPr lang="zh-CN" altLang="en-US" sz="2400" dirty="0"/>
              <a:t>确定电动机转速：常用同步转速为</a:t>
            </a:r>
            <a:r>
              <a:rPr lang="en-US" sz="2400" dirty="0"/>
              <a:t>1500r/min </a:t>
            </a:r>
            <a:r>
              <a:rPr lang="zh-CN" altLang="en-US" sz="2400" dirty="0"/>
              <a:t>和</a:t>
            </a:r>
            <a:r>
              <a:rPr lang="en-US" sz="2400" dirty="0"/>
              <a:t>1000r/min</a:t>
            </a:r>
            <a:r>
              <a:rPr lang="zh-CN" altLang="en-US" sz="2400" dirty="0"/>
              <a:t>，不常用</a:t>
            </a:r>
            <a:r>
              <a:rPr lang="en-US" sz="2400" dirty="0"/>
              <a:t>750r/min</a:t>
            </a:r>
            <a:r>
              <a:rPr lang="zh-CN" altLang="en-US" sz="2400" dirty="0"/>
              <a:t>。电动机常用异步电动机，异步转速略低于同步转速，与电动机设计的转速差有关。</a:t>
            </a:r>
          </a:p>
          <a:p>
            <a:pPr lvl="1"/>
            <a:r>
              <a:rPr lang="en-US" sz="2400" dirty="0"/>
              <a:t>P20</a:t>
            </a:r>
            <a:r>
              <a:rPr lang="zh-CN" altLang="en-US" sz="2400" dirty="0"/>
              <a:t>传动比选择和分配：</a:t>
            </a:r>
          </a:p>
          <a:p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5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</a:t>
            </a:r>
            <a:r>
              <a:rPr lang="zh-CN" altLang="en-US" sz="3600" b="1" dirty="0" smtClean="0">
                <a:sym typeface="+mn-ea"/>
              </a:rPr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2</a:t>
            </a:r>
            <a:r>
              <a:rPr lang="zh-CN" altLang="en-US" sz="2800" dirty="0"/>
              <a:t>、负载（载荷）计算（课程设计</a:t>
            </a:r>
            <a:r>
              <a:rPr lang="en-US" sz="2800" dirty="0"/>
              <a:t>P22-23</a:t>
            </a:r>
            <a:r>
              <a:rPr lang="zh-CN" altLang="en-US" sz="2800" dirty="0"/>
              <a:t>）</a:t>
            </a:r>
          </a:p>
          <a:p>
            <a:pPr lvl="1"/>
            <a:r>
              <a:rPr lang="zh-CN" altLang="en-US" sz="2330" dirty="0"/>
              <a:t>计算各轴、齿轮等零件所受的载荷（扭矩，可分解为三个方向的力）</a:t>
            </a:r>
          </a:p>
          <a:p>
            <a:pPr lvl="1"/>
            <a:r>
              <a:rPr lang="zh-CN" altLang="en-US" sz="2330" dirty="0"/>
              <a:t>正计算：从电动机开始往后计算，由于摩擦的影响，效率降低，载荷减小，乘以摩擦系数。（在实际设计中为方便起见，也可用电动机功率代替）。</a:t>
            </a:r>
          </a:p>
          <a:p>
            <a:pPr lvl="1"/>
            <a:r>
              <a:rPr lang="zh-CN" altLang="en-US" sz="2330" dirty="0"/>
              <a:t>负计算：从负载开始计算，为满足负载要求，往前推，前面所需功率要比后面输出的要大，要除以摩擦系数。</a:t>
            </a:r>
          </a:p>
          <a:p>
            <a:pPr lvl="1"/>
            <a:r>
              <a:rPr lang="zh-CN" altLang="en-US" sz="2330" dirty="0"/>
              <a:t>得到结果是：各轴、齿轮的需要扭矩。</a:t>
            </a:r>
          </a:p>
          <a:p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5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</a:t>
            </a:r>
            <a:r>
              <a:rPr lang="zh-CN" altLang="en-US" sz="3600" b="1" dirty="0" smtClean="0">
                <a:sym typeface="+mn-ea"/>
              </a:rPr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dirty="0"/>
              <a:t>3</a:t>
            </a:r>
            <a:r>
              <a:rPr lang="zh-CN" altLang="en-US" sz="2000" dirty="0"/>
              <a:t>、齿轮的估算和尺寸计算（教材齿轮传动部分）</a:t>
            </a:r>
          </a:p>
          <a:p>
            <a:pPr marL="342900" lvl="1" indent="0">
              <a:spcBef>
                <a:spcPts val="0"/>
              </a:spcBef>
              <a:buNone/>
            </a:pPr>
            <a:r>
              <a:rPr lang="zh-CN" altLang="en-US" sz="1800" dirty="0"/>
              <a:t>有了负载扭矩，可进行齿轮和轴的估算，但必须补充一些要求和相互关系。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1</a:t>
            </a:r>
            <a:r>
              <a:rPr lang="zh-CN" altLang="en-US" sz="1800" dirty="0"/>
              <a:t>）齿轮估算</a:t>
            </a:r>
          </a:p>
          <a:p>
            <a:pPr lvl="1">
              <a:spcBef>
                <a:spcPts val="0"/>
              </a:spcBef>
            </a:pPr>
            <a:r>
              <a:rPr lang="zh-CN" altLang="en-US" sz="1800" dirty="0"/>
              <a:t>给定齿宽系数：</a:t>
            </a:r>
            <a:r>
              <a:rPr lang="en-US" sz="1800" dirty="0"/>
              <a:t>1</a:t>
            </a:r>
            <a:r>
              <a:rPr lang="zh-CN" altLang="en-US" sz="1800" dirty="0"/>
              <a:t>左右</a:t>
            </a:r>
          </a:p>
          <a:p>
            <a:pPr lvl="1">
              <a:spcBef>
                <a:spcPts val="0"/>
              </a:spcBef>
            </a:pPr>
            <a:r>
              <a:rPr lang="zh-CN" altLang="en-US" sz="1800" dirty="0"/>
              <a:t>给定最小齿轮齿数：</a:t>
            </a:r>
            <a:r>
              <a:rPr lang="en-US" sz="1800" dirty="0"/>
              <a:t>20--40</a:t>
            </a:r>
            <a:r>
              <a:rPr lang="zh-CN" altLang="en-US" sz="1800" dirty="0"/>
              <a:t>，考虑紧凑</a:t>
            </a:r>
          </a:p>
          <a:p>
            <a:pPr lvl="1">
              <a:spcBef>
                <a:spcPts val="0"/>
              </a:spcBef>
            </a:pPr>
            <a:r>
              <a:rPr lang="zh-CN" altLang="en-US" sz="1800" dirty="0"/>
              <a:t>传动比： </a:t>
            </a:r>
          </a:p>
          <a:p>
            <a:pPr lvl="1">
              <a:spcBef>
                <a:spcPts val="0"/>
              </a:spcBef>
            </a:pPr>
            <a:r>
              <a:rPr lang="zh-CN" altLang="en-US" sz="1800" dirty="0"/>
              <a:t>中心距：？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2</a:t>
            </a:r>
            <a:r>
              <a:rPr lang="zh-CN" altLang="en-US" sz="1800" dirty="0"/>
              <a:t>）齿轮参数计算（教材例）：</a:t>
            </a:r>
          </a:p>
          <a:p>
            <a:pPr lvl="1">
              <a:spcBef>
                <a:spcPts val="0"/>
              </a:spcBef>
            </a:pPr>
            <a:r>
              <a:rPr lang="zh-CN" altLang="en-US" sz="1800" dirty="0"/>
              <a:t>齿轮材料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40/45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20Cr/40Cr</a:t>
            </a:r>
            <a:r>
              <a:rPr lang="zh-CN" altLang="en-US" sz="1800" dirty="0" smtClean="0"/>
              <a:t>、铸钢</a:t>
            </a:r>
            <a:r>
              <a:rPr lang="en-US" altLang="zh-CN" sz="1800" dirty="0" smtClean="0"/>
              <a:t>/</a:t>
            </a:r>
            <a:r>
              <a:rPr lang="zh-CN" altLang="en-US" sz="1800" dirty="0" smtClean="0"/>
              <a:t>铁</a:t>
            </a:r>
            <a:endParaRPr lang="zh-CN" altLang="en-US" sz="1800" dirty="0"/>
          </a:p>
          <a:p>
            <a:pPr lvl="1">
              <a:spcBef>
                <a:spcPts val="0"/>
              </a:spcBef>
            </a:pPr>
            <a:r>
              <a:rPr lang="zh-CN" altLang="en-US" sz="1800" dirty="0" smtClean="0"/>
              <a:t>主要参数：</a:t>
            </a:r>
            <a:r>
              <a:rPr lang="en-US" sz="1800" dirty="0" smtClean="0"/>
              <a:t>m</a:t>
            </a:r>
            <a:r>
              <a:rPr lang="zh-CN" altLang="en-US" sz="1800" dirty="0" smtClean="0"/>
              <a:t>、</a:t>
            </a:r>
            <a:r>
              <a:rPr lang="en-US" sz="1800" dirty="0" smtClean="0"/>
              <a:t>d1</a:t>
            </a:r>
            <a:r>
              <a:rPr lang="zh-CN" altLang="en-US" sz="1800" dirty="0" smtClean="0"/>
              <a:t>、</a:t>
            </a:r>
            <a:r>
              <a:rPr lang="en-US" sz="1800" dirty="0" smtClean="0"/>
              <a:t>d2</a:t>
            </a:r>
            <a:r>
              <a:rPr lang="zh-CN" altLang="en-US" sz="1800" dirty="0" smtClean="0"/>
              <a:t>、</a:t>
            </a:r>
            <a:r>
              <a:rPr lang="en-US" sz="1800" dirty="0" smtClean="0"/>
              <a:t>a</a:t>
            </a:r>
            <a:r>
              <a:rPr lang="zh-CN" altLang="en-US" sz="1800" dirty="0" smtClean="0"/>
              <a:t>、</a:t>
            </a:r>
            <a:r>
              <a:rPr lang="en-US" sz="1800" dirty="0" smtClean="0"/>
              <a:t>Z1</a:t>
            </a:r>
            <a:r>
              <a:rPr lang="zh-CN" altLang="en-US" sz="1800" dirty="0" smtClean="0"/>
              <a:t>、</a:t>
            </a:r>
            <a:r>
              <a:rPr lang="en-US" sz="1800" dirty="0" smtClean="0"/>
              <a:t>Z2</a:t>
            </a:r>
            <a:r>
              <a:rPr lang="zh-CN" altLang="en-US" sz="1800" dirty="0" smtClean="0"/>
              <a:t>，大齿轮齿宽</a:t>
            </a:r>
            <a:r>
              <a:rPr lang="en-US" sz="1800" dirty="0" smtClean="0"/>
              <a:t>B</a:t>
            </a:r>
            <a:r>
              <a:rPr lang="zh-CN" altLang="en-US" sz="1800" dirty="0" smtClean="0"/>
              <a:t>，小齿轮</a:t>
            </a:r>
            <a:r>
              <a:rPr lang="en-US" sz="1800" dirty="0" smtClean="0"/>
              <a:t>+5mm</a:t>
            </a:r>
            <a:r>
              <a:rPr lang="zh-CN" altLang="en-US" sz="1800" dirty="0" smtClean="0"/>
              <a:t>及其它</a:t>
            </a:r>
            <a:endParaRPr lang="en-US" altLang="zh-CN" sz="1800" dirty="0" smtClean="0"/>
          </a:p>
          <a:p>
            <a:pPr lvl="1">
              <a:spcBef>
                <a:spcPts val="0"/>
              </a:spcBef>
            </a:pPr>
            <a:r>
              <a:rPr lang="en-US" sz="1800" dirty="0"/>
              <a:t>3</a:t>
            </a:r>
            <a:r>
              <a:rPr lang="zh-CN" altLang="en-US" sz="1800" dirty="0"/>
              <a:t>）齿轮其它尺寸计算：（（课程设计</a:t>
            </a:r>
            <a:r>
              <a:rPr lang="en-US" sz="1800" dirty="0"/>
              <a:t>P35</a:t>
            </a:r>
            <a:r>
              <a:rPr lang="zh-CN" altLang="en-US" sz="1800" dirty="0"/>
              <a:t>））</a:t>
            </a:r>
          </a:p>
          <a:p>
            <a:pPr lvl="1"/>
            <a:endParaRPr lang="en-US" altLang="zh-CN" sz="2400" dirty="0" smtClean="0"/>
          </a:p>
          <a:p>
            <a:endParaRPr lang="zh-CN" altLang="en-US" sz="2800" dirty="0"/>
          </a:p>
          <a:p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5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</a:t>
            </a:r>
            <a:r>
              <a:rPr lang="zh-CN" altLang="en-US" sz="3600" b="1" dirty="0" smtClean="0">
                <a:sym typeface="+mn-ea"/>
              </a:rPr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000" dirty="0"/>
              <a:t>4</a:t>
            </a:r>
            <a:r>
              <a:rPr lang="zh-CN" altLang="en-US" sz="2000" dirty="0"/>
              <a:t>、轴的估算和尺寸计算</a:t>
            </a:r>
          </a:p>
          <a:p>
            <a:pPr lvl="1"/>
            <a:r>
              <a:rPr lang="en-US" sz="1600" dirty="0"/>
              <a:t>1</a:t>
            </a:r>
            <a:r>
              <a:rPr lang="zh-CN" altLang="en-US" sz="1600" dirty="0"/>
              <a:t>）轴颈估算（教材轴的计算部分）（课程设计</a:t>
            </a:r>
            <a:r>
              <a:rPr lang="en-US" sz="1600" dirty="0"/>
              <a:t>P101</a:t>
            </a:r>
            <a:r>
              <a:rPr lang="zh-CN" altLang="en-US" sz="1600" dirty="0"/>
              <a:t>）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2</a:t>
            </a:r>
            <a:r>
              <a:rPr lang="zh-CN" altLang="en-US" sz="1600" dirty="0"/>
              <a:t>）轴颈初步确定</a:t>
            </a:r>
          </a:p>
          <a:p>
            <a:pPr lvl="1"/>
            <a:r>
              <a:rPr lang="zh-CN" altLang="en-US" sz="1600" dirty="0"/>
              <a:t>计算的是轴的最小直径，取大些肯定安全；</a:t>
            </a:r>
          </a:p>
          <a:p>
            <a:pPr lvl="1"/>
            <a:r>
              <a:rPr lang="zh-CN" altLang="en-US" sz="1600" dirty="0"/>
              <a:t>有键槽产生应力集中，增大尺寸，一个键槽增加</a:t>
            </a:r>
            <a:r>
              <a:rPr lang="en-US" sz="1600" dirty="0"/>
              <a:t>5-7%</a:t>
            </a:r>
            <a:r>
              <a:rPr lang="zh-CN" altLang="en-US" sz="1600" dirty="0"/>
              <a:t>，二个键槽增加</a:t>
            </a:r>
            <a:r>
              <a:rPr lang="en-US" sz="1600" dirty="0"/>
              <a:t>10-15%</a:t>
            </a:r>
            <a:r>
              <a:rPr lang="zh-CN" altLang="en-US" sz="1600" dirty="0"/>
              <a:t>；</a:t>
            </a:r>
          </a:p>
          <a:p>
            <a:pPr lvl="1"/>
            <a:r>
              <a:rPr lang="zh-CN" altLang="en-US" sz="1600" dirty="0"/>
              <a:t>以得到的轴径圆整成</a:t>
            </a:r>
            <a:r>
              <a:rPr lang="en-US" sz="1600" dirty="0"/>
              <a:t>5</a:t>
            </a:r>
            <a:r>
              <a:rPr lang="zh-CN" altLang="en-US" sz="1600" dirty="0"/>
              <a:t>的位数作为轴承挡的直径，</a:t>
            </a:r>
          </a:p>
          <a:p>
            <a:pPr lvl="1"/>
            <a:r>
              <a:rPr lang="en-US" sz="1600" dirty="0"/>
              <a:t>3</a:t>
            </a:r>
            <a:r>
              <a:rPr lang="zh-CN" altLang="en-US" sz="1600" dirty="0"/>
              <a:t>）检查与此轴配合的小齿轮结构上否合适？</a:t>
            </a:r>
          </a:p>
          <a:p>
            <a:pPr lvl="1"/>
            <a:r>
              <a:rPr lang="zh-CN" altLang="en-US" sz="1600" dirty="0"/>
              <a:t>在此直径（再增加</a:t>
            </a:r>
            <a:r>
              <a:rPr lang="en-US" sz="1600" dirty="0"/>
              <a:t>5mm</a:t>
            </a:r>
            <a:r>
              <a:rPr lang="zh-CN" altLang="en-US" sz="1600" dirty="0"/>
              <a:t>）时，作为小齿轮轴的孔径、查该齿轮键槽深度，计算小齿轮齿根至槽底间的尺寸</a:t>
            </a:r>
            <a:r>
              <a:rPr lang="en-US" sz="1600" dirty="0"/>
              <a:t>X</a:t>
            </a:r>
            <a:r>
              <a:rPr lang="zh-CN" altLang="en-US" sz="1600" dirty="0"/>
              <a:t>≥</a:t>
            </a:r>
            <a:r>
              <a:rPr lang="en-US" sz="1600" dirty="0"/>
              <a:t>2.5m</a:t>
            </a:r>
            <a:r>
              <a:rPr lang="zh-CN" altLang="en-US" sz="1600" dirty="0"/>
              <a:t>，用实心式齿轮（反之用齿轮轴）</a:t>
            </a:r>
          </a:p>
          <a:p>
            <a:pPr lvl="1"/>
            <a:r>
              <a:rPr lang="zh-CN" altLang="en-US" sz="1600" dirty="0"/>
              <a:t>建议：用实心式齿轮，通过增加小齿轮齿数重新计算，增大小齿轮的齿根圆直径解决。</a:t>
            </a:r>
          </a:p>
          <a:p>
            <a:pPr lvl="1"/>
            <a:r>
              <a:rPr lang="zh-CN" altLang="en-US" sz="1600" dirty="0"/>
              <a:t>不赞成：通过提高轴材料强度而缩小轴径，这样处理会留有后患，刚度降低，有可能强度校核不合格，又要从头调整。</a:t>
            </a:r>
          </a:p>
          <a:p>
            <a:pPr lvl="1"/>
            <a:r>
              <a:rPr lang="en-US" sz="1600" dirty="0"/>
              <a:t>4</a:t>
            </a:r>
            <a:r>
              <a:rPr lang="zh-CN" altLang="en-US" sz="1600" dirty="0"/>
              <a:t>）计算轴的长度：从草图上获取或通过尺寸链计算</a:t>
            </a:r>
          </a:p>
          <a:p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5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</a:t>
            </a:r>
            <a:r>
              <a:rPr lang="zh-CN" altLang="en-US" sz="3600" b="1" dirty="0" smtClean="0">
                <a:sym typeface="+mn-ea"/>
              </a:rPr>
              <a:t>过程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5</a:t>
            </a:r>
            <a:r>
              <a:rPr lang="zh-CN" altLang="en-US" sz="2400" dirty="0"/>
              <a:t>、</a:t>
            </a:r>
            <a:r>
              <a:rPr lang="zh-CN" altLang="en-US" sz="2400" dirty="0" smtClean="0"/>
              <a:t>画装配草图</a:t>
            </a:r>
            <a:r>
              <a:rPr lang="zh-CN" altLang="en-US" sz="2400" dirty="0"/>
              <a:t>，确定各部分尺寸</a:t>
            </a:r>
          </a:p>
          <a:p>
            <a:pPr>
              <a:spcBef>
                <a:spcPts val="0"/>
              </a:spcBef>
            </a:pPr>
            <a:r>
              <a:rPr lang="zh-CN" altLang="en-US" sz="2000" dirty="0"/>
              <a:t>原则：从内到外，从粗到细，从简到难、相互补充、不断完善。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1</a:t>
            </a:r>
            <a:r>
              <a:rPr lang="zh-CN" altLang="en-US" sz="2000" dirty="0"/>
              <a:t>）中心线、轴心线（课程设计</a:t>
            </a:r>
            <a:r>
              <a:rPr lang="en-US" sz="2000" dirty="0"/>
              <a:t>P101-108</a:t>
            </a:r>
            <a:r>
              <a:rPr lang="zh-CN" altLang="en-US" sz="2000" dirty="0"/>
              <a:t>）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2</a:t>
            </a:r>
            <a:r>
              <a:rPr lang="zh-CN" altLang="en-US" sz="2000" dirty="0"/>
              <a:t>）齿轮、轴的位置和尺寸（基本尺寸初步确定），轴颈大小变化的初步确定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3</a:t>
            </a:r>
            <a:r>
              <a:rPr lang="zh-CN" altLang="en-US" sz="2000" dirty="0"/>
              <a:t>）相互间的间隙：齿轮</a:t>
            </a:r>
            <a:r>
              <a:rPr lang="zh-CN" altLang="en-US" sz="2000" dirty="0" smtClean="0"/>
              <a:t>间的间隙</a:t>
            </a:r>
            <a:r>
              <a:rPr lang="zh-CN" altLang="en-US" sz="2000" dirty="0"/>
              <a:t>、齿轮与内壁间的间隙、齿顶与内壁间的</a:t>
            </a:r>
            <a:r>
              <a:rPr lang="zh-CN" altLang="en-US" sz="2000" dirty="0" smtClean="0"/>
              <a:t>间隙、齿顶与轴间的间隙（</a:t>
            </a:r>
            <a:r>
              <a:rPr lang="zh-CN" altLang="en-US" sz="2000" dirty="0"/>
              <a:t>课程设计</a:t>
            </a:r>
            <a:r>
              <a:rPr lang="en-US" sz="2000" dirty="0"/>
              <a:t>P101-108</a:t>
            </a:r>
            <a:r>
              <a:rPr lang="zh-CN" altLang="en-US" sz="2000" dirty="0"/>
              <a:t>）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4</a:t>
            </a:r>
            <a:r>
              <a:rPr lang="zh-CN" altLang="en-US" sz="2000" dirty="0"/>
              <a:t>）轴承位置和大小：轴承在箱体的位置、在轴上的位置和大小宽度（课程设计</a:t>
            </a:r>
            <a:r>
              <a:rPr lang="en-US" sz="2000" dirty="0"/>
              <a:t>P61-68</a:t>
            </a:r>
            <a:r>
              <a:rPr lang="zh-CN" altLang="en-US" sz="2000" dirty="0"/>
              <a:t>）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5</a:t>
            </a:r>
            <a:r>
              <a:rPr lang="zh-CN" altLang="en-US" sz="2000" dirty="0"/>
              <a:t>）箱体壁厚和内外位置（课程设计</a:t>
            </a:r>
            <a:r>
              <a:rPr lang="en-US" sz="2000" dirty="0"/>
              <a:t>P74-80</a:t>
            </a:r>
            <a:r>
              <a:rPr lang="zh-CN" altLang="en-US" sz="2000" dirty="0"/>
              <a:t>）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6</a:t>
            </a:r>
            <a:r>
              <a:rPr lang="zh-CN" altLang="en-US" sz="2000" dirty="0"/>
              <a:t>）轴承盖等附件（课程设计</a:t>
            </a:r>
            <a:r>
              <a:rPr lang="en-US" sz="2000" dirty="0"/>
              <a:t>P81-88</a:t>
            </a:r>
            <a:r>
              <a:rPr lang="zh-CN" altLang="en-US" sz="2000" dirty="0"/>
              <a:t>）（课程设计</a:t>
            </a:r>
            <a:r>
              <a:rPr lang="en-US" sz="2000" dirty="0"/>
              <a:t>P68-74</a:t>
            </a:r>
            <a:r>
              <a:rPr lang="zh-CN" altLang="en-US" sz="2000" dirty="0"/>
              <a:t>）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b="1" dirty="0" smtClean="0"/>
              <a:t>6</a:t>
            </a:r>
            <a:r>
              <a:rPr lang="zh-CN" altLang="en-US" sz="3600" b="1" dirty="0" smtClean="0"/>
              <a:t>、</a:t>
            </a:r>
            <a:r>
              <a:rPr lang="zh-CN" altLang="en-US" sz="3600" b="1" dirty="0"/>
              <a:t>装配图和零件图</a:t>
            </a:r>
            <a:r>
              <a:rPr lang="zh-CN" altLang="en-US" sz="3600" b="1" dirty="0" smtClean="0"/>
              <a:t>绘制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1</a:t>
            </a:r>
            <a:r>
              <a:rPr lang="zh-CN" altLang="en-US" sz="2400" dirty="0"/>
              <a:t>、装配图绘制（课程设计第</a:t>
            </a:r>
            <a:r>
              <a:rPr lang="en-US" sz="2400" dirty="0"/>
              <a:t>6</a:t>
            </a:r>
            <a:r>
              <a:rPr lang="zh-CN" altLang="en-US" sz="2400" dirty="0"/>
              <a:t>章</a:t>
            </a:r>
            <a:r>
              <a:rPr lang="en-US" sz="2400" dirty="0"/>
              <a:t>P99-113</a:t>
            </a:r>
            <a:r>
              <a:rPr lang="zh-CN" altLang="en-US" sz="2400" dirty="0"/>
              <a:t>）</a:t>
            </a:r>
          </a:p>
          <a:p>
            <a:pPr lvl="1"/>
            <a:r>
              <a:rPr lang="en-US" sz="2000" dirty="0"/>
              <a:t>1</a:t>
            </a:r>
            <a:r>
              <a:rPr lang="zh-CN" altLang="en-US" sz="2000" dirty="0"/>
              <a:t>）基本内容的完整性（课程设计第</a:t>
            </a:r>
            <a:r>
              <a:rPr lang="en-US" sz="2000" dirty="0"/>
              <a:t>6</a:t>
            </a:r>
            <a:r>
              <a:rPr lang="zh-CN" altLang="en-US" sz="2000" dirty="0"/>
              <a:t>章</a:t>
            </a:r>
            <a:r>
              <a:rPr lang="en-US" sz="2000" dirty="0"/>
              <a:t>P110-113</a:t>
            </a:r>
            <a:r>
              <a:rPr lang="zh-CN" altLang="en-US" sz="2000" dirty="0"/>
              <a:t>）</a:t>
            </a:r>
          </a:p>
          <a:p>
            <a:pPr lvl="1"/>
            <a:r>
              <a:rPr lang="en-US" sz="2000" dirty="0"/>
              <a:t>2</a:t>
            </a:r>
            <a:r>
              <a:rPr lang="zh-CN" altLang="en-US" sz="2000" dirty="0"/>
              <a:t>）结构要素、尺寸</a:t>
            </a:r>
            <a:r>
              <a:rPr lang="zh-CN" altLang="en-US" sz="2000" dirty="0" smtClean="0"/>
              <a:t>标注等</a:t>
            </a:r>
            <a:r>
              <a:rPr lang="zh-CN" altLang="en-US" sz="2000" dirty="0"/>
              <a:t>要考虑加工的可能性和方便性（课程设计</a:t>
            </a:r>
            <a:r>
              <a:rPr lang="en-US" sz="2000" dirty="0"/>
              <a:t>P88-95</a:t>
            </a:r>
            <a:r>
              <a:rPr lang="zh-CN" altLang="en-US" sz="2000" dirty="0"/>
              <a:t>）</a:t>
            </a:r>
          </a:p>
          <a:p>
            <a:pPr lvl="1"/>
            <a:r>
              <a:rPr lang="en-US" sz="2000" dirty="0"/>
              <a:t>3</a:t>
            </a:r>
            <a:r>
              <a:rPr lang="zh-CN" altLang="en-US" sz="2000" dirty="0"/>
              <a:t>）基准问题：设计基准、加工工序基准、定位基准、装配基准、检验基准。相互间统一、转换和</a:t>
            </a:r>
            <a:r>
              <a:rPr lang="zh-CN" altLang="en-US" sz="2000" dirty="0" smtClean="0"/>
              <a:t>关系</a:t>
            </a:r>
            <a:endParaRPr lang="zh-CN" altLang="en-US" sz="2000" dirty="0"/>
          </a:p>
          <a:p>
            <a:pPr lvl="1"/>
            <a:r>
              <a:rPr lang="en-US" sz="2000" dirty="0"/>
              <a:t>4</a:t>
            </a:r>
            <a:r>
              <a:rPr lang="zh-CN" altLang="en-US" sz="2000" dirty="0"/>
              <a:t>）装配问题：方便性？装配方法（互换法、选配法、修配法、调整法）？装配关系（过渡、间隙、过盈）？满足装配的零件结构？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6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装配图和零件图</a:t>
            </a:r>
            <a:r>
              <a:rPr lang="zh-CN" altLang="en-US" sz="3600" b="1" dirty="0" smtClean="0">
                <a:sym typeface="+mn-ea"/>
              </a:rPr>
              <a:t>绘制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sz="2400" dirty="0"/>
              <a:t>2</a:t>
            </a:r>
            <a:r>
              <a:rPr lang="zh-CN" altLang="en-US" sz="2400" dirty="0"/>
              <a:t>、零件图绘制（课程设计第</a:t>
            </a:r>
            <a:r>
              <a:rPr lang="en-US" sz="2400" dirty="0"/>
              <a:t>6</a:t>
            </a:r>
            <a:r>
              <a:rPr lang="zh-CN" altLang="en-US" sz="2400" dirty="0"/>
              <a:t>章</a:t>
            </a:r>
            <a:r>
              <a:rPr lang="en-US" sz="2400" dirty="0"/>
              <a:t>P114-147</a:t>
            </a:r>
            <a:r>
              <a:rPr lang="zh-CN" altLang="en-US" sz="2400" dirty="0"/>
              <a:t>）</a:t>
            </a:r>
          </a:p>
          <a:p>
            <a:pPr lvl="1"/>
            <a:r>
              <a:rPr lang="en-US" sz="2000" dirty="0"/>
              <a:t>1</a:t>
            </a:r>
            <a:r>
              <a:rPr lang="zh-CN" altLang="en-US" sz="2000" dirty="0"/>
              <a:t>）基本内容的完整性（课程设计第</a:t>
            </a:r>
            <a:r>
              <a:rPr lang="en-US" sz="2000" dirty="0"/>
              <a:t>6</a:t>
            </a:r>
            <a:r>
              <a:rPr lang="zh-CN" altLang="en-US" sz="2000" dirty="0"/>
              <a:t>章</a:t>
            </a:r>
            <a:r>
              <a:rPr lang="en-US" sz="2000" dirty="0"/>
              <a:t>P114-115</a:t>
            </a:r>
            <a:r>
              <a:rPr lang="zh-CN" altLang="en-US" sz="2000" dirty="0"/>
              <a:t>）</a:t>
            </a:r>
          </a:p>
          <a:p>
            <a:pPr lvl="1"/>
            <a:r>
              <a:rPr lang="en-US" sz="2000" dirty="0"/>
              <a:t>2</a:t>
            </a:r>
            <a:r>
              <a:rPr lang="zh-CN" altLang="en-US" sz="2000" dirty="0"/>
              <a:t>）结构要素、尺寸标等要考虑加工的可能性和方便性（课程设计</a:t>
            </a:r>
            <a:r>
              <a:rPr lang="en-US" sz="2000" dirty="0"/>
              <a:t>P88-95</a:t>
            </a:r>
            <a:r>
              <a:rPr lang="zh-CN" altLang="en-US" sz="2000" dirty="0"/>
              <a:t>）</a:t>
            </a:r>
          </a:p>
          <a:p>
            <a:pPr lvl="1"/>
            <a:r>
              <a:rPr lang="en-US" sz="2000" dirty="0"/>
              <a:t>3</a:t>
            </a:r>
            <a:r>
              <a:rPr lang="zh-CN" altLang="en-US" sz="2000" dirty="0"/>
              <a:t>）基准问题：设计基准、加工工序基准、定位基准、装配基准、检验基准。相互间统一、转换和关系。</a:t>
            </a:r>
          </a:p>
          <a:p>
            <a:pPr lvl="1"/>
            <a:r>
              <a:rPr lang="en-US" sz="2000" dirty="0"/>
              <a:t>4</a:t>
            </a:r>
            <a:r>
              <a:rPr lang="zh-CN" altLang="en-US" sz="2000" dirty="0"/>
              <a:t>）加工问题：方便性？加工方法（车铣刨磨镗钻）？加工次数（粗、半精、精、超精）？装夹（一次装夹、多次装夹）？</a:t>
            </a:r>
          </a:p>
          <a:p>
            <a:pPr lvl="1"/>
            <a:r>
              <a:rPr lang="en-US" sz="2000" dirty="0"/>
              <a:t>5</a:t>
            </a:r>
            <a:r>
              <a:rPr lang="zh-CN" altLang="en-US" sz="2000" dirty="0"/>
              <a:t>）毛坯制造问题：（课程设计</a:t>
            </a:r>
            <a:r>
              <a:rPr lang="en-US" sz="2000" dirty="0"/>
              <a:t>P88-95</a:t>
            </a:r>
            <a:r>
              <a:rPr lang="zh-CN" altLang="en-US" sz="2000" dirty="0"/>
              <a:t>）</a:t>
            </a:r>
            <a:endParaRPr lang="zh-CN" altLang="en-US" sz="2800" dirty="0"/>
          </a:p>
          <a:p>
            <a:pPr lvl="1"/>
            <a:endParaRPr lang="zh-CN" alt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/>
              <a:t>7</a:t>
            </a:r>
            <a:r>
              <a:rPr lang="zh-CN" altLang="en-US" sz="3600" b="1" dirty="0" smtClean="0"/>
              <a:t>、</a:t>
            </a:r>
            <a:r>
              <a:rPr lang="zh-CN" altLang="en-US" sz="3600" b="1" dirty="0"/>
              <a:t>设计与计算（设计计算说明书</a:t>
            </a:r>
            <a:r>
              <a:rPr lang="zh-CN" altLang="en-US" sz="3600" b="1" dirty="0" smtClean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通过装配草图的绘制，获得各部分的关键尺寸，尤其是轴的长度、直径尺寸；从而得到轴承、键和联轴器的尺寸、规格、型号。</a:t>
            </a:r>
          </a:p>
          <a:p>
            <a:r>
              <a:rPr lang="zh-CN" altLang="en-US" sz="2000" dirty="0"/>
              <a:t>建议先进行齿轮、轴、轴承、键、联轴器等的有关强度、寿命的计算校核，若发现存在强度和寿命满足不了设计要求，对相应零件的相关尺寸进行调整，这样要改变装配图的相应部分进行更改，若对齿轮、轴的改变就要</a:t>
            </a:r>
            <a:r>
              <a:rPr lang="zh-CN" altLang="en-US" sz="2000" dirty="0" smtClean="0"/>
              <a:t>改变整个</a:t>
            </a:r>
            <a:r>
              <a:rPr lang="zh-CN" altLang="en-US" sz="2000" dirty="0"/>
              <a:t>装配图草图，更改后再复核计算合格才行。</a:t>
            </a:r>
          </a:p>
          <a:p>
            <a:r>
              <a:rPr lang="zh-CN" altLang="en-US" sz="2000" dirty="0"/>
              <a:t>因此，在完成草图后进行计算校核，必要时完成说明书的核心</a:t>
            </a:r>
            <a:r>
              <a:rPr lang="zh-CN" altLang="en-US" sz="2000" dirty="0" smtClean="0"/>
              <a:t>内容计算或全部内容。</a:t>
            </a:r>
            <a:endParaRPr lang="zh-CN" altLang="en-US" sz="2000" dirty="0"/>
          </a:p>
          <a:p>
            <a:r>
              <a:rPr lang="zh-CN" altLang="en-US" sz="2000" dirty="0"/>
              <a:t>设计说明书参照第七章</a:t>
            </a:r>
            <a:r>
              <a:rPr lang="en-US" sz="2000" dirty="0"/>
              <a:t>P148,</a:t>
            </a:r>
            <a:r>
              <a:rPr lang="zh-CN" altLang="en-US" sz="2000" dirty="0"/>
              <a:t>说明书内容</a:t>
            </a:r>
          </a:p>
          <a:p>
            <a:endParaRPr lang="zh-CN" alt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7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设计与计算（设计计算说明书</a:t>
            </a:r>
            <a:r>
              <a:rPr lang="zh-CN" altLang="en-US" sz="3600" b="1" dirty="0" smtClean="0">
                <a:sym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buNone/>
            </a:pPr>
            <a:r>
              <a:rPr lang="zh-CN" altLang="en-US" sz="2400" dirty="0" smtClean="0"/>
              <a:t>（</a:t>
            </a:r>
            <a:r>
              <a:rPr lang="en-US" altLang="zh-CN" sz="2400" dirty="0" smtClean="0"/>
              <a:t>1</a:t>
            </a:r>
            <a:r>
              <a:rPr lang="zh-CN" altLang="en-US" sz="2400" dirty="0" smtClean="0"/>
              <a:t>）、前言</a:t>
            </a:r>
            <a:r>
              <a:rPr lang="en-US" altLang="zh-CN" sz="2400" dirty="0"/>
              <a:t>——</a:t>
            </a:r>
            <a:r>
              <a:rPr lang="zh-CN" altLang="en-US" sz="2400" dirty="0"/>
              <a:t>传动方案的拟定</a:t>
            </a:r>
          </a:p>
          <a:p>
            <a:pPr lvl="1"/>
            <a:r>
              <a:rPr lang="zh-CN" altLang="en-US" sz="2000" dirty="0"/>
              <a:t>本次设计，技术方案，即减速器的传动和结构方案都已经给定，故以论述所采用技术方案的合理性以及该方案的特点、应用场合上进行论述。</a:t>
            </a:r>
          </a:p>
          <a:p>
            <a:pPr lvl="1"/>
            <a:r>
              <a:rPr lang="zh-CN" altLang="en-US" sz="2000" dirty="0"/>
              <a:t>主要依据：第</a:t>
            </a:r>
            <a:r>
              <a:rPr lang="en-US" sz="2000" dirty="0"/>
              <a:t>2</a:t>
            </a:r>
            <a:r>
              <a:rPr lang="zh-CN" altLang="en-US" sz="2000" dirty="0"/>
              <a:t>章第</a:t>
            </a:r>
            <a:r>
              <a:rPr lang="en-US" sz="2000" dirty="0"/>
              <a:t>1</a:t>
            </a:r>
            <a:r>
              <a:rPr lang="zh-CN" altLang="en-US" sz="2000" dirty="0"/>
              <a:t>节，重点</a:t>
            </a:r>
            <a:r>
              <a:rPr lang="en-US" sz="2000" dirty="0"/>
              <a:t>P10(1-11)</a:t>
            </a:r>
            <a:r>
              <a:rPr lang="zh-CN" altLang="en-US" sz="2000" dirty="0"/>
              <a:t>及表</a:t>
            </a:r>
            <a:r>
              <a:rPr lang="en-US" sz="2000" dirty="0"/>
              <a:t>2-1</a:t>
            </a:r>
            <a:r>
              <a:rPr lang="zh-CN" altLang="en-US" sz="2000" dirty="0"/>
              <a:t>、</a:t>
            </a:r>
            <a:r>
              <a:rPr lang="en-US" sz="2000" dirty="0"/>
              <a:t>2-2</a:t>
            </a:r>
            <a:r>
              <a:rPr lang="zh-CN" altLang="en-US" sz="2000" dirty="0"/>
              <a:t>、</a:t>
            </a:r>
            <a:r>
              <a:rPr lang="en-US" sz="2000" dirty="0"/>
              <a:t>2-3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r>
              <a:rPr lang="zh-CN" altLang="en-US" sz="2400" dirty="0" smtClean="0">
                <a:latin typeface="华文隶书" panose="02010800040101010101" pitchFamily="2" charset="-122"/>
                <a:ea typeface="华文隶书" panose="02010800040101010101" pitchFamily="2" charset="-122"/>
              </a:rPr>
              <a:t>从今后毕业设计或其它设计计算书撰写，分开比较合适。前后谈设计的市场前景必要性和目标要求及设计依据内容；技术方案则针对设计要求分析各部分的传动和结构形式。</a:t>
            </a:r>
            <a:endParaRPr lang="zh-CN" altLang="en-US" sz="24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  <a:p>
            <a:endParaRPr lang="zh-CN" altLang="en-US" sz="2400" dirty="0"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7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设计与计算（设计计算说明书</a:t>
            </a:r>
            <a:r>
              <a:rPr lang="zh-CN" altLang="en-US" sz="3600" b="1" dirty="0" smtClean="0">
                <a:sym typeface="+mn-ea"/>
              </a:rPr>
              <a:t>）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）电动机</a:t>
            </a:r>
            <a:r>
              <a:rPr lang="zh-CN" altLang="en-US" sz="2800" dirty="0"/>
              <a:t>的选择（传动系统的运动学和动力学计算）</a:t>
            </a:r>
          </a:p>
          <a:p>
            <a:pPr lvl="1"/>
            <a:r>
              <a:rPr lang="zh-CN" altLang="en-US" sz="2400" dirty="0" smtClean="0"/>
              <a:t>电动机</a:t>
            </a:r>
            <a:r>
              <a:rPr lang="en-US" altLang="zh-CN" sz="2400" dirty="0" smtClean="0"/>
              <a:t>P333——</a:t>
            </a:r>
            <a:r>
              <a:rPr lang="zh-CN" altLang="en-US" sz="2400" dirty="0"/>
              <a:t>减速器</a:t>
            </a:r>
            <a:r>
              <a:rPr lang="en-US" altLang="zh-CN" sz="2400" dirty="0"/>
              <a:t>——</a:t>
            </a:r>
            <a:r>
              <a:rPr lang="zh-CN" altLang="en-US" sz="2400" dirty="0"/>
              <a:t>输出（执行机构：输送带、卷筒、卷扬机等）</a:t>
            </a:r>
          </a:p>
          <a:p>
            <a:pPr lvl="1"/>
            <a:r>
              <a:rPr lang="zh-CN" altLang="en-US" sz="2400" dirty="0"/>
              <a:t>数据来源：原始数据：负载（输出）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7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设计与计算（设计计算说明书</a:t>
            </a:r>
            <a:r>
              <a:rPr lang="zh-CN" altLang="en-US" sz="3600" b="1" dirty="0" smtClean="0">
                <a:sym typeface="+mn-ea"/>
              </a:rPr>
              <a:t>）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3</a:t>
            </a:r>
            <a:r>
              <a:rPr lang="zh-CN" altLang="en-US" sz="2800" dirty="0" smtClean="0"/>
              <a:t>）传动</a:t>
            </a:r>
            <a:r>
              <a:rPr lang="zh-CN" altLang="en-US" sz="2800" dirty="0"/>
              <a:t>零件（齿轮）的设计计算（课程设计</a:t>
            </a:r>
            <a:r>
              <a:rPr lang="en-US" sz="2800" dirty="0"/>
              <a:t>P19-25</a:t>
            </a:r>
            <a:r>
              <a:rPr lang="zh-CN" altLang="en-US" sz="2800" dirty="0"/>
              <a:t>）</a:t>
            </a:r>
          </a:p>
          <a:p>
            <a:pPr lvl="1"/>
            <a:r>
              <a:rPr lang="en-US" sz="2400" dirty="0"/>
              <a:t>1</a:t>
            </a:r>
            <a:r>
              <a:rPr lang="zh-CN" altLang="en-US" sz="2400" dirty="0"/>
              <a:t>）材料</a:t>
            </a:r>
            <a:r>
              <a:rPr lang="en-US" sz="2400" dirty="0"/>
              <a:t>45</a:t>
            </a:r>
            <a:r>
              <a:rPr lang="zh-CN" altLang="en-US" sz="2400" dirty="0"/>
              <a:t>、</a:t>
            </a:r>
            <a:r>
              <a:rPr lang="en-US" sz="2400" dirty="0"/>
              <a:t>20Cr</a:t>
            </a:r>
            <a:r>
              <a:rPr lang="zh-CN" altLang="en-US" sz="2400" dirty="0"/>
              <a:t>、</a:t>
            </a:r>
            <a:r>
              <a:rPr lang="en-US" sz="2400" dirty="0"/>
              <a:t>40Cr</a:t>
            </a:r>
            <a:endParaRPr lang="zh-CN" altLang="en-US" sz="2400" dirty="0"/>
          </a:p>
          <a:p>
            <a:pPr lvl="1"/>
            <a:r>
              <a:rPr lang="en-US" sz="2400" dirty="0"/>
              <a:t>2</a:t>
            </a:r>
            <a:r>
              <a:rPr lang="zh-CN" altLang="en-US" sz="2400" dirty="0"/>
              <a:t>）受力图（教材例）</a:t>
            </a:r>
          </a:p>
          <a:p>
            <a:pPr lvl="1"/>
            <a:r>
              <a:rPr lang="en-US" sz="2400" dirty="0"/>
              <a:t>3</a:t>
            </a:r>
            <a:r>
              <a:rPr lang="zh-CN" altLang="en-US" sz="2400" dirty="0"/>
              <a:t>）计算（教材例）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7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设计与计算（设计计算说明书</a:t>
            </a:r>
            <a:r>
              <a:rPr lang="zh-CN" altLang="en-US" sz="3600" b="1" dirty="0" smtClean="0">
                <a:sym typeface="+mn-ea"/>
              </a:rPr>
              <a:t>）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4</a:t>
            </a:r>
            <a:r>
              <a:rPr lang="zh-CN" altLang="en-US" sz="2800" dirty="0"/>
              <a:t>）</a:t>
            </a:r>
            <a:r>
              <a:rPr lang="zh-CN" altLang="en-US" sz="2800" dirty="0" smtClean="0"/>
              <a:t>轴</a:t>
            </a:r>
            <a:r>
              <a:rPr lang="zh-CN" altLang="en-US" sz="2800" dirty="0"/>
              <a:t>的设计计算及校核</a:t>
            </a:r>
          </a:p>
          <a:p>
            <a:pPr lvl="1"/>
            <a:r>
              <a:rPr lang="en-US" sz="2400" dirty="0"/>
              <a:t>1</a:t>
            </a:r>
            <a:r>
              <a:rPr lang="zh-CN" altLang="en-US" sz="2400" dirty="0"/>
              <a:t>）材料</a:t>
            </a:r>
            <a:r>
              <a:rPr lang="en-US" sz="2400" dirty="0"/>
              <a:t>45</a:t>
            </a:r>
            <a:r>
              <a:rPr lang="zh-CN" altLang="en-US" sz="2400" dirty="0"/>
              <a:t>、</a:t>
            </a:r>
            <a:r>
              <a:rPr lang="en-US" sz="2400" dirty="0"/>
              <a:t>20Cr</a:t>
            </a:r>
            <a:r>
              <a:rPr lang="zh-CN" altLang="en-US" sz="2400" dirty="0"/>
              <a:t>、</a:t>
            </a:r>
            <a:r>
              <a:rPr lang="en-US" sz="2400" dirty="0"/>
              <a:t>40Cr</a:t>
            </a:r>
            <a:endParaRPr lang="zh-CN" altLang="en-US" sz="2400" dirty="0"/>
          </a:p>
          <a:p>
            <a:pPr lvl="1"/>
            <a:r>
              <a:rPr lang="en-US" sz="2400" dirty="0"/>
              <a:t>2</a:t>
            </a:r>
            <a:r>
              <a:rPr lang="zh-CN" altLang="en-US" sz="2400" dirty="0"/>
              <a:t>）受力图（教材例）</a:t>
            </a:r>
          </a:p>
          <a:p>
            <a:pPr lvl="1"/>
            <a:r>
              <a:rPr lang="en-US" sz="2400" dirty="0"/>
              <a:t>3</a:t>
            </a:r>
            <a:r>
              <a:rPr lang="zh-CN" altLang="en-US" sz="2400" dirty="0"/>
              <a:t>）计算（教材例）</a:t>
            </a:r>
          </a:p>
          <a:p>
            <a:pPr lvl="1"/>
            <a:endParaRPr lang="zh-CN" alt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7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设计与计算（设计计算说明书</a:t>
            </a:r>
            <a:r>
              <a:rPr lang="zh-CN" altLang="en-US" sz="3600" b="1" dirty="0" smtClean="0">
                <a:sym typeface="+mn-ea"/>
              </a:rPr>
              <a:t>）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5</a:t>
            </a:r>
            <a:r>
              <a:rPr lang="zh-CN" altLang="en-US" sz="2800" dirty="0" smtClean="0"/>
              <a:t>）轴承</a:t>
            </a:r>
            <a:r>
              <a:rPr lang="zh-CN" altLang="en-US" sz="2800" dirty="0"/>
              <a:t>的选择和计算</a:t>
            </a:r>
          </a:p>
          <a:p>
            <a:pPr lvl="1"/>
            <a:r>
              <a:rPr lang="en-US" sz="2400" dirty="0"/>
              <a:t>1</a:t>
            </a:r>
            <a:r>
              <a:rPr lang="zh-CN" altLang="en-US" sz="2400" dirty="0"/>
              <a:t>）轴承的选择（教材例）</a:t>
            </a:r>
          </a:p>
          <a:p>
            <a:pPr lvl="1"/>
            <a:r>
              <a:rPr lang="en-US" sz="2400" dirty="0"/>
              <a:t>2</a:t>
            </a:r>
            <a:r>
              <a:rPr lang="zh-CN" altLang="en-US" sz="2400" dirty="0"/>
              <a:t>）轴承寿命的计算（教材例）</a:t>
            </a:r>
          </a:p>
          <a:p>
            <a:pPr lvl="1"/>
            <a:endParaRPr lang="zh-CN" alt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7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设计与计算（设计计算说明书</a:t>
            </a:r>
            <a:r>
              <a:rPr lang="zh-CN" altLang="en-US" sz="3600" b="1" dirty="0" smtClean="0">
                <a:sym typeface="+mn-ea"/>
              </a:rPr>
              <a:t>）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6</a:t>
            </a:r>
            <a:r>
              <a:rPr lang="zh-CN" altLang="en-US" sz="2800" dirty="0" smtClean="0"/>
              <a:t>）键联接</a:t>
            </a:r>
            <a:r>
              <a:rPr lang="zh-CN" altLang="en-US" sz="2800" dirty="0"/>
              <a:t>的选择和校核</a:t>
            </a:r>
          </a:p>
          <a:p>
            <a:pPr lvl="1"/>
            <a:r>
              <a:rPr lang="en-US" sz="2400" dirty="0"/>
              <a:t>1</a:t>
            </a:r>
            <a:r>
              <a:rPr lang="zh-CN" altLang="en-US" sz="2400" dirty="0"/>
              <a:t>）键的选择（教材例）</a:t>
            </a:r>
          </a:p>
          <a:p>
            <a:pPr lvl="1"/>
            <a:r>
              <a:rPr lang="en-US" sz="2400" dirty="0"/>
              <a:t>2</a:t>
            </a:r>
            <a:r>
              <a:rPr lang="zh-CN" altLang="en-US" sz="2400" dirty="0"/>
              <a:t>）键的强度校核（教材例）</a:t>
            </a:r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7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设计与计算（设计计算说明书</a:t>
            </a:r>
            <a:r>
              <a:rPr lang="zh-CN" altLang="en-US" sz="3600" b="1" dirty="0" smtClean="0">
                <a:sym typeface="+mn-ea"/>
              </a:rPr>
              <a:t>）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7</a:t>
            </a:r>
            <a:r>
              <a:rPr lang="zh-CN" altLang="en-US" sz="2800" dirty="0" smtClean="0"/>
              <a:t>）联轴器</a:t>
            </a:r>
            <a:r>
              <a:rPr lang="zh-CN" altLang="en-US" sz="2800" dirty="0"/>
              <a:t>的选择和校核</a:t>
            </a:r>
          </a:p>
          <a:p>
            <a:pPr lvl="1"/>
            <a:r>
              <a:rPr lang="en-US" sz="2330" dirty="0"/>
              <a:t>1</a:t>
            </a:r>
            <a:r>
              <a:rPr lang="zh-CN" altLang="en-US" sz="2330" dirty="0"/>
              <a:t>）键的选择（教材例）</a:t>
            </a:r>
          </a:p>
          <a:p>
            <a:pPr lvl="1"/>
            <a:r>
              <a:rPr lang="en-US" sz="2330" dirty="0"/>
              <a:t>2</a:t>
            </a:r>
            <a:r>
              <a:rPr lang="zh-CN" altLang="en-US" sz="2330" dirty="0"/>
              <a:t>）键的强度校核（教材例）</a:t>
            </a:r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7</a:t>
            </a:r>
            <a:r>
              <a:rPr lang="zh-CN" altLang="en-US" sz="3600" b="1" dirty="0" smtClean="0">
                <a:sym typeface="+mn-ea"/>
              </a:rPr>
              <a:t>、</a:t>
            </a:r>
            <a:r>
              <a:rPr lang="zh-CN" altLang="en-US" sz="3600" b="1" dirty="0">
                <a:sym typeface="+mn-ea"/>
              </a:rPr>
              <a:t>设计与计算（设计计算说明书</a:t>
            </a:r>
            <a:r>
              <a:rPr lang="zh-CN" altLang="en-US" sz="3600" b="1" dirty="0" smtClean="0">
                <a:sym typeface="+mn-ea"/>
              </a:rPr>
              <a:t>）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8</a:t>
            </a:r>
            <a:r>
              <a:rPr lang="zh-CN" altLang="en-US" sz="2800" dirty="0" smtClean="0"/>
              <a:t>）箱体</a:t>
            </a:r>
            <a:r>
              <a:rPr lang="zh-CN" altLang="en-US" sz="2800" dirty="0"/>
              <a:t>的设计（主要结构尺寸的设计计算及必要的说明）</a:t>
            </a:r>
          </a:p>
          <a:p>
            <a:pPr lvl="0"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9</a:t>
            </a:r>
            <a:r>
              <a:rPr lang="zh-CN" altLang="en-US" sz="2800" dirty="0" smtClean="0"/>
              <a:t>）润滑</a:t>
            </a:r>
            <a:r>
              <a:rPr lang="zh-CN" altLang="en-US" sz="2800" dirty="0"/>
              <a:t>和密封的选择，润滑油牌号及装油量计算</a:t>
            </a:r>
          </a:p>
          <a:p>
            <a:pPr lvl="0"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10</a:t>
            </a:r>
            <a:r>
              <a:rPr lang="zh-CN" altLang="en-US" sz="2800" dirty="0" smtClean="0"/>
              <a:t>）减速器</a:t>
            </a:r>
            <a:r>
              <a:rPr lang="zh-CN" altLang="en-US" sz="2800" dirty="0"/>
              <a:t>的附件及</a:t>
            </a:r>
            <a:r>
              <a:rPr lang="zh-CN" altLang="en-US" sz="2800" dirty="0" smtClean="0"/>
              <a:t>说明</a:t>
            </a:r>
            <a:endParaRPr lang="en-US" altLang="zh-CN" sz="2800" dirty="0" smtClean="0"/>
          </a:p>
          <a:p>
            <a:pPr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11</a:t>
            </a:r>
            <a:r>
              <a:rPr lang="zh-CN" altLang="en-US" sz="2800" dirty="0" smtClean="0"/>
              <a:t>）设计小结</a:t>
            </a:r>
            <a:endParaRPr lang="en-US" altLang="zh-CN" sz="2800" dirty="0" smtClean="0"/>
          </a:p>
          <a:p>
            <a:pPr>
              <a:buNone/>
            </a:pPr>
            <a:r>
              <a:rPr lang="zh-CN" altLang="en-US" sz="2800" dirty="0" smtClean="0"/>
              <a:t>（</a:t>
            </a:r>
            <a:r>
              <a:rPr lang="en-US" altLang="zh-CN" sz="2800" dirty="0" smtClean="0"/>
              <a:t>12</a:t>
            </a:r>
            <a:r>
              <a:rPr lang="zh-CN" altLang="en-US" sz="2800" dirty="0" smtClean="0"/>
              <a:t>）参考</a:t>
            </a:r>
            <a:r>
              <a:rPr lang="zh-CN" altLang="en-US" sz="2800" dirty="0"/>
              <a:t>文献</a:t>
            </a:r>
          </a:p>
          <a:p>
            <a:endParaRPr lang="zh-CN" altLang="en-US" sz="2800" dirty="0"/>
          </a:p>
          <a:p>
            <a:pPr lvl="0"/>
            <a:endParaRPr lang="zh-CN" alt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/>
              <a:t>8</a:t>
            </a:r>
            <a:r>
              <a:rPr lang="zh-CN" altLang="en-US" sz="3600" b="1" dirty="0" smtClean="0"/>
              <a:t>、课程设计题目讨论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 smtClean="0"/>
              <a:t>两级展开（同轴、分流）式圆柱齿轮减速器设计</a:t>
            </a:r>
            <a:endParaRPr lang="en-US" altLang="zh-CN" sz="2800" dirty="0" smtClean="0"/>
          </a:p>
          <a:p>
            <a:r>
              <a:rPr lang="zh-CN" altLang="en-US" sz="2800" dirty="0" smtClean="0"/>
              <a:t>胶带输送机（卷扬机）滚筒</a:t>
            </a:r>
            <a:r>
              <a:rPr lang="zh-CN" altLang="en-US" sz="2800" dirty="0" smtClean="0">
                <a:solidFill>
                  <a:srgbClr val="FF0000"/>
                </a:solidFill>
              </a:rPr>
              <a:t>传动装置</a:t>
            </a:r>
            <a:r>
              <a:rPr lang="zh-CN" altLang="en-US" sz="2800" dirty="0" smtClean="0"/>
              <a:t>设计</a:t>
            </a:r>
            <a:endParaRPr lang="en-US" altLang="zh-CN" sz="2800" dirty="0" smtClean="0"/>
          </a:p>
          <a:p>
            <a:r>
              <a:rPr lang="zh-CN" altLang="en-US" sz="2800" dirty="0" smtClean="0"/>
              <a:t>胶带输送机滚筒两级展开式圆柱</a:t>
            </a:r>
            <a:r>
              <a:rPr lang="zh-CN" altLang="en-US" sz="2800" dirty="0" smtClean="0">
                <a:solidFill>
                  <a:srgbClr val="7030A0"/>
                </a:solidFill>
              </a:rPr>
              <a:t>减速器</a:t>
            </a:r>
            <a:r>
              <a:rPr lang="zh-CN" altLang="en-US" sz="2800" dirty="0" smtClean="0"/>
              <a:t>设计</a:t>
            </a:r>
            <a:endParaRPr lang="en-US" altLang="zh-CN" sz="2800" dirty="0" smtClean="0"/>
          </a:p>
          <a:p>
            <a:r>
              <a:rPr lang="zh-CN" altLang="en-US" sz="2800" dirty="0" smtClean="0"/>
              <a:t>胶带输送机滚筒两级展开式圆柱</a:t>
            </a:r>
            <a:r>
              <a:rPr lang="zh-CN" altLang="en-US" sz="2800" dirty="0" smtClean="0">
                <a:solidFill>
                  <a:srgbClr val="0070C0"/>
                </a:solidFill>
              </a:rPr>
              <a:t>变速器</a:t>
            </a:r>
            <a:r>
              <a:rPr lang="zh-CN" altLang="en-US" sz="2800" dirty="0" smtClean="0"/>
              <a:t>设计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endParaRPr lang="en-US" altLang="zh-CN" sz="2800" dirty="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b="1" dirty="0" smtClean="0">
                <a:sym typeface="+mn-ea"/>
              </a:rPr>
              <a:t>8</a:t>
            </a:r>
            <a:r>
              <a:rPr lang="zh-CN" altLang="en-US" sz="3600" b="1" dirty="0" smtClean="0">
                <a:sym typeface="+mn-ea"/>
              </a:rPr>
              <a:t>、课程设计题目讨论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 smtClean="0"/>
              <a:t>1700N</a:t>
            </a:r>
            <a:r>
              <a:rPr lang="zh-CN" altLang="en-US" sz="2800" dirty="0" smtClean="0"/>
              <a:t>胶带输送机滚筒两级展开式圆柱</a:t>
            </a:r>
            <a:r>
              <a:rPr lang="zh-CN" altLang="en-US" sz="2800" dirty="0" smtClean="0">
                <a:solidFill>
                  <a:srgbClr val="7030A0"/>
                </a:solidFill>
              </a:rPr>
              <a:t>减速器</a:t>
            </a:r>
            <a:r>
              <a:rPr lang="zh-CN" altLang="en-US" sz="2800" dirty="0" smtClean="0"/>
              <a:t>设计</a:t>
            </a:r>
            <a:endParaRPr lang="en-US" altLang="zh-CN" sz="2800" dirty="0" smtClean="0"/>
          </a:p>
          <a:p>
            <a:r>
              <a:rPr lang="en-US" altLang="zh-CN" sz="2800" dirty="0" smtClean="0"/>
              <a:t>4kw</a:t>
            </a:r>
            <a:r>
              <a:rPr lang="zh-CN" altLang="en-US" sz="2800" dirty="0" smtClean="0"/>
              <a:t>卷扬机滚筒两级展开式圆柱</a:t>
            </a:r>
            <a:r>
              <a:rPr lang="zh-CN" altLang="en-US" sz="2800" dirty="0" smtClean="0">
                <a:solidFill>
                  <a:srgbClr val="7030A0"/>
                </a:solidFill>
              </a:rPr>
              <a:t>减速器</a:t>
            </a:r>
            <a:r>
              <a:rPr lang="zh-CN" altLang="en-US" sz="2800" dirty="0" smtClean="0"/>
              <a:t>设计</a:t>
            </a:r>
            <a:endParaRPr lang="en-US" altLang="zh-CN" sz="2800" dirty="0" smtClean="0"/>
          </a:p>
          <a:p>
            <a:endParaRPr lang="en-US" altLang="zh-CN" sz="2800" dirty="0" smtClean="0"/>
          </a:p>
          <a:p>
            <a:r>
              <a:rPr lang="en-US" altLang="zh-CN" sz="2800" dirty="0" smtClean="0"/>
              <a:t>Ⅰ01</a:t>
            </a:r>
            <a:r>
              <a:rPr lang="zh-CN" altLang="en-US" sz="2800" dirty="0" smtClean="0"/>
              <a:t>胶带输送机滚筒两级展开式圆柱</a:t>
            </a:r>
            <a:r>
              <a:rPr lang="zh-CN" altLang="en-US" sz="2800" dirty="0" smtClean="0">
                <a:solidFill>
                  <a:srgbClr val="7030A0"/>
                </a:solidFill>
              </a:rPr>
              <a:t>减速器</a:t>
            </a:r>
            <a:r>
              <a:rPr lang="zh-CN" altLang="en-US" sz="2800" dirty="0" smtClean="0"/>
              <a:t>设计</a:t>
            </a:r>
            <a:endParaRPr lang="en-US" altLang="zh-CN" sz="2800" dirty="0" smtClean="0"/>
          </a:p>
          <a:p>
            <a:r>
              <a:rPr lang="en-US" altLang="zh-CN" sz="2800" dirty="0" smtClean="0"/>
              <a:t>Ⅲ02</a:t>
            </a:r>
            <a:r>
              <a:rPr lang="zh-CN" altLang="en-US" sz="2800" dirty="0" smtClean="0"/>
              <a:t>卷扬机滚筒两级展开式圆柱</a:t>
            </a:r>
            <a:r>
              <a:rPr lang="zh-CN" altLang="en-US" sz="2800" dirty="0" smtClean="0">
                <a:solidFill>
                  <a:srgbClr val="7030A0"/>
                </a:solidFill>
              </a:rPr>
              <a:t>减速器</a:t>
            </a:r>
            <a:r>
              <a:rPr lang="zh-CN" altLang="en-US" sz="2800" dirty="0" smtClean="0"/>
              <a:t>设计</a:t>
            </a:r>
            <a:endParaRPr lang="en-US" altLang="zh-CN" sz="2800" dirty="0" smtClean="0"/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 smtClean="0"/>
              <a:t>参考文献要求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 </a:t>
            </a:r>
            <a:r>
              <a:rPr lang="zh-CN" altLang="en-US" sz="2400" dirty="0" smtClean="0"/>
              <a:t>书籍</a:t>
            </a:r>
            <a:endParaRPr lang="en-US" sz="2400" dirty="0" smtClean="0"/>
          </a:p>
          <a:p>
            <a:r>
              <a:rPr lang="en-US" sz="2000" dirty="0" smtClean="0"/>
              <a:t>[</a:t>
            </a:r>
            <a:r>
              <a:rPr lang="en-US" sz="2000" dirty="0"/>
              <a:t>1] </a:t>
            </a:r>
            <a:r>
              <a:rPr lang="zh-CN" altLang="en-US" sz="2000" dirty="0"/>
              <a:t>张锡</a:t>
            </a:r>
            <a:r>
              <a:rPr lang="en-US" sz="2000" dirty="0"/>
              <a:t>.</a:t>
            </a:r>
            <a:r>
              <a:rPr lang="zh-CN" altLang="en-US" sz="2000" dirty="0"/>
              <a:t>设计材料与加工工艺</a:t>
            </a:r>
            <a:r>
              <a:rPr lang="en-US" sz="2000" dirty="0"/>
              <a:t>[M].</a:t>
            </a:r>
            <a:r>
              <a:rPr lang="zh-CN" altLang="en-US" sz="2000" dirty="0"/>
              <a:t>北京</a:t>
            </a:r>
            <a:r>
              <a:rPr lang="en-US" sz="2000" dirty="0"/>
              <a:t>:</a:t>
            </a:r>
            <a:r>
              <a:rPr lang="zh-CN" altLang="en-US" sz="2000" dirty="0"/>
              <a:t>化学工业出版社</a:t>
            </a:r>
            <a:r>
              <a:rPr lang="en-US" sz="2000" dirty="0"/>
              <a:t>,2014.</a:t>
            </a:r>
            <a:endParaRPr lang="zh-CN" altLang="en-US" sz="2000" dirty="0"/>
          </a:p>
          <a:p>
            <a:r>
              <a:rPr lang="en-US" sz="2000" dirty="0"/>
              <a:t>[2] </a:t>
            </a:r>
            <a:r>
              <a:rPr lang="zh-CN" altLang="en-US" sz="2000" dirty="0"/>
              <a:t>徐人平</a:t>
            </a:r>
            <a:r>
              <a:rPr lang="en-US" sz="2000" dirty="0"/>
              <a:t>,</a:t>
            </a:r>
            <a:r>
              <a:rPr lang="zh-CN" altLang="en-US" sz="2000" dirty="0"/>
              <a:t>设计管理</a:t>
            </a:r>
            <a:r>
              <a:rPr lang="en-US" sz="2000" dirty="0"/>
              <a:t>[M].</a:t>
            </a:r>
            <a:r>
              <a:rPr lang="zh-CN" altLang="en-US" sz="2000" dirty="0"/>
              <a:t>北京</a:t>
            </a:r>
            <a:r>
              <a:rPr lang="en-US" sz="2000" dirty="0"/>
              <a:t>:</a:t>
            </a:r>
            <a:r>
              <a:rPr lang="zh-CN" altLang="en-US" sz="2000" dirty="0"/>
              <a:t>化学工业出版社</a:t>
            </a:r>
            <a:r>
              <a:rPr lang="en-US" sz="2000" dirty="0"/>
              <a:t>, 2009. </a:t>
            </a:r>
            <a:endParaRPr lang="zh-CN" altLang="en-US" sz="2400" dirty="0"/>
          </a:p>
          <a:p>
            <a:r>
              <a:rPr lang="zh-CN" altLang="en-US" sz="2400" dirty="0" smtClean="0"/>
              <a:t>作者</a:t>
            </a:r>
            <a:r>
              <a:rPr lang="en-US" sz="2400" dirty="0"/>
              <a:t>,</a:t>
            </a:r>
            <a:r>
              <a:rPr lang="zh-CN" altLang="en-US" sz="2400" dirty="0"/>
              <a:t>作者</a:t>
            </a:r>
            <a:r>
              <a:rPr lang="en-US" sz="2400" dirty="0"/>
              <a:t>(</a:t>
            </a:r>
            <a:r>
              <a:rPr lang="zh-CN" altLang="en-US" sz="2400" dirty="0"/>
              <a:t>三人以上后加等</a:t>
            </a:r>
            <a:r>
              <a:rPr lang="en-US" sz="2400" dirty="0"/>
              <a:t>,</a:t>
            </a:r>
            <a:r>
              <a:rPr lang="zh-CN" altLang="en-US" sz="2400" dirty="0"/>
              <a:t>三人及以下不加等</a:t>
            </a:r>
            <a:r>
              <a:rPr lang="en-US" sz="2400" dirty="0"/>
              <a:t>),</a:t>
            </a:r>
            <a:r>
              <a:rPr lang="zh-CN" altLang="en-US" sz="2400" dirty="0"/>
              <a:t>等</a:t>
            </a:r>
            <a:r>
              <a:rPr lang="en-US" sz="2400" dirty="0"/>
              <a:t>.</a:t>
            </a:r>
            <a:r>
              <a:rPr lang="zh-CN" altLang="en-US" sz="2400" dirty="0"/>
              <a:t>书名</a:t>
            </a:r>
            <a:r>
              <a:rPr lang="en-US" sz="2400" dirty="0"/>
              <a:t>[M].</a:t>
            </a:r>
            <a:r>
              <a:rPr lang="zh-CN" altLang="en-US" sz="2400" dirty="0"/>
              <a:t>地点</a:t>
            </a:r>
            <a:r>
              <a:rPr lang="en-US" sz="2400" dirty="0"/>
              <a:t>:</a:t>
            </a:r>
            <a:r>
              <a:rPr lang="zh-CN" altLang="en-US" sz="2400" dirty="0"/>
              <a:t>出版社</a:t>
            </a:r>
            <a:r>
              <a:rPr lang="en-US" sz="2400" dirty="0"/>
              <a:t>,</a:t>
            </a:r>
            <a:r>
              <a:rPr lang="zh-CN" altLang="en-US" sz="2400" dirty="0"/>
              <a:t>出版年</a:t>
            </a:r>
            <a:r>
              <a:rPr lang="en-US" sz="2400" dirty="0"/>
              <a:t>.</a:t>
            </a:r>
            <a:endParaRPr lang="zh-CN" altLang="en-US" sz="2400" dirty="0"/>
          </a:p>
          <a:p>
            <a:r>
              <a:rPr lang="zh-CN" altLang="en-US" sz="2400" dirty="0"/>
              <a:t>关键</a:t>
            </a:r>
            <a:r>
              <a:rPr lang="en-US" sz="2400" dirty="0"/>
              <a:t>:</a:t>
            </a:r>
            <a:r>
              <a:rPr lang="zh-CN" altLang="en-US" sz="2400" dirty="0"/>
              <a:t>人名后</a:t>
            </a:r>
            <a:r>
              <a:rPr lang="en-US" sz="2400" dirty="0"/>
              <a:t>/</a:t>
            </a:r>
            <a:r>
              <a:rPr lang="zh-CN" altLang="en-US" sz="2400" dirty="0"/>
              <a:t>书名后</a:t>
            </a:r>
            <a:r>
              <a:rPr lang="en-US" sz="2400" dirty="0"/>
              <a:t>/</a:t>
            </a:r>
            <a:r>
              <a:rPr lang="zh-CN" altLang="en-US" sz="2400" dirty="0"/>
              <a:t>最后用</a:t>
            </a:r>
            <a:r>
              <a:rPr lang="en-US" sz="2400" dirty="0"/>
              <a:t>.(</a:t>
            </a:r>
            <a:r>
              <a:rPr lang="zh-CN" altLang="en-US" sz="2400" dirty="0"/>
              <a:t>点</a:t>
            </a:r>
            <a:r>
              <a:rPr lang="en-US" sz="2400" dirty="0"/>
              <a:t>,</a:t>
            </a:r>
            <a:r>
              <a:rPr lang="zh-CN" altLang="en-US" sz="2400" dirty="0"/>
              <a:t>不是句号</a:t>
            </a:r>
            <a:r>
              <a:rPr lang="en-US" sz="2400" dirty="0"/>
              <a:t>);</a:t>
            </a:r>
            <a:r>
              <a:rPr lang="zh-CN" altLang="en-US" sz="2400" dirty="0"/>
              <a:t>人名之间</a:t>
            </a:r>
            <a:r>
              <a:rPr lang="en-US" sz="2400" dirty="0"/>
              <a:t>/</a:t>
            </a:r>
            <a:r>
              <a:rPr lang="zh-CN" altLang="en-US" sz="2400" dirty="0"/>
              <a:t>出版社与出版时间之间用</a:t>
            </a:r>
            <a:r>
              <a:rPr lang="en-US" sz="2400" dirty="0"/>
              <a:t>,(</a:t>
            </a:r>
            <a:r>
              <a:rPr lang="zh-CN" altLang="en-US" sz="2400" dirty="0"/>
              <a:t>逗号</a:t>
            </a:r>
            <a:r>
              <a:rPr lang="en-US" sz="2400" dirty="0"/>
              <a:t>);</a:t>
            </a:r>
            <a:r>
              <a:rPr lang="zh-CN" altLang="en-US" sz="2400" dirty="0"/>
              <a:t>出版地后面用</a:t>
            </a:r>
            <a:r>
              <a:rPr lang="en-US" sz="2400" dirty="0"/>
              <a:t>:(</a:t>
            </a:r>
            <a:r>
              <a:rPr lang="zh-CN" altLang="en-US" sz="2400" dirty="0"/>
              <a:t>冒号</a:t>
            </a:r>
            <a:r>
              <a:rPr lang="en-US" sz="2400" dirty="0"/>
              <a:t>)</a:t>
            </a:r>
            <a:endParaRPr lang="zh-CN" altLang="en-US" sz="2400" dirty="0"/>
          </a:p>
          <a:p>
            <a:endParaRPr lang="zh-CN" alt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 smtClean="0">
                <a:sym typeface="+mn-ea"/>
              </a:rPr>
              <a:t>参考文献要求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zh-CN" altLang="en-US" sz="2800" dirty="0"/>
              <a:t>期刊论文 </a:t>
            </a:r>
          </a:p>
          <a:p>
            <a:r>
              <a:rPr lang="zh-CN" altLang="en-US" sz="2400" dirty="0"/>
              <a:t>作者</a:t>
            </a:r>
            <a:r>
              <a:rPr lang="en-US" sz="2400" dirty="0"/>
              <a:t>,</a:t>
            </a:r>
            <a:r>
              <a:rPr lang="zh-CN" altLang="en-US" sz="2400" dirty="0"/>
              <a:t>作者</a:t>
            </a:r>
            <a:r>
              <a:rPr lang="en-US" sz="2400" dirty="0"/>
              <a:t>,</a:t>
            </a:r>
            <a:r>
              <a:rPr lang="zh-CN" altLang="en-US" sz="2400" dirty="0"/>
              <a:t>等</a:t>
            </a:r>
            <a:r>
              <a:rPr lang="en-US" sz="2400" dirty="0"/>
              <a:t>.</a:t>
            </a:r>
            <a:r>
              <a:rPr lang="zh-CN" altLang="en-US" sz="2400" dirty="0"/>
              <a:t>论文名</a:t>
            </a:r>
            <a:r>
              <a:rPr lang="en-US" sz="2400" dirty="0"/>
              <a:t>[J].</a:t>
            </a:r>
            <a:r>
              <a:rPr lang="zh-CN" altLang="en-US" sz="2400" dirty="0"/>
              <a:t>期刊名</a:t>
            </a:r>
            <a:r>
              <a:rPr lang="en-US" sz="2400" dirty="0"/>
              <a:t>,</a:t>
            </a:r>
            <a:r>
              <a:rPr lang="zh-CN" altLang="en-US" sz="2400" dirty="0"/>
              <a:t>年</a:t>
            </a:r>
            <a:r>
              <a:rPr lang="en-US" sz="2400" dirty="0"/>
              <a:t>,</a:t>
            </a:r>
            <a:r>
              <a:rPr lang="zh-CN" altLang="en-US" sz="2400" dirty="0"/>
              <a:t>卷</a:t>
            </a:r>
            <a:r>
              <a:rPr lang="en-US" sz="2400" dirty="0"/>
              <a:t>(</a:t>
            </a:r>
            <a:r>
              <a:rPr lang="zh-CN" altLang="en-US" sz="2400" dirty="0"/>
              <a:t>期</a:t>
            </a:r>
            <a:r>
              <a:rPr lang="en-US" sz="2400" dirty="0"/>
              <a:t>):</a:t>
            </a:r>
            <a:r>
              <a:rPr lang="zh-CN" altLang="en-US" sz="2400" dirty="0"/>
              <a:t>页码</a:t>
            </a:r>
            <a:r>
              <a:rPr lang="en-US" sz="2400" dirty="0"/>
              <a:t>-</a:t>
            </a:r>
            <a:r>
              <a:rPr lang="zh-CN" altLang="en-US" sz="2400" dirty="0"/>
              <a:t>页码</a:t>
            </a:r>
            <a:r>
              <a:rPr lang="en-US" sz="2400" dirty="0"/>
              <a:t>.</a:t>
            </a:r>
            <a:endParaRPr lang="zh-CN" altLang="en-US" sz="2400" dirty="0"/>
          </a:p>
          <a:p>
            <a:r>
              <a:rPr lang="zh-CN" altLang="en-US" sz="2400" dirty="0"/>
              <a:t>关键</a:t>
            </a:r>
            <a:r>
              <a:rPr lang="en-US" sz="2400" dirty="0"/>
              <a:t>:</a:t>
            </a:r>
            <a:r>
              <a:rPr lang="zh-CN" altLang="en-US" sz="2400" dirty="0"/>
              <a:t>人名后</a:t>
            </a:r>
            <a:r>
              <a:rPr lang="en-US" sz="2400" dirty="0"/>
              <a:t>/</a:t>
            </a:r>
            <a:r>
              <a:rPr lang="zh-CN" altLang="en-US" sz="2400" dirty="0"/>
              <a:t>论文名后</a:t>
            </a:r>
            <a:r>
              <a:rPr lang="en-US" sz="2400" dirty="0"/>
              <a:t>/</a:t>
            </a:r>
            <a:r>
              <a:rPr lang="zh-CN" altLang="en-US" sz="2400" dirty="0"/>
              <a:t>最后用</a:t>
            </a:r>
            <a:r>
              <a:rPr lang="en-US" sz="2400" dirty="0"/>
              <a:t>.(</a:t>
            </a:r>
            <a:r>
              <a:rPr lang="zh-CN" altLang="en-US" sz="2400" dirty="0"/>
              <a:t>点</a:t>
            </a:r>
            <a:r>
              <a:rPr lang="en-US" sz="2400" dirty="0"/>
              <a:t>,</a:t>
            </a:r>
            <a:r>
              <a:rPr lang="zh-CN" altLang="en-US" sz="2400" dirty="0"/>
              <a:t>不是句号</a:t>
            </a:r>
            <a:r>
              <a:rPr lang="en-US" sz="2400" dirty="0"/>
              <a:t>);</a:t>
            </a:r>
            <a:r>
              <a:rPr lang="zh-CN" altLang="en-US" sz="2400" dirty="0"/>
              <a:t>人名之间</a:t>
            </a:r>
            <a:r>
              <a:rPr lang="en-US" sz="2400" dirty="0"/>
              <a:t>/</a:t>
            </a:r>
            <a:r>
              <a:rPr lang="zh-CN" altLang="en-US" sz="2400" dirty="0"/>
              <a:t>期刊名与年与卷间用</a:t>
            </a:r>
            <a:r>
              <a:rPr lang="en-US" sz="2400" dirty="0"/>
              <a:t>,(</a:t>
            </a:r>
            <a:r>
              <a:rPr lang="zh-CN" altLang="en-US" sz="2400" dirty="0"/>
              <a:t>逗号</a:t>
            </a:r>
            <a:r>
              <a:rPr lang="en-US" sz="2400" dirty="0"/>
              <a:t>);</a:t>
            </a:r>
            <a:r>
              <a:rPr lang="zh-CN" altLang="en-US" sz="2400" dirty="0"/>
              <a:t>期后页码前用</a:t>
            </a:r>
            <a:r>
              <a:rPr lang="en-US" sz="2400" dirty="0"/>
              <a:t>:(</a:t>
            </a:r>
            <a:r>
              <a:rPr lang="zh-CN" altLang="en-US" sz="2400" dirty="0"/>
              <a:t>冒号</a:t>
            </a:r>
            <a:r>
              <a:rPr lang="en-US" sz="2400" dirty="0"/>
              <a:t>)</a:t>
            </a:r>
            <a:endParaRPr lang="zh-CN" altLang="en-US" sz="2400" dirty="0"/>
          </a:p>
          <a:p>
            <a:pPr>
              <a:buNone/>
            </a:pPr>
            <a:r>
              <a:rPr lang="zh-CN" altLang="en-US" sz="2800" dirty="0"/>
              <a:t>学位论文</a:t>
            </a:r>
          </a:p>
          <a:p>
            <a:r>
              <a:rPr lang="zh-CN" altLang="en-US" sz="2400" dirty="0"/>
              <a:t>作者</a:t>
            </a:r>
            <a:r>
              <a:rPr lang="en-US" sz="2400" dirty="0"/>
              <a:t>.</a:t>
            </a:r>
            <a:r>
              <a:rPr lang="zh-CN" altLang="en-US" sz="2400" dirty="0"/>
              <a:t>论文名</a:t>
            </a:r>
            <a:r>
              <a:rPr lang="en-US" sz="2400" dirty="0"/>
              <a:t>[D].</a:t>
            </a:r>
            <a:r>
              <a:rPr lang="zh-CN" altLang="en-US" sz="2400" dirty="0"/>
              <a:t>地点</a:t>
            </a:r>
            <a:r>
              <a:rPr lang="en-US" sz="2400" dirty="0"/>
              <a:t>:</a:t>
            </a:r>
            <a:r>
              <a:rPr lang="zh-CN" altLang="en-US" sz="2400" dirty="0"/>
              <a:t>学校</a:t>
            </a:r>
            <a:r>
              <a:rPr lang="en-US" sz="2400" dirty="0"/>
              <a:t>,</a:t>
            </a:r>
            <a:r>
              <a:rPr lang="zh-CN" altLang="en-US" sz="2400" dirty="0"/>
              <a:t>授予学位时间</a:t>
            </a:r>
            <a:r>
              <a:rPr lang="en-US" sz="2400" dirty="0"/>
              <a:t>.</a:t>
            </a:r>
            <a:endParaRPr lang="zh-CN" altLang="en-US" sz="2400" dirty="0"/>
          </a:p>
          <a:p>
            <a:r>
              <a:rPr lang="zh-CN" altLang="en-US" sz="2400" dirty="0"/>
              <a:t>关键</a:t>
            </a:r>
            <a:r>
              <a:rPr lang="en-US" sz="2400" dirty="0"/>
              <a:t>:</a:t>
            </a:r>
            <a:r>
              <a:rPr lang="zh-CN" altLang="en-US" sz="2400" dirty="0"/>
              <a:t>硕士博士作者名</a:t>
            </a:r>
            <a:r>
              <a:rPr lang="en-US" sz="2400" dirty="0"/>
              <a:t>/</a:t>
            </a:r>
            <a:r>
              <a:rPr lang="zh-CN" altLang="en-US" sz="2400" dirty="0"/>
              <a:t>论文名后</a:t>
            </a:r>
            <a:r>
              <a:rPr lang="en-US" sz="2400" dirty="0"/>
              <a:t>/</a:t>
            </a:r>
            <a:r>
              <a:rPr lang="zh-CN" altLang="en-US" sz="2400" dirty="0"/>
              <a:t>最后用</a:t>
            </a:r>
            <a:r>
              <a:rPr lang="en-US" sz="2400" dirty="0"/>
              <a:t>.(</a:t>
            </a:r>
            <a:r>
              <a:rPr lang="zh-CN" altLang="en-US" sz="2400" dirty="0"/>
              <a:t>点</a:t>
            </a:r>
            <a:r>
              <a:rPr lang="en-US" sz="2400" dirty="0"/>
              <a:t>,</a:t>
            </a:r>
            <a:r>
              <a:rPr lang="zh-CN" altLang="en-US" sz="2400" dirty="0"/>
              <a:t>不是句号</a:t>
            </a:r>
            <a:r>
              <a:rPr lang="en-US" sz="2400" dirty="0"/>
              <a:t>);</a:t>
            </a:r>
            <a:r>
              <a:rPr lang="zh-CN" altLang="en-US" sz="2400" dirty="0"/>
              <a:t>地点后用</a:t>
            </a:r>
            <a:r>
              <a:rPr lang="en-US" sz="2400" dirty="0"/>
              <a:t>, (</a:t>
            </a:r>
            <a:r>
              <a:rPr lang="zh-CN" altLang="en-US" sz="2400" dirty="0"/>
              <a:t>冒号</a:t>
            </a:r>
            <a:r>
              <a:rPr lang="en-US" sz="2400" dirty="0"/>
              <a:t>),</a:t>
            </a:r>
            <a:r>
              <a:rPr lang="zh-CN" altLang="en-US" sz="2400" dirty="0"/>
              <a:t>学校后</a:t>
            </a:r>
            <a:r>
              <a:rPr lang="en-US" sz="2400" dirty="0"/>
              <a:t>,(</a:t>
            </a:r>
            <a:r>
              <a:rPr lang="zh-CN" altLang="en-US" sz="2400" dirty="0"/>
              <a:t>逗号</a:t>
            </a:r>
            <a:r>
              <a:rPr lang="en-US" sz="2400" dirty="0"/>
              <a:t>)</a:t>
            </a:r>
            <a:endParaRPr lang="zh-CN" altLang="en-US" sz="2400" dirty="0"/>
          </a:p>
          <a:p>
            <a:r>
              <a:rPr lang="en-US" sz="2800" dirty="0"/>
              <a:t> </a:t>
            </a:r>
            <a:endParaRPr lang="zh-CN" altLang="en-US" sz="2800" dirty="0"/>
          </a:p>
          <a:p>
            <a:endParaRPr lang="zh-CN" altLang="en-US" sz="2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 smtClean="0"/>
              <a:t>装订要求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/>
              <a:t>设计计算书在前面增加</a:t>
            </a:r>
          </a:p>
          <a:p>
            <a:r>
              <a:rPr lang="zh-CN" altLang="en-US" sz="2800" dirty="0" smtClean="0"/>
              <a:t>目录</a:t>
            </a:r>
            <a:endParaRPr lang="zh-CN" altLang="en-US" sz="2800" dirty="0"/>
          </a:p>
          <a:p>
            <a:r>
              <a:rPr lang="zh-CN" altLang="en-US" sz="2800" dirty="0" smtClean="0"/>
              <a:t>设计任务书</a:t>
            </a:r>
          </a:p>
          <a:p>
            <a:pPr>
              <a:buNone/>
            </a:pPr>
            <a:endParaRPr lang="zh-CN" altLang="en-US" sz="2800" dirty="0" smtClean="0"/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jZiYWQ0ODVjMDdlMTc0YjdjMTUxY2YwMWY1OWE0Nj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161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161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COMBINE_RELATE_SLIDE_ID" val="background20180934_1"/>
  <p:tag name="KSO_WM_TEMPLATE_SUBCATEGORY" val="0"/>
  <p:tag name="KSO_WM_TEMPLATE_THUMBS_INDEX" val="1、6、12、13、21、22、25、26"/>
  <p:tag name="KSO_WM_TAG_VERSION" val="1.0"/>
  <p:tag name="KSO_WM_BEAUTIFY_FLAG" val="#wm#"/>
  <p:tag name="KSO_WM_TEMPLATE_CATEGORY" val="custom"/>
  <p:tag name="KSO_WM_TEMPLATE_INDEX" val="20181613"/>
  <p:tag name="KSO_WM_TEMPLATE_MASTER_TYPE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_13*l_h_i*1_1_1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_13*l_h_i*1_1_2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_13*l_h_i*1_1_1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_13*l_h_i*1_1_2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1"/>
  <p:tag name="KSO_WM_UNIT_ID" val="_13*l_h_i*1_1_1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l_h_i"/>
  <p:tag name="KSO_WM_UNIT_INDEX" val="1_1_2"/>
  <p:tag name="KSO_WM_UNIT_ID" val="_13*l_h_i*1_1_2"/>
  <p:tag name="KSO_WM_UNIT_LAYERLEVEL" val="1_1_1"/>
  <p:tag name="KSO_WM_TAG_VERSION" val="1.0"/>
  <p:tag name="KSO_WM_BEAUTIFY_FLAG" val="#wm#"/>
  <p:tag name="KSO_WM_SLIDE_BACKGROUND_TYPE" val="frame"/>
  <p:tag name="KSO_WM_SLIDE_BK_DARK_LIGHT" val="2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heme/theme1.xml><?xml version="1.0" encoding="utf-8"?>
<a:theme xmlns:a="http://schemas.openxmlformats.org/drawingml/2006/main" name="1_Office 主题">
  <a:themeElements>
    <a:clrScheme name="20181613">
      <a:dk1>
        <a:srgbClr val="000000"/>
      </a:dk1>
      <a:lt1>
        <a:srgbClr val="FFFFFF"/>
      </a:lt1>
      <a:dk2>
        <a:srgbClr val="C1E2F4"/>
      </a:dk2>
      <a:lt2>
        <a:srgbClr val="FFFFFF"/>
      </a:lt2>
      <a:accent1>
        <a:srgbClr val="2487BF"/>
      </a:accent1>
      <a:accent2>
        <a:srgbClr val="329ABB"/>
      </a:accent2>
      <a:accent3>
        <a:srgbClr val="40ADB8"/>
      </a:accent3>
      <a:accent4>
        <a:srgbClr val="4FC0B4"/>
      </a:accent4>
      <a:accent5>
        <a:srgbClr val="5DD3B1"/>
      </a:accent5>
      <a:accent6>
        <a:srgbClr val="6BE6A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3016</Words>
  <Application>Microsoft Office PowerPoint</Application>
  <PresentationFormat>全屏显示(4:3)</PresentationFormat>
  <Paragraphs>190</Paragraphs>
  <Slides>36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37" baseType="lpstr">
      <vt:lpstr>1_Office 主题</vt:lpstr>
      <vt:lpstr>机械设计 课程设计辅导  </vt:lpstr>
      <vt:lpstr>1、机械设计制造及其自动化专业要求</vt:lpstr>
      <vt:lpstr>1、机械设计制造及其自动化专业要求</vt:lpstr>
      <vt:lpstr>2、实践环节目标</vt:lpstr>
      <vt:lpstr>3、机械设计课程设计要求</vt:lpstr>
      <vt:lpstr>设计分组</vt:lpstr>
      <vt:lpstr>设计依据</vt:lpstr>
      <vt:lpstr>设计依据</vt:lpstr>
      <vt:lpstr>概念把握</vt:lpstr>
      <vt:lpstr>4、设计内容</vt:lpstr>
      <vt:lpstr>4、设计内容</vt:lpstr>
      <vt:lpstr>名词辨析</vt:lpstr>
      <vt:lpstr>5、设计过程</vt:lpstr>
      <vt:lpstr>5、设计过程</vt:lpstr>
      <vt:lpstr>5、设计过程</vt:lpstr>
      <vt:lpstr>5、设计过程</vt:lpstr>
      <vt:lpstr>5、设计过程</vt:lpstr>
      <vt:lpstr>6、装配图和零件图绘制</vt:lpstr>
      <vt:lpstr>6、装配图和零件图绘制</vt:lpstr>
      <vt:lpstr>7、设计与计算（设计计算说明书）</vt:lpstr>
      <vt:lpstr>7、设计与计算（设计计算说明书）</vt:lpstr>
      <vt:lpstr>7、设计与计算（设计计算说明书）</vt:lpstr>
      <vt:lpstr>7、设计与计算（设计计算说明书）</vt:lpstr>
      <vt:lpstr>7、设计与计算（设计计算说明书）</vt:lpstr>
      <vt:lpstr>7、设计与计算（设计计算说明书）</vt:lpstr>
      <vt:lpstr>7、设计与计算（设计计算说明书）</vt:lpstr>
      <vt:lpstr>7、设计与计算（设计计算说明书）</vt:lpstr>
      <vt:lpstr>7、设计与计算（设计计算说明书）</vt:lpstr>
      <vt:lpstr>8、课程设计题目讨论</vt:lpstr>
      <vt:lpstr>8、课程设计题目讨论</vt:lpstr>
      <vt:lpstr>幻灯片 31</vt:lpstr>
      <vt:lpstr>参考文献要求</vt:lpstr>
      <vt:lpstr>参考文献要求</vt:lpstr>
      <vt:lpstr>装订要求</vt:lpstr>
      <vt:lpstr>幻灯片 35</vt:lpstr>
      <vt:lpstr>幻灯片 36</vt:lpstr>
    </vt:vector>
  </TitlesOfParts>
  <Company>MS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机械设计课程设计辅导</dc:title>
  <dc:creator>USER-</dc:creator>
  <cp:lastModifiedBy>zhy</cp:lastModifiedBy>
  <cp:revision>13</cp:revision>
  <dcterms:created xsi:type="dcterms:W3CDTF">2021-05-23T07:10:00Z</dcterms:created>
  <dcterms:modified xsi:type="dcterms:W3CDTF">2023-12-01T06:57:04Z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70D0311F28184660AB84759336D8063C</vt:lpwstr>
  </property>
  <property fmtid="{D5CDD505-2E9C-101B-9397-08002B2CF9AE}" pid="3" name="KSOProductBuildVer">
    <vt:lpwstr>2052-11.1.0.12598</vt:lpwstr>
  </property>
</Properties>
</file>